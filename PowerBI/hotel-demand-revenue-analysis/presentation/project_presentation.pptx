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0" autoAdjust="0"/>
    <p:restoredTop sz="86410" autoAdjust="0"/>
  </p:normalViewPr>
  <p:slideViewPr>
    <p:cSldViewPr snapToGrid="0" snapToObjects="1">
      <p:cViewPr varScale="1">
        <p:scale>
          <a:sx n="76" d="100"/>
          <a:sy n="76" d="100"/>
        </p:scale>
        <p:origin x="96" y="1296"/>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8C3813-CED8-42EC-AD90-7C0DADA2CCDA}" type="datetimeFigureOut">
              <a:rPr lang="de-DE" smtClean="0"/>
              <a:t>03.03.2026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1FB1FC-B337-4ED5-BBB8-C8C622F2B006}" type="slidenum">
              <a:rPr lang="de-DE" smtClean="0"/>
              <a:t>‹Nr.›</a:t>
            </a:fld>
            <a:endParaRPr lang="de-DE"/>
          </a:p>
        </p:txBody>
      </p:sp>
    </p:spTree>
    <p:extLst>
      <p:ext uri="{BB962C8B-B14F-4D97-AF65-F5344CB8AC3E}">
        <p14:creationId xmlns:p14="http://schemas.microsoft.com/office/powerpoint/2010/main" val="28978386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F1FB1FC-B337-4ED5-BBB8-C8C622F2B006}" type="slidenum">
              <a:rPr lang="de-DE" smtClean="0"/>
              <a:t>1</a:t>
            </a:fld>
            <a:endParaRPr lang="de-DE"/>
          </a:p>
        </p:txBody>
      </p:sp>
    </p:spTree>
    <p:extLst>
      <p:ext uri="{BB962C8B-B14F-4D97-AF65-F5344CB8AC3E}">
        <p14:creationId xmlns:p14="http://schemas.microsoft.com/office/powerpoint/2010/main" val="41054432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Text"/>
          <p:cNvSpPr>
            <a:spLocks noGrp="1"/>
          </p:cNvSpPr>
          <p:nvPr>
            <p:ph type="body" idx="1"/>
          </p:nvPr>
        </p:nvSpPr>
        <p:spPr/>
        <p:txBody>
          <a:bodyPr/>
          <a:lstStyle/>
          <a:p>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F1FB1FC-B337-4ED5-BBB8-C8C622F2B006}" type="slidenum">
              <a:rPr lang="de-DE" smtClean="0"/>
              <a:t>6</a:t>
            </a:fld>
            <a:endParaRPr lang="de-DE"/>
          </a:p>
        </p:txBody>
      </p:sp>
    </p:spTree>
    <p:extLst>
      <p:ext uri="{BB962C8B-B14F-4D97-AF65-F5344CB8AC3E}">
        <p14:creationId xmlns:p14="http://schemas.microsoft.com/office/powerpoint/2010/main" val="19919940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4F1FB1FC-B337-4ED5-BBB8-C8C622F2B006}" type="slidenum">
              <a:rPr lang="de-DE" smtClean="0"/>
              <a:t>7</a:t>
            </a:fld>
            <a:endParaRPr lang="de-DE"/>
          </a:p>
        </p:txBody>
      </p:sp>
    </p:spTree>
    <p:extLst>
      <p:ext uri="{BB962C8B-B14F-4D97-AF65-F5344CB8AC3E}">
        <p14:creationId xmlns:p14="http://schemas.microsoft.com/office/powerpoint/2010/main" val="32670362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‹Nr.›</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‹Nr.›</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‹Nr.›</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‹Nr.›</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3/3/2026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‹Nr.›</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3/3/2026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‹Nr.›</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‹Nr.›</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‹Nr.›</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‹Nr.›</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‹Nr.›</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‹Nr.›</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3/3/2026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‹Nr.›</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app.powerbi.com/groups/me/reports/6005f1df-fcbc-4a25-b31b-f8b3d6bec118/?pbi_source=PowerPoint" TargetMode="External"/><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hyperlink" Target="https://app.powerbi.com/groups/me/reports/6005f1df-fcbc-4a25-b31b-f8b3d6bec118/?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hyperlink" Target="https://app.powerbi.com/groups/me/reports/6005f1df-fcbc-4a25-b31b-f8b3d6bec118/?pbi_source=PowerPoint" TargetMode="External"/><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hyperlink" Target="https://app.powerbi.com/groups/me/reports/6005f1df-fcbc-4a25-b31b-f8b3d6bec118/?pbi_source=PowerPoint" TargetMode="External"/><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13" b="-9313"/>
            </a:stretch>
          </a:blipFill>
        </p:spPr>
        <p:txBody>
          <a:bodyPr/>
          <a:lstStyle/>
          <a:p>
            <a:endParaRPr lang="de-DE" sz="1200"/>
          </a:p>
        </p:txBody>
      </p:sp>
      <p:grpSp>
        <p:nvGrpSpPr>
          <p:cNvPr id="3" name="Group 3"/>
          <p:cNvGrpSpPr/>
          <p:nvPr/>
        </p:nvGrpSpPr>
        <p:grpSpPr>
          <a:xfrm>
            <a:off x="0" y="0"/>
            <a:ext cx="12192000" cy="6858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03387C">
                <a:alpha val="76863"/>
              </a:srgbClr>
            </a:solidFill>
          </p:spPr>
          <p:txBody>
            <a:bodyPr/>
            <a:lstStyle/>
            <a:p>
              <a:endParaRPr lang="de-DE" sz="1200"/>
            </a:p>
          </p:txBody>
        </p:sp>
        <p:sp>
          <p:nvSpPr>
            <p:cNvPr id="5" name="TextBox 5"/>
            <p:cNvSpPr txBox="1"/>
            <p:nvPr/>
          </p:nvSpPr>
          <p:spPr>
            <a:xfrm>
              <a:off x="0" y="-38100"/>
              <a:ext cx="4816593" cy="2747433"/>
            </a:xfrm>
            <a:prstGeom prst="rect">
              <a:avLst/>
            </a:prstGeom>
          </p:spPr>
          <p:txBody>
            <a:bodyPr lIns="33867" tIns="33867" rIns="33867" bIns="33867" rtlCol="0" anchor="ctr"/>
            <a:lstStyle/>
            <a:p>
              <a:pPr algn="ctr">
                <a:lnSpc>
                  <a:spcPts val="1773"/>
                </a:lnSpc>
                <a:spcBef>
                  <a:spcPct val="0"/>
                </a:spcBef>
              </a:pPr>
              <a:endParaRPr sz="1200"/>
            </a:p>
          </p:txBody>
        </p:sp>
      </p:grpSp>
      <p:sp>
        <p:nvSpPr>
          <p:cNvPr id="6" name="TextBox 6"/>
          <p:cNvSpPr txBox="1"/>
          <p:nvPr/>
        </p:nvSpPr>
        <p:spPr>
          <a:xfrm>
            <a:off x="2226291" y="2578241"/>
            <a:ext cx="7739418" cy="1833451"/>
          </a:xfrm>
          <a:prstGeom prst="rect">
            <a:avLst/>
          </a:prstGeom>
        </p:spPr>
        <p:txBody>
          <a:bodyPr lIns="0" tIns="0" rIns="0" bIns="0" rtlCol="0" anchor="t">
            <a:spAutoFit/>
          </a:bodyPr>
          <a:lstStyle/>
          <a:p>
            <a:pPr algn="ctr">
              <a:lnSpc>
                <a:spcPts val="4960"/>
              </a:lnSpc>
            </a:pPr>
            <a:r>
              <a:rPr lang="en-US" sz="4000" spc="356" dirty="0">
                <a:solidFill>
                  <a:srgbClr val="FFFFFF"/>
                </a:solidFill>
                <a:latin typeface="Cyrillic Bodoni"/>
                <a:ea typeface="Cyrillic Bodoni"/>
                <a:cs typeface="Cyrillic Bodoni"/>
                <a:sym typeface="Cyrillic Bodoni"/>
              </a:rPr>
              <a:t>STRATEGISCHE </a:t>
            </a:r>
            <a:r>
              <a:rPr lang="en-US" sz="4000" spc="356">
                <a:solidFill>
                  <a:srgbClr val="FFFFFF"/>
                </a:solidFill>
                <a:latin typeface="Cyrillic Bodoni"/>
                <a:ea typeface="Cyrillic Bodoni"/>
                <a:cs typeface="Cyrillic Bodoni"/>
                <a:sym typeface="Cyrillic Bodoni"/>
              </a:rPr>
              <a:t>ANALYSE </a:t>
            </a:r>
          </a:p>
          <a:p>
            <a:pPr algn="ctr">
              <a:lnSpc>
                <a:spcPts val="4960"/>
              </a:lnSpc>
            </a:pPr>
            <a:r>
              <a:rPr lang="en-US" sz="2400" spc="356">
                <a:solidFill>
                  <a:srgbClr val="FFFFFF"/>
                </a:solidFill>
                <a:latin typeface="Cyrillic Bodoni"/>
                <a:ea typeface="Cyrillic Bodoni"/>
                <a:cs typeface="Cyrillic Bodoni"/>
                <a:sym typeface="Cyrillic Bodoni"/>
              </a:rPr>
              <a:t>DER </a:t>
            </a:r>
            <a:r>
              <a:rPr lang="en-US" sz="2400" spc="356" dirty="0">
                <a:solidFill>
                  <a:srgbClr val="FFFFFF"/>
                </a:solidFill>
                <a:latin typeface="Cyrillic Bodoni"/>
                <a:ea typeface="Cyrillic Bodoni"/>
                <a:cs typeface="Cyrillic Bodoni"/>
                <a:sym typeface="Cyrillic Bodoni"/>
              </a:rPr>
              <a:t>UMSATZ- UND RISIKOSTRUKTUR</a:t>
            </a:r>
          </a:p>
          <a:p>
            <a:pPr algn="ctr">
              <a:lnSpc>
                <a:spcPts val="4960"/>
              </a:lnSpc>
            </a:pPr>
            <a:r>
              <a:rPr lang="en-US" sz="2400" spc="356" dirty="0">
                <a:solidFill>
                  <a:srgbClr val="FFFFFF"/>
                </a:solidFill>
                <a:latin typeface="Cyrillic Bodoni"/>
                <a:ea typeface="Cyrillic Bodoni"/>
                <a:cs typeface="Cyrillic Bodoni"/>
                <a:sym typeface="Cyrillic Bodoni"/>
              </a:rPr>
              <a:t>IM HOTELPORTFOLIO</a:t>
            </a:r>
          </a:p>
        </p:txBody>
      </p:sp>
      <p:sp>
        <p:nvSpPr>
          <p:cNvPr id="7" name="Freeform 7"/>
          <p:cNvSpPr/>
          <p:nvPr/>
        </p:nvSpPr>
        <p:spPr>
          <a:xfrm>
            <a:off x="5543440" y="1868866"/>
            <a:ext cx="1105120" cy="203287"/>
          </a:xfrm>
          <a:custGeom>
            <a:avLst/>
            <a:gdLst/>
            <a:ahLst/>
            <a:cxnLst/>
            <a:rect l="l" t="t" r="r" b="b"/>
            <a:pathLst>
              <a:path w="1657680" h="304930">
                <a:moveTo>
                  <a:pt x="0" y="0"/>
                </a:moveTo>
                <a:lnTo>
                  <a:pt x="1657680" y="0"/>
                </a:lnTo>
                <a:lnTo>
                  <a:pt x="1657680" y="304930"/>
                </a:lnTo>
                <a:lnTo>
                  <a:pt x="0" y="3049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1200"/>
          </a:p>
        </p:txBody>
      </p:sp>
      <p:sp>
        <p:nvSpPr>
          <p:cNvPr id="8" name="Freeform 8"/>
          <p:cNvSpPr/>
          <p:nvPr/>
        </p:nvSpPr>
        <p:spPr>
          <a:xfrm>
            <a:off x="3115464" y="4918384"/>
            <a:ext cx="5961073" cy="140898"/>
          </a:xfrm>
          <a:custGeom>
            <a:avLst/>
            <a:gdLst/>
            <a:ahLst/>
            <a:cxnLst/>
            <a:rect l="l" t="t" r="r" b="b"/>
            <a:pathLst>
              <a:path w="8941609" h="211347">
                <a:moveTo>
                  <a:pt x="0" y="0"/>
                </a:moveTo>
                <a:lnTo>
                  <a:pt x="8941610" y="0"/>
                </a:lnTo>
                <a:lnTo>
                  <a:pt x="8941610" y="211348"/>
                </a:lnTo>
                <a:lnTo>
                  <a:pt x="0" y="21134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de-DE" sz="1200"/>
          </a:p>
        </p:txBody>
      </p:sp>
      <p:sp>
        <p:nvSpPr>
          <p:cNvPr id="9" name="TextBox 9"/>
          <p:cNvSpPr txBox="1"/>
          <p:nvPr/>
        </p:nvSpPr>
        <p:spPr>
          <a:xfrm>
            <a:off x="3740662" y="5319632"/>
            <a:ext cx="4710676" cy="166712"/>
          </a:xfrm>
          <a:prstGeom prst="rect">
            <a:avLst/>
          </a:prstGeom>
        </p:spPr>
        <p:txBody>
          <a:bodyPr lIns="0" tIns="0" rIns="0" bIns="0" rtlCol="0" anchor="t">
            <a:spAutoFit/>
          </a:bodyPr>
          <a:lstStyle/>
          <a:p>
            <a:pPr algn="ctr">
              <a:lnSpc>
                <a:spcPts val="1330"/>
              </a:lnSpc>
            </a:pPr>
            <a:r>
              <a:rPr lang="en-US" sz="1267">
                <a:solidFill>
                  <a:srgbClr val="FFFFFF"/>
                </a:solidFill>
                <a:latin typeface="Montserrat"/>
                <a:ea typeface="Montserrat"/>
                <a:cs typeface="Montserrat"/>
                <a:sym typeface="Montserrat"/>
              </a:rPr>
              <a:t>Ayse Tosun | Data Analyst | DataSmartPoint</a:t>
            </a:r>
          </a:p>
        </p:txBody>
      </p:sp>
      <p:sp>
        <p:nvSpPr>
          <p:cNvPr id="10" name="TextBox 10"/>
          <p:cNvSpPr txBox="1"/>
          <p:nvPr/>
        </p:nvSpPr>
        <p:spPr>
          <a:xfrm>
            <a:off x="4241851" y="6499728"/>
            <a:ext cx="3708298" cy="89768"/>
          </a:xfrm>
          <a:prstGeom prst="rect">
            <a:avLst/>
          </a:prstGeom>
        </p:spPr>
        <p:txBody>
          <a:bodyPr lIns="0" tIns="0" rIns="0" bIns="0" rtlCol="0" anchor="t">
            <a:spAutoFit/>
          </a:bodyPr>
          <a:lstStyle/>
          <a:p>
            <a:pPr algn="ctr">
              <a:lnSpc>
                <a:spcPts val="700"/>
              </a:lnSpc>
            </a:pPr>
            <a:r>
              <a:rPr lang="en-US" sz="667">
                <a:solidFill>
                  <a:srgbClr val="FFFFFF"/>
                </a:solidFill>
                <a:latin typeface="Montserrat"/>
                <a:ea typeface="Montserrat"/>
                <a:cs typeface="Montserrat"/>
                <a:sym typeface="Montserrat"/>
              </a:rPr>
              <a:t>Quelle: Hotel Booking Demand Dataset (Kaggle, Jesse Mostipark)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Zeitraum ,cardVisual ,cardVisual ,cardVisual ,cardVisual ,cardVisual ,Umsatzentwicklung &amp; 12-Monats-Trend ,Performance-Einordnung ,pageNavigator ,Reset. Please refer to the notes on this slide for details">
            <a:hlinkClick r:id="rId3"/>
          </p:cNvPr>
          <p:cNvPicPr>
            <a:picLocks noChangeAspect="1"/>
          </p:cNvPicPr>
          <p:nvPr/>
        </p:nvPicPr>
        <p:blipFill>
          <a:blip r:embed="rId4"/>
          <a:stretch>
            <a:fillRect/>
          </a:stretch>
        </p:blipFill>
        <p:spPr>
          <a:xfrm>
            <a:off x="161925" y="0"/>
            <a:ext cx="11858625" cy="6858000"/>
          </a:xfrm>
          <a:prstGeom prst="rect">
            <a:avLst/>
          </a:prstGeom>
          <a:noFill/>
        </p:spPr>
      </p:pic>
      <p:sp>
        <p:nvSpPr>
          <p:cNvPr id="4" name="Title" hidden="1"/>
          <p:cNvSpPr>
            <a:spLocks noGrp="1"/>
          </p:cNvSpPr>
          <p:nvPr>
            <p:ph type="title"/>
          </p:nvPr>
        </p:nvSpPr>
        <p:spPr/>
        <p:txBody>
          <a:bodyPr/>
          <a:lstStyle/>
          <a:p>
            <a:r>
              <a:t>01 Management Überblick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Zeitraum ,cardVisual ,Geschäftsmodell-Kernaussage ,textbox ,textbox ,cardVisual ,cardVisual ,cardVisual ,cardVisual ,cardVisual ,cardVisual ,cardVisual ,Saisonale Umsatzentwicklung – City vs. Resort ,Nachfrage-Struktur nach Marktsegment – City vs. Resort ,Reset ,pageNavigator. Please refer to the notes on this slide for details">
            <a:hlinkClick r:id="rId3"/>
          </p:cNvPr>
          <p:cNvPicPr>
            <a:picLocks noChangeAspect="1"/>
          </p:cNvPicPr>
          <p:nvPr/>
        </p:nvPicPr>
        <p:blipFill>
          <a:blip r:embed="rId4"/>
          <a:stretch>
            <a:fillRect/>
          </a:stretch>
        </p:blipFill>
        <p:spPr>
          <a:xfrm>
            <a:off x="161925" y="0"/>
            <a:ext cx="11858625" cy="6858000"/>
          </a:xfrm>
          <a:prstGeom prst="rect">
            <a:avLst/>
          </a:prstGeom>
          <a:noFill/>
        </p:spPr>
      </p:pic>
      <p:sp>
        <p:nvSpPr>
          <p:cNvPr id="4" name="Title" hidden="1"/>
          <p:cNvSpPr>
            <a:spLocks noGrp="1"/>
          </p:cNvSpPr>
          <p:nvPr>
            <p:ph type="title"/>
          </p:nvPr>
        </p:nvSpPr>
        <p:spPr/>
        <p:txBody>
          <a:bodyPr/>
          <a:lstStyle/>
          <a:p>
            <a:r>
              <a:t>02 Geschäftsmodell Vergleich...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Zeitraum ,Umsatz nach Segment ,Stornoquote nach Segment ,Strategische Attraktivität nach Segment ,Strategische Ableitung ,Reset ,pageNavigator ,cardVisual ,cardVisual ,cardVisual ,cardVisual ,cardVisual. Please refer to the notes on this slide for details">
            <a:hlinkClick r:id="rId3"/>
          </p:cNvPr>
          <p:cNvPicPr>
            <a:picLocks noChangeAspect="1"/>
          </p:cNvPicPr>
          <p:nvPr/>
        </p:nvPicPr>
        <p:blipFill>
          <a:blip r:embed="rId4"/>
          <a:stretch>
            <a:fillRect/>
          </a:stretch>
        </p:blipFill>
        <p:spPr>
          <a:xfrm>
            <a:off x="161925" y="0"/>
            <a:ext cx="11858625" cy="6858000"/>
          </a:xfrm>
          <a:prstGeom prst="rect">
            <a:avLst/>
          </a:prstGeom>
          <a:noFill/>
        </p:spPr>
      </p:pic>
      <p:sp>
        <p:nvSpPr>
          <p:cNvPr id="4" name="Title" hidden="1"/>
          <p:cNvSpPr>
            <a:spLocks noGrp="1"/>
          </p:cNvSpPr>
          <p:nvPr>
            <p:ph type="title"/>
          </p:nvPr>
        </p:nvSpPr>
        <p:spPr/>
        <p:txBody>
          <a:bodyPr/>
          <a:lstStyle/>
          <a:p>
            <a:r>
              <a:t>03 Segmentanalyse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title="This slide contains the following visuals: textbox ,Zeitraum ,Risiko-Rendite-Positionierung nach Marktsegment ,textbox ,pageNavigator ,Reset ,textbox ,textbox ,textbox ,textbox. Please refer to the notes on this slide for details">
            <a:hlinkClick r:id="rId3"/>
          </p:cNvPr>
          <p:cNvPicPr>
            <a:picLocks noChangeAspect="1"/>
          </p:cNvPicPr>
          <p:nvPr/>
        </p:nvPicPr>
        <p:blipFill>
          <a:blip r:embed="rId4"/>
          <a:stretch>
            <a:fillRect/>
          </a:stretch>
        </p:blipFill>
        <p:spPr>
          <a:xfrm>
            <a:off x="161925" y="0"/>
            <a:ext cx="11858625" cy="6858000"/>
          </a:xfrm>
          <a:prstGeom prst="rect">
            <a:avLst/>
          </a:prstGeom>
          <a:noFill/>
        </p:spPr>
      </p:pic>
      <p:sp>
        <p:nvSpPr>
          <p:cNvPr id="4" name="Title" hidden="1"/>
          <p:cNvSpPr>
            <a:spLocks noGrp="1"/>
          </p:cNvSpPr>
          <p:nvPr>
            <p:ph type="title"/>
          </p:nvPr>
        </p:nvSpPr>
        <p:spPr/>
        <p:txBody>
          <a:bodyPr/>
          <a:lstStyle/>
          <a:p>
            <a:r>
              <a:t>04  Risiko-Rendite-Matrix</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4706889" cy="6858000"/>
            <a:chOff x="0" y="0"/>
            <a:chExt cx="1093830" cy="1593725"/>
          </a:xfrm>
        </p:grpSpPr>
        <p:sp>
          <p:nvSpPr>
            <p:cNvPr id="3" name="Freeform 3"/>
            <p:cNvSpPr/>
            <p:nvPr/>
          </p:nvSpPr>
          <p:spPr>
            <a:xfrm>
              <a:off x="0" y="0"/>
              <a:ext cx="1093830" cy="1593725"/>
            </a:xfrm>
            <a:custGeom>
              <a:avLst/>
              <a:gdLst/>
              <a:ahLst/>
              <a:cxnLst/>
              <a:rect l="l" t="t" r="r" b="b"/>
              <a:pathLst>
                <a:path w="1093830" h="1593725">
                  <a:moveTo>
                    <a:pt x="0" y="0"/>
                  </a:moveTo>
                  <a:lnTo>
                    <a:pt x="1093830" y="0"/>
                  </a:lnTo>
                  <a:lnTo>
                    <a:pt x="1093830" y="1593725"/>
                  </a:lnTo>
                  <a:lnTo>
                    <a:pt x="0" y="1593725"/>
                  </a:lnTo>
                  <a:close/>
                </a:path>
              </a:pathLst>
            </a:custGeom>
            <a:blipFill>
              <a:blip r:embed="rId3">
                <a:alphaModFix amt="41000"/>
              </a:blip>
              <a:stretch>
                <a:fillRect l="-4704" r="-4704"/>
              </a:stretch>
            </a:blipFill>
          </p:spPr>
          <p:txBody>
            <a:bodyPr/>
            <a:lstStyle/>
            <a:p>
              <a:endParaRPr lang="de-DE" sz="1200"/>
            </a:p>
          </p:txBody>
        </p:sp>
      </p:grpSp>
      <p:grpSp>
        <p:nvGrpSpPr>
          <p:cNvPr id="4" name="Group 4"/>
          <p:cNvGrpSpPr/>
          <p:nvPr/>
        </p:nvGrpSpPr>
        <p:grpSpPr>
          <a:xfrm>
            <a:off x="3601308" y="3485422"/>
            <a:ext cx="8590692" cy="2686778"/>
            <a:chOff x="0" y="0"/>
            <a:chExt cx="3393854" cy="1061443"/>
          </a:xfrm>
        </p:grpSpPr>
        <p:sp>
          <p:nvSpPr>
            <p:cNvPr id="5" name="Freeform 5"/>
            <p:cNvSpPr/>
            <p:nvPr/>
          </p:nvSpPr>
          <p:spPr>
            <a:xfrm>
              <a:off x="0" y="0"/>
              <a:ext cx="3393854" cy="1061443"/>
            </a:xfrm>
            <a:custGeom>
              <a:avLst/>
              <a:gdLst/>
              <a:ahLst/>
              <a:cxnLst/>
              <a:rect l="l" t="t" r="r" b="b"/>
              <a:pathLst>
                <a:path w="3393854" h="1061443">
                  <a:moveTo>
                    <a:pt x="0" y="0"/>
                  </a:moveTo>
                  <a:lnTo>
                    <a:pt x="3393854" y="0"/>
                  </a:lnTo>
                  <a:lnTo>
                    <a:pt x="3393854" y="1061443"/>
                  </a:lnTo>
                  <a:lnTo>
                    <a:pt x="0" y="1061443"/>
                  </a:lnTo>
                  <a:close/>
                </a:path>
              </a:pathLst>
            </a:custGeom>
            <a:solidFill>
              <a:srgbClr val="545454">
                <a:alpha val="76863"/>
              </a:srgbClr>
            </a:solidFill>
          </p:spPr>
          <p:txBody>
            <a:bodyPr/>
            <a:lstStyle/>
            <a:p>
              <a:endParaRPr lang="de-DE" sz="1200"/>
            </a:p>
          </p:txBody>
        </p:sp>
        <p:sp>
          <p:nvSpPr>
            <p:cNvPr id="6" name="TextBox 6"/>
            <p:cNvSpPr txBox="1"/>
            <p:nvPr/>
          </p:nvSpPr>
          <p:spPr>
            <a:xfrm>
              <a:off x="0" y="-38100"/>
              <a:ext cx="3393854" cy="1099543"/>
            </a:xfrm>
            <a:prstGeom prst="rect">
              <a:avLst/>
            </a:prstGeom>
          </p:spPr>
          <p:txBody>
            <a:bodyPr lIns="33867" tIns="33867" rIns="33867" bIns="33867" rtlCol="0" anchor="ctr"/>
            <a:lstStyle/>
            <a:p>
              <a:pPr algn="ctr">
                <a:lnSpc>
                  <a:spcPts val="1773"/>
                </a:lnSpc>
              </a:pPr>
              <a:endParaRPr sz="1200"/>
            </a:p>
          </p:txBody>
        </p:sp>
      </p:grpSp>
      <p:sp>
        <p:nvSpPr>
          <p:cNvPr id="7" name="TextBox 7"/>
          <p:cNvSpPr txBox="1"/>
          <p:nvPr/>
        </p:nvSpPr>
        <p:spPr>
          <a:xfrm>
            <a:off x="5248920" y="1328040"/>
            <a:ext cx="6248726" cy="491738"/>
          </a:xfrm>
          <a:prstGeom prst="rect">
            <a:avLst/>
          </a:prstGeom>
        </p:spPr>
        <p:txBody>
          <a:bodyPr lIns="0" tIns="0" rIns="0" bIns="0" rtlCol="0" anchor="t">
            <a:spAutoFit/>
          </a:bodyPr>
          <a:lstStyle/>
          <a:p>
            <a:pPr>
              <a:lnSpc>
                <a:spcPts val="4134"/>
              </a:lnSpc>
            </a:pPr>
            <a:r>
              <a:rPr lang="en-US" sz="3334" b="1" spc="-53">
                <a:solidFill>
                  <a:srgbClr val="575756"/>
                </a:solidFill>
                <a:latin typeface="Cyrillic Bodoni Bold"/>
                <a:ea typeface="Cyrillic Bodoni Bold"/>
                <a:cs typeface="Cyrillic Bodoni Bold"/>
                <a:sym typeface="Cyrillic Bodoni Bold"/>
              </a:rPr>
              <a:t>STRATEGISCHE PRIORITÄTEN</a:t>
            </a:r>
          </a:p>
        </p:txBody>
      </p:sp>
      <p:sp>
        <p:nvSpPr>
          <p:cNvPr id="8" name="TextBox 8"/>
          <p:cNvSpPr txBox="1"/>
          <p:nvPr/>
        </p:nvSpPr>
        <p:spPr>
          <a:xfrm>
            <a:off x="4363158" y="3763070"/>
            <a:ext cx="3310041" cy="2170915"/>
          </a:xfrm>
          <a:prstGeom prst="rect">
            <a:avLst/>
          </a:prstGeom>
        </p:spPr>
        <p:txBody>
          <a:bodyPr lIns="0" tIns="0" rIns="0" bIns="0" rtlCol="0" anchor="t">
            <a:spAutoFit/>
          </a:bodyPr>
          <a:lstStyle/>
          <a:p>
            <a:pPr>
              <a:lnSpc>
                <a:spcPts val="1866"/>
              </a:lnSpc>
            </a:pPr>
            <a:r>
              <a:rPr lang="en-US" sz="1333" b="1" u="sng">
                <a:solidFill>
                  <a:srgbClr val="FFFFFF"/>
                </a:solidFill>
                <a:latin typeface="Canva Sans Bold"/>
                <a:ea typeface="Canva Sans Bold"/>
                <a:cs typeface="Canva Sans Bold"/>
                <a:sym typeface="Canva Sans Bold"/>
              </a:rPr>
              <a:t>OTA-Risiko aktiv steuern</a:t>
            </a:r>
          </a:p>
          <a:p>
            <a:pPr>
              <a:lnSpc>
                <a:spcPts val="1866"/>
              </a:lnSpc>
            </a:pPr>
            <a:r>
              <a:rPr lang="en-US" sz="1333">
                <a:solidFill>
                  <a:srgbClr val="FFFFFF"/>
                </a:solidFill>
                <a:latin typeface="Canva Sans"/>
                <a:ea typeface="Canva Sans"/>
                <a:cs typeface="Canva Sans"/>
                <a:sym typeface="Canva Sans"/>
              </a:rPr>
              <a:t>Stornobedingungen differenzieren &amp; Forecast-Puffer einplanen</a:t>
            </a:r>
          </a:p>
          <a:p>
            <a:pPr>
              <a:lnSpc>
                <a:spcPts val="1866"/>
              </a:lnSpc>
            </a:pPr>
            <a:endParaRPr lang="en-US" sz="1333">
              <a:solidFill>
                <a:srgbClr val="FFFFFF"/>
              </a:solidFill>
              <a:latin typeface="Canva Sans"/>
              <a:ea typeface="Canva Sans"/>
              <a:cs typeface="Canva Sans"/>
              <a:sym typeface="Canva Sans"/>
            </a:endParaRPr>
          </a:p>
          <a:p>
            <a:pPr>
              <a:lnSpc>
                <a:spcPts val="1866"/>
              </a:lnSpc>
            </a:pPr>
            <a:endParaRPr lang="en-US" sz="1333">
              <a:solidFill>
                <a:srgbClr val="FFFFFF"/>
              </a:solidFill>
              <a:latin typeface="Canva Sans"/>
              <a:ea typeface="Canva Sans"/>
              <a:cs typeface="Canva Sans"/>
              <a:sym typeface="Canva Sans"/>
            </a:endParaRPr>
          </a:p>
          <a:p>
            <a:pPr>
              <a:lnSpc>
                <a:spcPts val="1866"/>
              </a:lnSpc>
            </a:pPr>
            <a:r>
              <a:rPr lang="en-US" sz="1333" b="1" u="sng">
                <a:solidFill>
                  <a:srgbClr val="FFFFFF"/>
                </a:solidFill>
                <a:latin typeface="Canva Sans Bold"/>
                <a:ea typeface="Canva Sans Bold"/>
                <a:cs typeface="Canva Sans Bold"/>
                <a:sym typeface="Canva Sans Bold"/>
              </a:rPr>
              <a:t>Groups vertraglich absichern</a:t>
            </a:r>
          </a:p>
          <a:p>
            <a:pPr>
              <a:lnSpc>
                <a:spcPts val="1866"/>
              </a:lnSpc>
            </a:pPr>
            <a:r>
              <a:rPr lang="en-US" sz="1333">
                <a:solidFill>
                  <a:srgbClr val="FFFFFF"/>
                </a:solidFill>
                <a:latin typeface="Canva Sans"/>
                <a:ea typeface="Canva Sans"/>
                <a:cs typeface="Canva Sans"/>
                <a:sym typeface="Canva Sans"/>
              </a:rPr>
              <a:t>Verbindliche Anzahlungen &amp;  klare Storno-Deadlines</a:t>
            </a:r>
          </a:p>
          <a:p>
            <a:pPr>
              <a:lnSpc>
                <a:spcPts val="1866"/>
              </a:lnSpc>
            </a:pPr>
            <a:endParaRPr lang="en-US" sz="1333">
              <a:solidFill>
                <a:srgbClr val="FFFFFF"/>
              </a:solidFill>
              <a:latin typeface="Canva Sans"/>
              <a:ea typeface="Canva Sans"/>
              <a:cs typeface="Canva Sans"/>
              <a:sym typeface="Canva Sans"/>
            </a:endParaRPr>
          </a:p>
        </p:txBody>
      </p:sp>
      <p:sp>
        <p:nvSpPr>
          <p:cNvPr id="9" name="TextBox 9"/>
          <p:cNvSpPr txBox="1"/>
          <p:nvPr/>
        </p:nvSpPr>
        <p:spPr>
          <a:xfrm>
            <a:off x="7896654" y="3763070"/>
            <a:ext cx="4221881" cy="1927259"/>
          </a:xfrm>
          <a:prstGeom prst="rect">
            <a:avLst/>
          </a:prstGeom>
        </p:spPr>
        <p:txBody>
          <a:bodyPr lIns="0" tIns="0" rIns="0" bIns="0" rtlCol="0" anchor="t">
            <a:spAutoFit/>
          </a:bodyPr>
          <a:lstStyle/>
          <a:p>
            <a:pPr>
              <a:lnSpc>
                <a:spcPts val="1866"/>
              </a:lnSpc>
            </a:pPr>
            <a:r>
              <a:rPr lang="en-US" sz="1333" b="1" u="sng">
                <a:solidFill>
                  <a:srgbClr val="FFFFFF"/>
                </a:solidFill>
                <a:latin typeface="Canva Sans Bold"/>
                <a:ea typeface="Canva Sans Bold"/>
                <a:cs typeface="Canva Sans Bold"/>
                <a:sym typeface="Canva Sans Bold"/>
              </a:rPr>
              <a:t>Direct &amp; Corporate gezielt ausbauen</a:t>
            </a:r>
          </a:p>
          <a:p>
            <a:pPr>
              <a:lnSpc>
                <a:spcPts val="1866"/>
              </a:lnSpc>
            </a:pPr>
            <a:r>
              <a:rPr lang="en-US" sz="1333">
                <a:solidFill>
                  <a:srgbClr val="FFFFFF"/>
                </a:solidFill>
                <a:latin typeface="Canva Sans"/>
                <a:ea typeface="Canva Sans"/>
                <a:cs typeface="Canva Sans"/>
                <a:sym typeface="Canva Sans"/>
              </a:rPr>
              <a:t>Stabile Nachfragebasis strategisch stärken</a:t>
            </a:r>
          </a:p>
          <a:p>
            <a:pPr>
              <a:lnSpc>
                <a:spcPts val="1866"/>
              </a:lnSpc>
            </a:pPr>
            <a:endParaRPr lang="en-US" sz="1333">
              <a:solidFill>
                <a:srgbClr val="FFFFFF"/>
              </a:solidFill>
              <a:latin typeface="Canva Sans"/>
              <a:ea typeface="Canva Sans"/>
              <a:cs typeface="Canva Sans"/>
              <a:sym typeface="Canva Sans"/>
            </a:endParaRPr>
          </a:p>
          <a:p>
            <a:pPr>
              <a:lnSpc>
                <a:spcPts val="1866"/>
              </a:lnSpc>
            </a:pPr>
            <a:endParaRPr lang="en-US" sz="1333">
              <a:solidFill>
                <a:srgbClr val="FFFFFF"/>
              </a:solidFill>
              <a:latin typeface="Canva Sans"/>
              <a:ea typeface="Canva Sans"/>
              <a:cs typeface="Canva Sans"/>
              <a:sym typeface="Canva Sans"/>
            </a:endParaRPr>
          </a:p>
          <a:p>
            <a:pPr>
              <a:lnSpc>
                <a:spcPts val="1866"/>
              </a:lnSpc>
            </a:pPr>
            <a:endParaRPr lang="en-US" sz="1333">
              <a:solidFill>
                <a:srgbClr val="FFFFFF"/>
              </a:solidFill>
              <a:latin typeface="Canva Sans"/>
              <a:ea typeface="Canva Sans"/>
              <a:cs typeface="Canva Sans"/>
              <a:sym typeface="Canva Sans"/>
            </a:endParaRPr>
          </a:p>
          <a:p>
            <a:pPr>
              <a:lnSpc>
                <a:spcPts val="1866"/>
              </a:lnSpc>
            </a:pPr>
            <a:r>
              <a:rPr lang="en-US" sz="1333" b="1" u="sng">
                <a:solidFill>
                  <a:srgbClr val="FFFFFF"/>
                </a:solidFill>
                <a:latin typeface="Canva Sans Bold"/>
                <a:ea typeface="Canva Sans Bold"/>
                <a:cs typeface="Canva Sans Bold"/>
                <a:sym typeface="Canva Sans Bold"/>
              </a:rPr>
              <a:t>Resort-Saisonalität strategisch managen</a:t>
            </a:r>
          </a:p>
          <a:p>
            <a:pPr>
              <a:lnSpc>
                <a:spcPts val="1866"/>
              </a:lnSpc>
            </a:pPr>
            <a:r>
              <a:rPr lang="en-US" sz="1333">
                <a:solidFill>
                  <a:srgbClr val="FFFFFF"/>
                </a:solidFill>
                <a:latin typeface="Canva Sans"/>
                <a:ea typeface="Canva Sans"/>
                <a:cs typeface="Canva Sans"/>
                <a:sym typeface="Canva Sans"/>
              </a:rPr>
              <a:t>Dynamische Peak-Pricing &amp; Nebensaison-Impulse</a:t>
            </a:r>
          </a:p>
          <a:p>
            <a:pPr>
              <a:lnSpc>
                <a:spcPts val="1866"/>
              </a:lnSpc>
            </a:pPr>
            <a:endParaRPr lang="en-US" sz="1333">
              <a:solidFill>
                <a:srgbClr val="FFFFFF"/>
              </a:solidFill>
              <a:latin typeface="Canva Sans"/>
              <a:ea typeface="Canva Sans"/>
              <a:cs typeface="Canva Sans"/>
              <a:sym typeface="Canva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313" b="-9313"/>
            </a:stretch>
          </a:blipFill>
        </p:spPr>
        <p:txBody>
          <a:bodyPr/>
          <a:lstStyle/>
          <a:p>
            <a:endParaRPr lang="de-DE" sz="1200"/>
          </a:p>
        </p:txBody>
      </p:sp>
      <p:grpSp>
        <p:nvGrpSpPr>
          <p:cNvPr id="3" name="Group 3"/>
          <p:cNvGrpSpPr/>
          <p:nvPr/>
        </p:nvGrpSpPr>
        <p:grpSpPr>
          <a:xfrm>
            <a:off x="0" y="0"/>
            <a:ext cx="12192000" cy="6858000"/>
            <a:chOff x="0" y="0"/>
            <a:chExt cx="4816593" cy="2709333"/>
          </a:xfrm>
        </p:grpSpPr>
        <p:sp>
          <p:nvSpPr>
            <p:cNvPr id="4" name="Freeform 4"/>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03387C">
                <a:alpha val="76863"/>
              </a:srgbClr>
            </a:solidFill>
          </p:spPr>
          <p:txBody>
            <a:bodyPr/>
            <a:lstStyle/>
            <a:p>
              <a:endParaRPr lang="de-DE" sz="1200"/>
            </a:p>
          </p:txBody>
        </p:sp>
        <p:sp>
          <p:nvSpPr>
            <p:cNvPr id="5" name="TextBox 5"/>
            <p:cNvSpPr txBox="1"/>
            <p:nvPr/>
          </p:nvSpPr>
          <p:spPr>
            <a:xfrm>
              <a:off x="0" y="-38100"/>
              <a:ext cx="4816593" cy="2747433"/>
            </a:xfrm>
            <a:prstGeom prst="rect">
              <a:avLst/>
            </a:prstGeom>
          </p:spPr>
          <p:txBody>
            <a:bodyPr lIns="33867" tIns="33867" rIns="33867" bIns="33867" rtlCol="0" anchor="ctr"/>
            <a:lstStyle/>
            <a:p>
              <a:pPr algn="ctr">
                <a:lnSpc>
                  <a:spcPts val="1773"/>
                </a:lnSpc>
                <a:spcBef>
                  <a:spcPct val="0"/>
                </a:spcBef>
              </a:pPr>
              <a:endParaRPr sz="1200"/>
            </a:p>
          </p:txBody>
        </p:sp>
      </p:grpSp>
      <p:sp>
        <p:nvSpPr>
          <p:cNvPr id="6" name="TextBox 6"/>
          <p:cNvSpPr txBox="1"/>
          <p:nvPr/>
        </p:nvSpPr>
        <p:spPr>
          <a:xfrm>
            <a:off x="1448466" y="2387911"/>
            <a:ext cx="9432229" cy="873509"/>
          </a:xfrm>
          <a:prstGeom prst="rect">
            <a:avLst/>
          </a:prstGeom>
        </p:spPr>
        <p:txBody>
          <a:bodyPr lIns="0" tIns="0" rIns="0" bIns="0" rtlCol="0" anchor="t">
            <a:spAutoFit/>
          </a:bodyPr>
          <a:lstStyle/>
          <a:p>
            <a:pPr algn="ctr">
              <a:lnSpc>
                <a:spcPts val="7275"/>
              </a:lnSpc>
            </a:pPr>
            <a:r>
              <a:rPr lang="en-US" sz="5867" spc="522">
                <a:solidFill>
                  <a:srgbClr val="FFFFFF"/>
                </a:solidFill>
                <a:latin typeface="Cyrillic Bodoni"/>
                <a:ea typeface="Cyrillic Bodoni"/>
                <a:cs typeface="Cyrillic Bodoni"/>
                <a:sym typeface="Cyrillic Bodoni"/>
              </a:rPr>
              <a:t>VIELEN DANK </a:t>
            </a:r>
          </a:p>
        </p:txBody>
      </p:sp>
      <p:sp>
        <p:nvSpPr>
          <p:cNvPr id="7" name="TextBox 7"/>
          <p:cNvSpPr txBox="1"/>
          <p:nvPr/>
        </p:nvSpPr>
        <p:spPr>
          <a:xfrm>
            <a:off x="174904" y="6122036"/>
            <a:ext cx="5206961" cy="715581"/>
          </a:xfrm>
          <a:prstGeom prst="rect">
            <a:avLst/>
          </a:prstGeom>
        </p:spPr>
        <p:txBody>
          <a:bodyPr lIns="0" tIns="0" rIns="0" bIns="0" rtlCol="0" anchor="t">
            <a:spAutoFit/>
          </a:bodyPr>
          <a:lstStyle/>
          <a:p>
            <a:pPr>
              <a:lnSpc>
                <a:spcPts val="1400"/>
              </a:lnSpc>
            </a:pPr>
            <a:r>
              <a:rPr lang="en-US" sz="1333" b="1">
                <a:solidFill>
                  <a:srgbClr val="FFFFFF"/>
                </a:solidFill>
                <a:latin typeface="Montserrat Bold"/>
                <a:ea typeface="Montserrat Bold"/>
                <a:cs typeface="Montserrat Bold"/>
                <a:sym typeface="Montserrat Bold"/>
              </a:rPr>
              <a:t>Datenbasis:</a:t>
            </a:r>
          </a:p>
          <a:p>
            <a:pPr>
              <a:lnSpc>
                <a:spcPts val="1190"/>
              </a:lnSpc>
            </a:pPr>
            <a:r>
              <a:rPr lang="en-US" sz="1133">
                <a:solidFill>
                  <a:srgbClr val="FFFFFF"/>
                </a:solidFill>
                <a:latin typeface="Montserrat"/>
                <a:ea typeface="Montserrat"/>
                <a:cs typeface="Montserrat"/>
                <a:sym typeface="Montserrat"/>
              </a:rPr>
              <a:t>Synthetischer Hoteldatensatz (Kaggle).</a:t>
            </a:r>
          </a:p>
          <a:p>
            <a:pPr>
              <a:lnSpc>
                <a:spcPts val="1190"/>
              </a:lnSpc>
            </a:pPr>
            <a:r>
              <a:rPr lang="en-US" sz="1133">
                <a:solidFill>
                  <a:srgbClr val="FFFFFF"/>
                </a:solidFill>
                <a:latin typeface="Montserrat"/>
                <a:ea typeface="Montserrat"/>
                <a:cs typeface="Montserrat"/>
                <a:sym typeface="Montserrat"/>
              </a:rPr>
              <a:t>Modellierung &amp; Kennzahlenlogik eigenständig entwickelt.</a:t>
            </a:r>
          </a:p>
          <a:p>
            <a:pPr>
              <a:lnSpc>
                <a:spcPts val="2029"/>
              </a:lnSpc>
            </a:pPr>
            <a:endParaRPr lang="en-US" sz="1133">
              <a:solidFill>
                <a:srgbClr val="FFFFFF"/>
              </a:solidFill>
              <a:latin typeface="Montserrat"/>
              <a:ea typeface="Montserrat"/>
              <a:cs typeface="Montserrat"/>
              <a:sym typeface="Montserrat"/>
            </a:endParaRPr>
          </a:p>
        </p:txBody>
      </p:sp>
      <p:sp>
        <p:nvSpPr>
          <p:cNvPr id="8" name="Freeform 8"/>
          <p:cNvSpPr/>
          <p:nvPr/>
        </p:nvSpPr>
        <p:spPr>
          <a:xfrm>
            <a:off x="3115464" y="3600921"/>
            <a:ext cx="5961073" cy="140898"/>
          </a:xfrm>
          <a:custGeom>
            <a:avLst/>
            <a:gdLst/>
            <a:ahLst/>
            <a:cxnLst/>
            <a:rect l="l" t="t" r="r" b="b"/>
            <a:pathLst>
              <a:path w="8941609" h="211347">
                <a:moveTo>
                  <a:pt x="0" y="0"/>
                </a:moveTo>
                <a:lnTo>
                  <a:pt x="8941610" y="0"/>
                </a:lnTo>
                <a:lnTo>
                  <a:pt x="8941610" y="211347"/>
                </a:lnTo>
                <a:lnTo>
                  <a:pt x="0" y="21134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de-DE" sz="1200"/>
          </a:p>
        </p:txBody>
      </p:sp>
      <p:sp>
        <p:nvSpPr>
          <p:cNvPr id="9" name="TextBox 9"/>
          <p:cNvSpPr txBox="1"/>
          <p:nvPr/>
        </p:nvSpPr>
        <p:spPr>
          <a:xfrm>
            <a:off x="1496726" y="4157012"/>
            <a:ext cx="9432229" cy="395301"/>
          </a:xfrm>
          <a:prstGeom prst="rect">
            <a:avLst/>
          </a:prstGeom>
        </p:spPr>
        <p:txBody>
          <a:bodyPr lIns="0" tIns="0" rIns="0" bIns="0" rtlCol="0" anchor="t">
            <a:spAutoFit/>
          </a:bodyPr>
          <a:lstStyle/>
          <a:p>
            <a:pPr algn="ctr">
              <a:lnSpc>
                <a:spcPts val="3307"/>
              </a:lnSpc>
            </a:pPr>
            <a:r>
              <a:rPr lang="en-US" sz="2667" spc="237" dirty="0">
                <a:solidFill>
                  <a:srgbClr val="FFFFFF"/>
                </a:solidFill>
                <a:latin typeface="Cyrillic Bodoni"/>
                <a:ea typeface="Cyrillic Bodoni"/>
                <a:cs typeface="Cyrillic Bodoni"/>
                <a:sym typeface="Cyrillic Bodoni"/>
              </a:rPr>
              <a:t>ICH FREUE MICH AUF IHRE FRAGEN.</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97</Words>
  <Application>Microsoft Office PowerPoint</Application>
  <PresentationFormat>Breitbild</PresentationFormat>
  <Paragraphs>31</Paragraphs>
  <Slides>7</Slides>
  <Notes>7</Notes>
  <HiddenSlides>0</HiddenSlides>
  <MMClips>0</MMClips>
  <ScaleCrop>false</ScaleCrop>
  <HeadingPairs>
    <vt:vector size="6" baseType="variant">
      <vt:variant>
        <vt:lpstr>Verwendete Schriftarten</vt:lpstr>
      </vt:variant>
      <vt:variant>
        <vt:i4>10</vt:i4>
      </vt:variant>
      <vt:variant>
        <vt:lpstr>Design</vt:lpstr>
      </vt:variant>
      <vt:variant>
        <vt:i4>1</vt:i4>
      </vt:variant>
      <vt:variant>
        <vt:lpstr>Folientitel</vt:lpstr>
      </vt:variant>
      <vt:variant>
        <vt:i4>7</vt:i4>
      </vt:variant>
    </vt:vector>
  </HeadingPairs>
  <TitlesOfParts>
    <vt:vector size="18" baseType="lpstr">
      <vt:lpstr>Aptos</vt:lpstr>
      <vt:lpstr>Arial</vt:lpstr>
      <vt:lpstr>Calibri</vt:lpstr>
      <vt:lpstr>Calibri Light</vt:lpstr>
      <vt:lpstr>Canva Sans</vt:lpstr>
      <vt:lpstr>Canva Sans Bold</vt:lpstr>
      <vt:lpstr>Cyrillic Bodoni</vt:lpstr>
      <vt:lpstr>Cyrillic Bodoni Bold</vt:lpstr>
      <vt:lpstr>Montserrat</vt:lpstr>
      <vt:lpstr>Montserrat Bold</vt:lpstr>
      <vt:lpstr>Custom Design</vt:lpstr>
      <vt:lpstr>PowerPoint-Präsentation</vt:lpstr>
      <vt:lpstr>01 Management Überblick</vt:lpstr>
      <vt:lpstr>02 Geschäftsmodell Vergleich...</vt:lpstr>
      <vt:lpstr>03 Segmentanalyse</vt:lpstr>
      <vt:lpstr>04  Risiko-Rendite-Matrix</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Ayse Tosun</cp:lastModifiedBy>
  <cp:revision>9</cp:revision>
  <dcterms:created xsi:type="dcterms:W3CDTF">2016-09-04T11:54:55Z</dcterms:created>
  <dcterms:modified xsi:type="dcterms:W3CDTF">2026-03-03T13:22:53Z</dcterms:modified>
</cp:coreProperties>
</file>