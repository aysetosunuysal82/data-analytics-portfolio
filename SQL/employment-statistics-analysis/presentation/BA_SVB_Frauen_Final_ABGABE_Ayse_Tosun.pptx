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0" r:id="rId2"/>
    <p:sldId id="256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1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/>
    <p:restoredTop sz="86410" autoAdjust="0"/>
  </p:normalViewPr>
  <p:slideViewPr>
    <p:cSldViewPr snapToGrid="0" snapToObjects="1">
      <p:cViewPr varScale="1">
        <p:scale>
          <a:sx n="74" d="100"/>
          <a:sy n="74" d="100"/>
        </p:scale>
        <p:origin x="54" y="4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Deutsche</c:v>
                </c:pt>
              </c:strCache>
            </c:strRef>
          </c:tx>
          <c:spPr>
            <a:ln w="50800" cap="flat">
              <a:solidFill>
                <a:srgbClr val="F28E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</c:strCache>
            </c: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13306800</c:v>
                </c:pt>
                <c:pt idx="1">
                  <c:v>13316970</c:v>
                </c:pt>
                <c:pt idx="2">
                  <c:v>13327450</c:v>
                </c:pt>
                <c:pt idx="3">
                  <c:v>13325040</c:v>
                </c:pt>
                <c:pt idx="4">
                  <c:v>13332140</c:v>
                </c:pt>
                <c:pt idx="5">
                  <c:v>13309620</c:v>
                </c:pt>
                <c:pt idx="6">
                  <c:v>13241520</c:v>
                </c:pt>
                <c:pt idx="7">
                  <c:v>13329850</c:v>
                </c:pt>
                <c:pt idx="8">
                  <c:v>13438420</c:v>
                </c:pt>
                <c:pt idx="9">
                  <c:v>13436720</c:v>
                </c:pt>
                <c:pt idx="10">
                  <c:v>13446430</c:v>
                </c:pt>
                <c:pt idx="11">
                  <c:v>13409130</c:v>
                </c:pt>
                <c:pt idx="12">
                  <c:v>13350210</c:v>
                </c:pt>
                <c:pt idx="13">
                  <c:v>13355720</c:v>
                </c:pt>
                <c:pt idx="14">
                  <c:v>13361180</c:v>
                </c:pt>
                <c:pt idx="15">
                  <c:v>13352160</c:v>
                </c:pt>
                <c:pt idx="16">
                  <c:v>13350440</c:v>
                </c:pt>
                <c:pt idx="17">
                  <c:v>13326460</c:v>
                </c:pt>
                <c:pt idx="18">
                  <c:v>13259650</c:v>
                </c:pt>
                <c:pt idx="19">
                  <c:v>13351840</c:v>
                </c:pt>
                <c:pt idx="20">
                  <c:v>13445250</c:v>
                </c:pt>
                <c:pt idx="21">
                  <c:v>13458600</c:v>
                </c:pt>
                <c:pt idx="22">
                  <c:v>13469410</c:v>
                </c:pt>
                <c:pt idx="23">
                  <c:v>13429770</c:v>
                </c:pt>
                <c:pt idx="24">
                  <c:v>13376060</c:v>
                </c:pt>
                <c:pt idx="25">
                  <c:v>13369540</c:v>
                </c:pt>
                <c:pt idx="26">
                  <c:v>13367900</c:v>
                </c:pt>
                <c:pt idx="27">
                  <c:v>13367720</c:v>
                </c:pt>
                <c:pt idx="28">
                  <c:v>13365900</c:v>
                </c:pt>
                <c:pt idx="29">
                  <c:v>13336200</c:v>
                </c:pt>
                <c:pt idx="30">
                  <c:v>13273980</c:v>
                </c:pt>
                <c:pt idx="31">
                  <c:v>13349820</c:v>
                </c:pt>
                <c:pt idx="32">
                  <c:v>13443850</c:v>
                </c:pt>
                <c:pt idx="33">
                  <c:v>13451970</c:v>
                </c:pt>
                <c:pt idx="34">
                  <c:v>13457670</c:v>
                </c:pt>
                <c:pt idx="35">
                  <c:v>13418500</c:v>
                </c:pt>
                <c:pt idx="36">
                  <c:v>13351560</c:v>
                </c:pt>
                <c:pt idx="37">
                  <c:v>13349990</c:v>
                </c:pt>
                <c:pt idx="38">
                  <c:v>13345610</c:v>
                </c:pt>
                <c:pt idx="39">
                  <c:v>13333250</c:v>
                </c:pt>
                <c:pt idx="40">
                  <c:v>13323090</c:v>
                </c:pt>
                <c:pt idx="41">
                  <c:v>13299440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8A-498B-8E44-832F784754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Ausländerinnen</c:v>
                </c:pt>
              </c:strCache>
            </c:strRef>
          </c:tx>
          <c:spPr>
            <a:ln w="50800" cap="flat">
              <a:solidFill>
                <a:srgbClr val="4E79A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</c:strCache>
            </c:strRef>
          </c:cat>
          <c:val>
            <c:numRef>
              <c:f>Sheet1!$C$2:$C$43</c:f>
              <c:numCache>
                <c:formatCode>General</c:formatCode>
                <c:ptCount val="42"/>
                <c:pt idx="0">
                  <c:v>1385740</c:v>
                </c:pt>
                <c:pt idx="1">
                  <c:v>1398070</c:v>
                </c:pt>
                <c:pt idx="2">
                  <c:v>1411380</c:v>
                </c:pt>
                <c:pt idx="3">
                  <c:v>1425850</c:v>
                </c:pt>
                <c:pt idx="4">
                  <c:v>1444370</c:v>
                </c:pt>
                <c:pt idx="5">
                  <c:v>1456080</c:v>
                </c:pt>
                <c:pt idx="6">
                  <c:v>1455540</c:v>
                </c:pt>
                <c:pt idx="7">
                  <c:v>1472070</c:v>
                </c:pt>
                <c:pt idx="8">
                  <c:v>1502240</c:v>
                </c:pt>
                <c:pt idx="9">
                  <c:v>1514210</c:v>
                </c:pt>
                <c:pt idx="10">
                  <c:v>1523600</c:v>
                </c:pt>
                <c:pt idx="11">
                  <c:v>1518940</c:v>
                </c:pt>
                <c:pt idx="12">
                  <c:v>1520100</c:v>
                </c:pt>
                <c:pt idx="13">
                  <c:v>1530230</c:v>
                </c:pt>
                <c:pt idx="14">
                  <c:v>1542540</c:v>
                </c:pt>
                <c:pt idx="15">
                  <c:v>1551940</c:v>
                </c:pt>
                <c:pt idx="16">
                  <c:v>1563810</c:v>
                </c:pt>
                <c:pt idx="17">
                  <c:v>1571100</c:v>
                </c:pt>
                <c:pt idx="18">
                  <c:v>1568100</c:v>
                </c:pt>
                <c:pt idx="19">
                  <c:v>1581350</c:v>
                </c:pt>
                <c:pt idx="20">
                  <c:v>1607430</c:v>
                </c:pt>
                <c:pt idx="21">
                  <c:v>1620570</c:v>
                </c:pt>
                <c:pt idx="22">
                  <c:v>1630380</c:v>
                </c:pt>
                <c:pt idx="23">
                  <c:v>1624950</c:v>
                </c:pt>
                <c:pt idx="24">
                  <c:v>1624200</c:v>
                </c:pt>
                <c:pt idx="25">
                  <c:v>1632790</c:v>
                </c:pt>
                <c:pt idx="26">
                  <c:v>1643370</c:v>
                </c:pt>
                <c:pt idx="27">
                  <c:v>1657390</c:v>
                </c:pt>
                <c:pt idx="28">
                  <c:v>1668180</c:v>
                </c:pt>
                <c:pt idx="29">
                  <c:v>1674750</c:v>
                </c:pt>
                <c:pt idx="30">
                  <c:v>1673600</c:v>
                </c:pt>
                <c:pt idx="31">
                  <c:v>1684840</c:v>
                </c:pt>
                <c:pt idx="32">
                  <c:v>1714870</c:v>
                </c:pt>
                <c:pt idx="33">
                  <c:v>1727140</c:v>
                </c:pt>
                <c:pt idx="34">
                  <c:v>1735950</c:v>
                </c:pt>
                <c:pt idx="35">
                  <c:v>1730170</c:v>
                </c:pt>
                <c:pt idx="36">
                  <c:v>1726430</c:v>
                </c:pt>
                <c:pt idx="37">
                  <c:v>1736590</c:v>
                </c:pt>
                <c:pt idx="38">
                  <c:v>1747160</c:v>
                </c:pt>
                <c:pt idx="39">
                  <c:v>1759520</c:v>
                </c:pt>
                <c:pt idx="40">
                  <c:v>1769090</c:v>
                </c:pt>
                <c:pt idx="41">
                  <c:v>1775710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8A-498B-8E44-832F78475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de-DE"/>
        </a:p>
      </c:txPr>
    </c:legend>
    <c:plotVisOnly val="1"/>
    <c:dispBlanksAs val="span"/>
    <c:showDLblsOverMax val="1"/>
  </c:chart>
  <c:spPr>
    <a:solidFill>
      <a:schemeClr val="tx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Anteil (%)</c:v>
                </c:pt>
              </c:strCache>
            </c:strRef>
          </c:tx>
          <c:spPr>
            <a:ln w="50800" cap="flat">
              <a:solidFill>
                <a:srgbClr val="4E79A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</c:strCache>
            </c: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9.43</c:v>
                </c:pt>
                <c:pt idx="1">
                  <c:v>9.5</c:v>
                </c:pt>
                <c:pt idx="2">
                  <c:v>9.58</c:v>
                </c:pt>
                <c:pt idx="3">
                  <c:v>9.67</c:v>
                </c:pt>
                <c:pt idx="4">
                  <c:v>9.77</c:v>
                </c:pt>
                <c:pt idx="5">
                  <c:v>9.86</c:v>
                </c:pt>
                <c:pt idx="6">
                  <c:v>9.9</c:v>
                </c:pt>
                <c:pt idx="7">
                  <c:v>9.9499999999999993</c:v>
                </c:pt>
                <c:pt idx="8">
                  <c:v>10.050000000000001</c:v>
                </c:pt>
                <c:pt idx="9">
                  <c:v>10.130000000000001</c:v>
                </c:pt>
                <c:pt idx="10">
                  <c:v>10.18</c:v>
                </c:pt>
                <c:pt idx="11">
                  <c:v>10.18</c:v>
                </c:pt>
                <c:pt idx="12">
                  <c:v>10.220000000000001</c:v>
                </c:pt>
                <c:pt idx="13">
                  <c:v>10.28</c:v>
                </c:pt>
                <c:pt idx="14">
                  <c:v>10.35</c:v>
                </c:pt>
                <c:pt idx="15">
                  <c:v>10.41</c:v>
                </c:pt>
                <c:pt idx="16">
                  <c:v>10.49</c:v>
                </c:pt>
                <c:pt idx="17">
                  <c:v>10.55</c:v>
                </c:pt>
                <c:pt idx="18">
                  <c:v>10.58</c:v>
                </c:pt>
                <c:pt idx="19">
                  <c:v>10.59</c:v>
                </c:pt>
                <c:pt idx="20">
                  <c:v>10.68</c:v>
                </c:pt>
                <c:pt idx="21">
                  <c:v>10.75</c:v>
                </c:pt>
                <c:pt idx="22">
                  <c:v>10.8</c:v>
                </c:pt>
                <c:pt idx="23">
                  <c:v>10.79</c:v>
                </c:pt>
                <c:pt idx="24">
                  <c:v>10.83</c:v>
                </c:pt>
                <c:pt idx="25">
                  <c:v>10.88</c:v>
                </c:pt>
                <c:pt idx="26">
                  <c:v>10.95</c:v>
                </c:pt>
                <c:pt idx="27">
                  <c:v>11.03</c:v>
                </c:pt>
                <c:pt idx="28">
                  <c:v>11.1</c:v>
                </c:pt>
                <c:pt idx="29">
                  <c:v>11.16</c:v>
                </c:pt>
                <c:pt idx="30">
                  <c:v>11.2</c:v>
                </c:pt>
                <c:pt idx="31">
                  <c:v>11.21</c:v>
                </c:pt>
                <c:pt idx="32">
                  <c:v>11.31</c:v>
                </c:pt>
                <c:pt idx="33">
                  <c:v>11.38</c:v>
                </c:pt>
                <c:pt idx="34">
                  <c:v>11.43</c:v>
                </c:pt>
                <c:pt idx="35">
                  <c:v>11.42</c:v>
                </c:pt>
                <c:pt idx="36">
                  <c:v>11.45</c:v>
                </c:pt>
                <c:pt idx="37">
                  <c:v>11.51</c:v>
                </c:pt>
                <c:pt idx="38">
                  <c:v>11.58</c:v>
                </c:pt>
                <c:pt idx="39">
                  <c:v>11.66</c:v>
                </c:pt>
                <c:pt idx="40">
                  <c:v>11.72</c:v>
                </c:pt>
                <c:pt idx="41">
                  <c:v>11.78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4C-465C-B6DB-D1C69ABF23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MA12 (%)</c:v>
                </c:pt>
              </c:strCache>
            </c:strRef>
          </c:tx>
          <c:spPr>
            <a:ln w="50800" cap="flat">
              <a:solidFill>
                <a:srgbClr val="59A14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</c:strCache>
            </c:strRef>
          </c:cat>
          <c:val>
            <c:numRef>
              <c:f>Sheet1!$C$2:$C$43</c:f>
              <c:numCache>
                <c:formatCode>General</c:formatCode>
                <c:ptCount val="42"/>
                <c:pt idx="0">
                  <c:v>9.43</c:v>
                </c:pt>
                <c:pt idx="1">
                  <c:v>9.4700000000000006</c:v>
                </c:pt>
                <c:pt idx="2">
                  <c:v>9.5</c:v>
                </c:pt>
                <c:pt idx="3">
                  <c:v>9.5500000000000007</c:v>
                </c:pt>
                <c:pt idx="4">
                  <c:v>9.59</c:v>
                </c:pt>
                <c:pt idx="5">
                  <c:v>9.64</c:v>
                </c:pt>
                <c:pt idx="6">
                  <c:v>9.67</c:v>
                </c:pt>
                <c:pt idx="7">
                  <c:v>9.7100000000000009</c:v>
                </c:pt>
                <c:pt idx="8">
                  <c:v>9.75</c:v>
                </c:pt>
                <c:pt idx="9">
                  <c:v>9.7799999999999994</c:v>
                </c:pt>
                <c:pt idx="10">
                  <c:v>9.82</c:v>
                </c:pt>
                <c:pt idx="11">
                  <c:v>9.85</c:v>
                </c:pt>
                <c:pt idx="12">
                  <c:v>9.92</c:v>
                </c:pt>
                <c:pt idx="13">
                  <c:v>9.98</c:v>
                </c:pt>
                <c:pt idx="14">
                  <c:v>10.050000000000001</c:v>
                </c:pt>
                <c:pt idx="15">
                  <c:v>10.11</c:v>
                </c:pt>
                <c:pt idx="16">
                  <c:v>10.17</c:v>
                </c:pt>
                <c:pt idx="17">
                  <c:v>10.220000000000001</c:v>
                </c:pt>
                <c:pt idx="18">
                  <c:v>10.28</c:v>
                </c:pt>
                <c:pt idx="19">
                  <c:v>10.33</c:v>
                </c:pt>
                <c:pt idx="20">
                  <c:v>10.39</c:v>
                </c:pt>
                <c:pt idx="21">
                  <c:v>10.44</c:v>
                </c:pt>
                <c:pt idx="22">
                  <c:v>10.49</c:v>
                </c:pt>
                <c:pt idx="23">
                  <c:v>10.54</c:v>
                </c:pt>
                <c:pt idx="24">
                  <c:v>10.59</c:v>
                </c:pt>
                <c:pt idx="25">
                  <c:v>10.64</c:v>
                </c:pt>
                <c:pt idx="26">
                  <c:v>10.69</c:v>
                </c:pt>
                <c:pt idx="27">
                  <c:v>10.74</c:v>
                </c:pt>
                <c:pt idx="28">
                  <c:v>10.79</c:v>
                </c:pt>
                <c:pt idx="29">
                  <c:v>10.85</c:v>
                </c:pt>
                <c:pt idx="30">
                  <c:v>10.9</c:v>
                </c:pt>
                <c:pt idx="31">
                  <c:v>10.95</c:v>
                </c:pt>
                <c:pt idx="32">
                  <c:v>11</c:v>
                </c:pt>
                <c:pt idx="33">
                  <c:v>11.05</c:v>
                </c:pt>
                <c:pt idx="34">
                  <c:v>11.11</c:v>
                </c:pt>
                <c:pt idx="35">
                  <c:v>11.16</c:v>
                </c:pt>
                <c:pt idx="36">
                  <c:v>11.21</c:v>
                </c:pt>
                <c:pt idx="37">
                  <c:v>11.26</c:v>
                </c:pt>
                <c:pt idx="38">
                  <c:v>11.32</c:v>
                </c:pt>
                <c:pt idx="39">
                  <c:v>11.37</c:v>
                </c:pt>
                <c:pt idx="40">
                  <c:v>11.42</c:v>
                </c:pt>
                <c:pt idx="41">
                  <c:v>11.47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4C-465C-B6DB-D1C69ABF2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de-DE"/>
        </a:p>
      </c:txPr>
    </c:legend>
    <c:plotVisOnly val="1"/>
    <c:dispBlanksAs val="span"/>
    <c:showDLblsOverMax val="1"/>
  </c:chart>
  <c:spPr>
    <a:solidFill>
      <a:schemeClr val="tx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Deutsche</c:v>
                </c:pt>
              </c:strCache>
            </c:strRef>
          </c:tx>
          <c:spPr>
            <a:ln w="50800" cap="flat">
              <a:solidFill>
                <a:srgbClr val="F28E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</c:strCache>
            </c: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100</c:v>
                </c:pt>
                <c:pt idx="1">
                  <c:v>100.08</c:v>
                </c:pt>
                <c:pt idx="2">
                  <c:v>100.16</c:v>
                </c:pt>
                <c:pt idx="3">
                  <c:v>100.14</c:v>
                </c:pt>
                <c:pt idx="4">
                  <c:v>100.19</c:v>
                </c:pt>
                <c:pt idx="5">
                  <c:v>100.02</c:v>
                </c:pt>
                <c:pt idx="6">
                  <c:v>99.51</c:v>
                </c:pt>
                <c:pt idx="7">
                  <c:v>100.17</c:v>
                </c:pt>
                <c:pt idx="8">
                  <c:v>100.99</c:v>
                </c:pt>
                <c:pt idx="9">
                  <c:v>100.98</c:v>
                </c:pt>
                <c:pt idx="10">
                  <c:v>101.05</c:v>
                </c:pt>
                <c:pt idx="11">
                  <c:v>100.77</c:v>
                </c:pt>
                <c:pt idx="12">
                  <c:v>100.33</c:v>
                </c:pt>
                <c:pt idx="13">
                  <c:v>100.37</c:v>
                </c:pt>
                <c:pt idx="14">
                  <c:v>100.41</c:v>
                </c:pt>
                <c:pt idx="15">
                  <c:v>100.34</c:v>
                </c:pt>
                <c:pt idx="16">
                  <c:v>100.33</c:v>
                </c:pt>
                <c:pt idx="17">
                  <c:v>100.15</c:v>
                </c:pt>
                <c:pt idx="18">
                  <c:v>99.65</c:v>
                </c:pt>
                <c:pt idx="19">
                  <c:v>100.34</c:v>
                </c:pt>
                <c:pt idx="20">
                  <c:v>101.04</c:v>
                </c:pt>
                <c:pt idx="21">
                  <c:v>101.14</c:v>
                </c:pt>
                <c:pt idx="22">
                  <c:v>101.22</c:v>
                </c:pt>
                <c:pt idx="23">
                  <c:v>100.92</c:v>
                </c:pt>
                <c:pt idx="24">
                  <c:v>100.52</c:v>
                </c:pt>
                <c:pt idx="25">
                  <c:v>100.47</c:v>
                </c:pt>
                <c:pt idx="26">
                  <c:v>100.46</c:v>
                </c:pt>
                <c:pt idx="27">
                  <c:v>100.46</c:v>
                </c:pt>
                <c:pt idx="28">
                  <c:v>100.44</c:v>
                </c:pt>
                <c:pt idx="29">
                  <c:v>100.22</c:v>
                </c:pt>
                <c:pt idx="30">
                  <c:v>99.75</c:v>
                </c:pt>
                <c:pt idx="31">
                  <c:v>100.32</c:v>
                </c:pt>
                <c:pt idx="32">
                  <c:v>101.03</c:v>
                </c:pt>
                <c:pt idx="33">
                  <c:v>101.09</c:v>
                </c:pt>
                <c:pt idx="34">
                  <c:v>101.13</c:v>
                </c:pt>
                <c:pt idx="35">
                  <c:v>100.84</c:v>
                </c:pt>
                <c:pt idx="36">
                  <c:v>100.34</c:v>
                </c:pt>
                <c:pt idx="37">
                  <c:v>100.32</c:v>
                </c:pt>
                <c:pt idx="38">
                  <c:v>100.29</c:v>
                </c:pt>
                <c:pt idx="39">
                  <c:v>100.2</c:v>
                </c:pt>
                <c:pt idx="40">
                  <c:v>100.12</c:v>
                </c:pt>
                <c:pt idx="41">
                  <c:v>99.94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A5-42D2-82F9-C6D84399FE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Ausländerinnen</c:v>
                </c:pt>
              </c:strCache>
            </c:strRef>
          </c:tx>
          <c:spPr>
            <a:ln w="50800" cap="flat">
              <a:solidFill>
                <a:srgbClr val="4E79A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</c:strCache>
            </c:strRef>
          </c:cat>
          <c:val>
            <c:numRef>
              <c:f>Sheet1!$C$2:$C$43</c:f>
              <c:numCache>
                <c:formatCode>General</c:formatCode>
                <c:ptCount val="42"/>
                <c:pt idx="0">
                  <c:v>100</c:v>
                </c:pt>
                <c:pt idx="1">
                  <c:v>100.89</c:v>
                </c:pt>
                <c:pt idx="2">
                  <c:v>101.85</c:v>
                </c:pt>
                <c:pt idx="3">
                  <c:v>102.89</c:v>
                </c:pt>
                <c:pt idx="4">
                  <c:v>104.23</c:v>
                </c:pt>
                <c:pt idx="5">
                  <c:v>105.08</c:v>
                </c:pt>
                <c:pt idx="6">
                  <c:v>105.04</c:v>
                </c:pt>
                <c:pt idx="7">
                  <c:v>106.23</c:v>
                </c:pt>
                <c:pt idx="8">
                  <c:v>108.41</c:v>
                </c:pt>
                <c:pt idx="9">
                  <c:v>109.27</c:v>
                </c:pt>
                <c:pt idx="10">
                  <c:v>109.95</c:v>
                </c:pt>
                <c:pt idx="11">
                  <c:v>109.61</c:v>
                </c:pt>
                <c:pt idx="12">
                  <c:v>109.7</c:v>
                </c:pt>
                <c:pt idx="13">
                  <c:v>110.43</c:v>
                </c:pt>
                <c:pt idx="14">
                  <c:v>111.32</c:v>
                </c:pt>
                <c:pt idx="15">
                  <c:v>111.99</c:v>
                </c:pt>
                <c:pt idx="16">
                  <c:v>112.85</c:v>
                </c:pt>
                <c:pt idx="17">
                  <c:v>113.38</c:v>
                </c:pt>
                <c:pt idx="18">
                  <c:v>113.16</c:v>
                </c:pt>
                <c:pt idx="19">
                  <c:v>114.12</c:v>
                </c:pt>
                <c:pt idx="20">
                  <c:v>116</c:v>
                </c:pt>
                <c:pt idx="21">
                  <c:v>116.95</c:v>
                </c:pt>
                <c:pt idx="22">
                  <c:v>117.65</c:v>
                </c:pt>
                <c:pt idx="23">
                  <c:v>117.26</c:v>
                </c:pt>
                <c:pt idx="24">
                  <c:v>117.21</c:v>
                </c:pt>
                <c:pt idx="25">
                  <c:v>117.83</c:v>
                </c:pt>
                <c:pt idx="26">
                  <c:v>118.59</c:v>
                </c:pt>
                <c:pt idx="27">
                  <c:v>119.6</c:v>
                </c:pt>
                <c:pt idx="28">
                  <c:v>120.38</c:v>
                </c:pt>
                <c:pt idx="29">
                  <c:v>120.86</c:v>
                </c:pt>
                <c:pt idx="30">
                  <c:v>120.77</c:v>
                </c:pt>
                <c:pt idx="31">
                  <c:v>121.58</c:v>
                </c:pt>
                <c:pt idx="32">
                  <c:v>123.75</c:v>
                </c:pt>
                <c:pt idx="33">
                  <c:v>124.64</c:v>
                </c:pt>
                <c:pt idx="34">
                  <c:v>125.27</c:v>
                </c:pt>
                <c:pt idx="35">
                  <c:v>124.86</c:v>
                </c:pt>
                <c:pt idx="36">
                  <c:v>124.59</c:v>
                </c:pt>
                <c:pt idx="37">
                  <c:v>125.32</c:v>
                </c:pt>
                <c:pt idx="38">
                  <c:v>126.08</c:v>
                </c:pt>
                <c:pt idx="39">
                  <c:v>126.97</c:v>
                </c:pt>
                <c:pt idx="40">
                  <c:v>127.66</c:v>
                </c:pt>
                <c:pt idx="41">
                  <c:v>128.13999999999999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A5-42D2-82F9-C6D84399FE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de-DE"/>
        </a:p>
      </c:txPr>
    </c:legend>
    <c:plotVisOnly val="1"/>
    <c:dispBlanksAs val="span"/>
    <c:showDLblsOverMax val="1"/>
  </c:chart>
  <c:spPr>
    <a:solidFill>
      <a:schemeClr val="tx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Deutsche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Ohne</c:v>
                </c:pt>
                <c:pt idx="1">
                  <c:v>Anerkannt</c:v>
                </c:pt>
                <c:pt idx="2">
                  <c:v>Akademisch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1346980</c:v>
                </c:pt>
                <c:pt idx="1">
                  <c:v>9050690</c:v>
                </c:pt>
                <c:pt idx="2">
                  <c:v>2901770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E7-4F3F-9C34-531DBBCA14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Ausländerinnen</c:v>
                </c:pt>
              </c:strCache>
            </c:strRef>
          </c:tx>
          <c:spPr>
            <a:solidFill>
              <a:srgbClr val="4E79A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Ohne</c:v>
                </c:pt>
                <c:pt idx="1">
                  <c:v>Anerkannt</c:v>
                </c:pt>
                <c:pt idx="2">
                  <c:v>Akademisch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522970</c:v>
                </c:pt>
                <c:pt idx="1">
                  <c:v>714050</c:v>
                </c:pt>
                <c:pt idx="2">
                  <c:v>538690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E7-4F3F-9C34-531DBBCA14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de-DE"/>
        </a:p>
      </c:txPr>
    </c:legend>
    <c:plotVisOnly val="1"/>
    <c:dispBlanksAs val="span"/>
    <c:showDLblsOverMax val="1"/>
  </c:chart>
  <c:spPr>
    <a:solidFill>
      <a:schemeClr val="tx1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Anerkannt</c:v>
                </c:pt>
              </c:strCache>
            </c:strRef>
          </c:tx>
          <c:spPr>
            <a:ln w="50800" cap="rnd" cmpd="sng" algn="ctr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7428370</c:v>
                </c:pt>
                <c:pt idx="1">
                  <c:v>7851730</c:v>
                </c:pt>
                <c:pt idx="2">
                  <c:v>8213670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97-4218-9F78-BF34C8ED0C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Akademisch</c:v>
                </c:pt>
              </c:strCache>
            </c:strRef>
          </c:tx>
          <c:spPr>
            <a:ln w="50800" cap="rnd" cmpd="sng" algn="ctr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4853070</c:v>
                </c:pt>
                <c:pt idx="1">
                  <c:v>5439120</c:v>
                </c:pt>
                <c:pt idx="2">
                  <c:v>5967260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97-4218-9F78-BF34C8ED0C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Ohne</c:v>
                </c:pt>
              </c:strCache>
            </c:strRef>
          </c:tx>
          <c:spPr>
            <a:ln w="50800" cap="rnd" cmpd="sng" algn="ctr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5226650</c:v>
                </c:pt>
                <c:pt idx="1">
                  <c:v>5621650</c:v>
                </c:pt>
                <c:pt idx="2">
                  <c:v>5986320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97-4218-9F78-BF34C8ED0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Anerkannt</c:v>
                </c:pt>
              </c:strCache>
            </c:strRef>
          </c:tx>
          <c:spPr>
            <a:ln w="50800" cap="flat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111686650</c:v>
                </c:pt>
                <c:pt idx="1">
                  <c:v>110947000</c:v>
                </c:pt>
                <c:pt idx="2">
                  <c:v>109923090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4B-4901-B37C-3F7B1A938C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Akademisch</c:v>
                </c:pt>
              </c:strCache>
            </c:strRef>
          </c:tx>
          <c:spPr>
            <a:ln w="50800" cap="flat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31473260</c:v>
                </c:pt>
                <c:pt idx="1">
                  <c:v>32655870</c:v>
                </c:pt>
                <c:pt idx="2">
                  <c:v>33815410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4B-4901-B37C-3F7B1A938C2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Ohne</c:v>
                </c:pt>
              </c:strCache>
            </c:strRef>
          </c:tx>
          <c:spPr>
            <a:ln w="50800" cap="flat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17060180</c:v>
                </c:pt>
                <c:pt idx="1">
                  <c:v>16907820</c:v>
                </c:pt>
                <c:pt idx="2">
                  <c:v>16840610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4B-4901-B37C-3F7B1A938C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de-DE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Abstand (Deutsche − Ausländerinnen)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Nordrhein-Westfalen</c:v>
                </c:pt>
                <c:pt idx="1">
                  <c:v>Bayern</c:v>
                </c:pt>
                <c:pt idx="2">
                  <c:v>Baden-Württemberg</c:v>
                </c:pt>
                <c:pt idx="3">
                  <c:v>Niedersachsen</c:v>
                </c:pt>
                <c:pt idx="4">
                  <c:v>Hessen</c:v>
                </c:pt>
                <c:pt idx="5">
                  <c:v>Sachsen-Anhalt</c:v>
                </c:pt>
                <c:pt idx="6">
                  <c:v>Thüringen</c:v>
                </c:pt>
                <c:pt idx="7">
                  <c:v>Mecklenburg-Vorpommern</c:v>
                </c:pt>
                <c:pt idx="8">
                  <c:v>Saarland</c:v>
                </c:pt>
                <c:pt idx="9">
                  <c:v>Bremen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2412760</c:v>
                </c:pt>
                <c:pt idx="1">
                  <c:v>1833510</c:v>
                </c:pt>
                <c:pt idx="2">
                  <c:v>1463200</c:v>
                </c:pt>
                <c:pt idx="3">
                  <c:v>1130050</c:v>
                </c:pt>
                <c:pt idx="4">
                  <c:v>816380</c:v>
                </c:pt>
                <c:pt idx="5">
                  <c:v>326560</c:v>
                </c:pt>
                <c:pt idx="6">
                  <c:v>313250</c:v>
                </c:pt>
                <c:pt idx="7">
                  <c:v>244430</c:v>
                </c:pt>
                <c:pt idx="8">
                  <c:v>131820</c:v>
                </c:pt>
                <c:pt idx="9">
                  <c:v>109760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38-412F-9B59-91C458CF4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tx1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73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de-DE" b="1" u="sng" dirty="0"/>
              <a:t>Folie 1 – Einstieg / Begrüßung</a:t>
            </a:r>
          </a:p>
          <a:p>
            <a:endParaRPr lang="de-DE" dirty="0"/>
          </a:p>
          <a:p>
            <a:r>
              <a:rPr lang="de-DE" dirty="0"/>
              <a:t>Guten Tag zusammen, danke, dass Sie da sind.</a:t>
            </a:r>
          </a:p>
          <a:p>
            <a:br>
              <a:rPr lang="de-DE" dirty="0"/>
            </a:br>
            <a:r>
              <a:rPr lang="de-DE" dirty="0"/>
              <a:t>Ich bin Data Analyst im Rahmen der Weiterbildung bei </a:t>
            </a:r>
            <a:r>
              <a:rPr lang="de-DE" dirty="0" err="1"/>
              <a:t>DataSmart</a:t>
            </a:r>
            <a:r>
              <a:rPr lang="de-DE" dirty="0"/>
              <a:t> Point und stelle heute die Ergebnisse meines Projekts vor.</a:t>
            </a:r>
          </a:p>
          <a:p>
            <a:endParaRPr lang="de-DE" dirty="0"/>
          </a:p>
          <a:p>
            <a:r>
              <a:rPr lang="de-DE" dirty="0"/>
              <a:t>Als ich diese Analyse begonnen habe, war ich vor allem neugierig: </a:t>
            </a:r>
          </a:p>
          <a:p>
            <a:r>
              <a:rPr lang="de-DE" b="1" dirty="0"/>
              <a:t>Was zeigen die Zahlen wirklich – jenseits von Bauchgefühl und Einzelbeispielen?</a:t>
            </a:r>
          </a:p>
          <a:p>
            <a:br>
              <a:rPr lang="de-DE" dirty="0"/>
            </a:br>
            <a:r>
              <a:rPr lang="de-DE" dirty="0"/>
              <a:t>Und je tiefer ich in die Daten gegangen bin, desto klarer wurde: </a:t>
            </a:r>
          </a:p>
          <a:p>
            <a:r>
              <a:rPr lang="de-DE" dirty="0"/>
              <a:t>Es gibt einige </a:t>
            </a:r>
            <a:r>
              <a:rPr lang="de-DE" b="1" dirty="0"/>
              <a:t>sehr gut nutzbare Muster</a:t>
            </a:r>
            <a:r>
              <a:rPr lang="de-DE" dirty="0"/>
              <a:t>, die man für Monitoring und Priorisierung verwenden kann.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de-DE" sz="1200" b="1" u="sng" dirty="0"/>
              <a:t>Übergang zu Folie 2</a:t>
            </a:r>
          </a:p>
          <a:p>
            <a:r>
              <a:rPr lang="de-DE" sz="1200" dirty="0"/>
              <a:t>Damit wir alle vom selben Verständnis ausgehen, kurz: </a:t>
            </a:r>
            <a:r>
              <a:rPr lang="de-DE" sz="1200" b="1" dirty="0"/>
              <a:t>Worum geht es genau – und was ist die Datenbasis?</a:t>
            </a:r>
            <a:endParaRPr lang="de-DE" sz="12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6347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400" b="1" u="sng" dirty="0"/>
              <a:t>Folie 2 – Datenquelle &amp; Fokus der Präsentation</a:t>
            </a:r>
          </a:p>
          <a:p>
            <a:endParaRPr lang="de-DE" sz="1400" b="1" dirty="0"/>
          </a:p>
          <a:p>
            <a:r>
              <a:rPr lang="de-DE" sz="1400" dirty="0"/>
              <a:t>Ich stelle heute Ergebnisse aus der </a:t>
            </a:r>
            <a:r>
              <a:rPr lang="de-DE" sz="1400" b="1" dirty="0"/>
              <a:t>Beschäftigungsstatistik der Bundesagentur für Arbeit</a:t>
            </a:r>
            <a:r>
              <a:rPr lang="de-DE" sz="1400" dirty="0"/>
              <a:t> vor.</a:t>
            </a:r>
          </a:p>
          <a:p>
            <a:br>
              <a:rPr lang="de-DE" sz="1400" dirty="0"/>
            </a:br>
            <a:r>
              <a:rPr lang="de-DE" sz="1400" dirty="0"/>
              <a:t>Im Fokus stehen </a:t>
            </a:r>
            <a:r>
              <a:rPr lang="de-DE" sz="1400" b="1" dirty="0"/>
              <a:t>sozialversicherungspflichtig beschäftigte Frauen in Deutschland</a:t>
            </a:r>
            <a:r>
              <a:rPr lang="de-DE" sz="1400" dirty="0"/>
              <a:t> – kurz </a:t>
            </a:r>
            <a:r>
              <a:rPr lang="de-DE" sz="1400" b="1" dirty="0" err="1"/>
              <a:t>SvB</a:t>
            </a:r>
            <a:r>
              <a:rPr lang="de-DE" sz="1400" dirty="0"/>
              <a:t> </a:t>
            </a:r>
          </a:p>
          <a:p>
            <a:r>
              <a:rPr lang="de-DE" sz="1400" dirty="0"/>
              <a:t>– getrennt nach </a:t>
            </a:r>
            <a:r>
              <a:rPr lang="de-DE" sz="1400" b="1" dirty="0"/>
              <a:t>deutscher Staatsangehörigkeit</a:t>
            </a:r>
            <a:r>
              <a:rPr lang="de-DE" sz="1400" dirty="0"/>
              <a:t> versus </a:t>
            </a:r>
            <a:r>
              <a:rPr lang="de-DE" sz="1400" b="1" dirty="0"/>
              <a:t>ausländische Staatsangehörigkeit.</a:t>
            </a:r>
          </a:p>
          <a:p>
            <a:endParaRPr lang="de-DE" sz="1400" dirty="0"/>
          </a:p>
          <a:p>
            <a:r>
              <a:rPr lang="de-DE" sz="1400" dirty="0"/>
              <a:t>Wichtig zur Einordnung:</a:t>
            </a:r>
            <a:br>
              <a:rPr lang="de-DE" sz="1400" dirty="0"/>
            </a:br>
            <a:r>
              <a:rPr lang="de-DE" sz="1400" dirty="0"/>
              <a:t>Wenn ich „Nationalität“ sage, meine ich die </a:t>
            </a:r>
            <a:r>
              <a:rPr lang="de-DE" sz="1400" b="1" dirty="0"/>
              <a:t>amtliche Staatsangehörigkeit (Pass)</a:t>
            </a:r>
            <a:r>
              <a:rPr lang="de-DE" sz="1400" dirty="0"/>
              <a:t> </a:t>
            </a:r>
          </a:p>
          <a:p>
            <a:r>
              <a:rPr lang="de-DE" sz="1400" dirty="0"/>
              <a:t>– nicht Herkunft oder „Wurzeln“. </a:t>
            </a:r>
          </a:p>
          <a:p>
            <a:r>
              <a:rPr lang="de-DE" sz="1400" dirty="0"/>
              <a:t>Das kann im Einzelfall auseinandergehen.</a:t>
            </a:r>
          </a:p>
          <a:p>
            <a:br>
              <a:rPr lang="de-DE" sz="1400" dirty="0"/>
            </a:br>
            <a:endParaRPr lang="de-DE" sz="1400" dirty="0"/>
          </a:p>
          <a:p>
            <a:r>
              <a:rPr lang="de-DE" sz="1400" b="1" dirty="0"/>
              <a:t>Übergang zu Folie 3</a:t>
            </a:r>
          </a:p>
          <a:p>
            <a:r>
              <a:rPr lang="de-DE" sz="1400" dirty="0"/>
              <a:t>Bevor wir in die Ergebnisse gehen, zeige ich kurz die „Landkarte“: </a:t>
            </a:r>
            <a:r>
              <a:rPr lang="de-DE" sz="1400" dirty="0" err="1"/>
              <a:t>Scope</a:t>
            </a:r>
            <a:r>
              <a:rPr lang="de-DE" sz="1400" dirty="0"/>
              <a:t>, Begriffe und wie wir Aussagen sauber interpretieren.</a:t>
            </a:r>
          </a:p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u="sng" dirty="0"/>
              <a:t>Folie 3 – </a:t>
            </a:r>
            <a:r>
              <a:rPr lang="de-DE" b="1" u="sng" dirty="0" err="1"/>
              <a:t>Scope</a:t>
            </a:r>
            <a:r>
              <a:rPr lang="de-DE" b="1" u="sng" dirty="0"/>
              <a:t>, Begriffe, Interpretationsregeln</a:t>
            </a:r>
          </a:p>
          <a:p>
            <a:endParaRPr lang="de-DE" b="1" dirty="0"/>
          </a:p>
          <a:p>
            <a:r>
              <a:rPr lang="de-DE" dirty="0"/>
              <a:t>Diese Folie ist bewusst eine Art Orientierung: </a:t>
            </a:r>
          </a:p>
          <a:p>
            <a:r>
              <a:rPr lang="de-DE" b="1" dirty="0"/>
              <a:t>Was ist Teil der Analyse – und was nicht.</a:t>
            </a:r>
            <a:endParaRPr lang="de-DE" dirty="0"/>
          </a:p>
          <a:p>
            <a:endParaRPr lang="de-DE" dirty="0"/>
          </a:p>
          <a:p>
            <a:r>
              <a:rPr lang="de-DE" dirty="0"/>
              <a:t>Auftraggeber wäre die </a:t>
            </a:r>
            <a:r>
              <a:rPr lang="de-DE" b="1" dirty="0"/>
              <a:t>Landesstelle für Arbeitsmarktmonitoring und Integrationsberichterstattung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r>
              <a:rPr lang="de-DE" dirty="0"/>
              <a:t>Ziel ist eine </a:t>
            </a:r>
            <a:r>
              <a:rPr lang="de-DE" b="1" dirty="0"/>
              <a:t>verständliche und umsetzbare Auswertung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Wie entwickeln sich die </a:t>
            </a:r>
            <a:r>
              <a:rPr lang="de-DE" dirty="0" err="1"/>
              <a:t>SvB</a:t>
            </a:r>
            <a:r>
              <a:rPr lang="de-DE" dirty="0"/>
              <a:t>-Bestände bei Frauen – getrennt nach Staatsangehörigkeit – und wo entstehen relevante Unterschiede nach Qualifikation und Bundesland?</a:t>
            </a:r>
          </a:p>
          <a:p>
            <a:endParaRPr lang="de-DE" dirty="0"/>
          </a:p>
          <a:p>
            <a:r>
              <a:rPr lang="de-DE" sz="1200" dirty="0"/>
              <a:t>Ich zeige Ihnen drei Perspektiven, die zusammen ein rundes Bild ergeben:</a:t>
            </a:r>
          </a:p>
          <a:p>
            <a:r>
              <a:rPr lang="de-DE" sz="1200" b="1" dirty="0"/>
              <a:t>Bestände</a:t>
            </a:r>
            <a:r>
              <a:rPr lang="de-DE" sz="1200" dirty="0"/>
              <a:t> (wie groß sind die Gruppen),</a:t>
            </a:r>
          </a:p>
          <a:p>
            <a:r>
              <a:rPr lang="de-DE" sz="1200" b="1" dirty="0"/>
              <a:t>Entwicklung/Dynamik</a:t>
            </a:r>
            <a:r>
              <a:rPr lang="de-DE" sz="1200" dirty="0"/>
              <a:t> (wie verändert es sich über die Zeit),</a:t>
            </a:r>
          </a:p>
          <a:p>
            <a:r>
              <a:rPr lang="de-DE" sz="1200" b="1" dirty="0"/>
              <a:t>Struktur</a:t>
            </a:r>
            <a:r>
              <a:rPr lang="de-DE" sz="1200" dirty="0"/>
              <a:t> nach </a:t>
            </a:r>
            <a:r>
              <a:rPr lang="de-DE" sz="1200" b="1" dirty="0"/>
              <a:t>Berufsabschluss</a:t>
            </a:r>
            <a:r>
              <a:rPr lang="de-DE" sz="1200" dirty="0"/>
              <a:t> und </a:t>
            </a:r>
            <a:r>
              <a:rPr lang="de-DE" sz="1200" b="1" dirty="0"/>
              <a:t>Bundesland</a:t>
            </a:r>
            <a:r>
              <a:rPr lang="de-DE" sz="1200" dirty="0"/>
              <a:t>, damit man daraus </a:t>
            </a:r>
            <a:r>
              <a:rPr lang="de-DE" sz="1200" b="1" dirty="0"/>
              <a:t>Monitoring und Prioritäten</a:t>
            </a:r>
            <a:r>
              <a:rPr lang="de-DE" sz="1200" dirty="0"/>
              <a:t> ableiten kann.</a:t>
            </a:r>
          </a:p>
          <a:p>
            <a:endParaRPr lang="de-DE" dirty="0"/>
          </a:p>
          <a:p>
            <a:r>
              <a:rPr lang="de-DE" dirty="0"/>
              <a:t>Ich fokussiere bewusst nur Frauen. Nicht, weil Männer unwichtig sind – </a:t>
            </a:r>
          </a:p>
          <a:p>
            <a:r>
              <a:rPr lang="de-DE" dirty="0"/>
              <a:t>sondern weil Erwerbsverläufe und Rahmenbedingungen bei Frauen systematisch anders sind. </a:t>
            </a:r>
          </a:p>
          <a:p>
            <a:r>
              <a:rPr lang="de-DE" dirty="0"/>
              <a:t>Wenn man Frauen und Männer einfach nur gegenüberstellt, wird die Interpretation schnell unsauber. </a:t>
            </a:r>
          </a:p>
          <a:p>
            <a:r>
              <a:rPr lang="de-DE" b="1" dirty="0"/>
              <a:t>Innerhalb einer Gruppe bleibt der Vergleich fairer.</a:t>
            </a:r>
          </a:p>
          <a:p>
            <a:endParaRPr lang="de-DE" dirty="0"/>
          </a:p>
          <a:p>
            <a:r>
              <a:rPr lang="de-DE" dirty="0"/>
              <a:t>Methodisch wichtig:</a:t>
            </a:r>
            <a:br>
              <a:rPr lang="de-DE" dirty="0"/>
            </a:br>
            <a:r>
              <a:rPr lang="de-DE" dirty="0"/>
              <a:t>Wir betrachten </a:t>
            </a:r>
            <a:r>
              <a:rPr lang="de-DE" b="1" dirty="0"/>
              <a:t>Monatsdaten</a:t>
            </a:r>
            <a:r>
              <a:rPr lang="de-DE" dirty="0"/>
              <a:t> und beschreiben </a:t>
            </a:r>
            <a:r>
              <a:rPr lang="de-DE" b="1" dirty="0"/>
              <a:t>Muster</a:t>
            </a:r>
            <a:r>
              <a:rPr lang="de-DE" dirty="0"/>
              <a:t>. </a:t>
            </a:r>
          </a:p>
          <a:p>
            <a:r>
              <a:rPr lang="de-DE" dirty="0"/>
              <a:t>Wir behaupten </a:t>
            </a:r>
            <a:r>
              <a:rPr lang="de-DE" b="1" dirty="0"/>
              <a:t>keine Ursachen</a:t>
            </a:r>
            <a:r>
              <a:rPr lang="de-DE" dirty="0"/>
              <a:t> im Sinne von „das liegt daran, dass…“.</a:t>
            </a:r>
          </a:p>
          <a:p>
            <a:endParaRPr lang="de-DE" dirty="0"/>
          </a:p>
          <a:p>
            <a:r>
              <a:rPr lang="de-DE" b="1" u="sng" dirty="0"/>
              <a:t>Übergang zu Folie 4</a:t>
            </a:r>
          </a:p>
          <a:p>
            <a:r>
              <a:rPr lang="de-DE" dirty="0"/>
              <a:t>Wenn Sie später nur drei Dinge mitnehmen, dann bitte diese drei Kernbotschaften.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u="sng" dirty="0"/>
              <a:t>Folie 4 –3 Ankerpunkte</a:t>
            </a:r>
          </a:p>
          <a:p>
            <a:endParaRPr lang="de-DE" b="1" dirty="0"/>
          </a:p>
          <a:p>
            <a:r>
              <a:rPr lang="de-DE" i="1" dirty="0"/>
              <a:t>Wenn Sie nur drei Punkte merken:</a:t>
            </a:r>
          </a:p>
          <a:p>
            <a:r>
              <a:rPr lang="de-DE" b="1" dirty="0"/>
              <a:t>Erstens:</a:t>
            </a:r>
            <a:r>
              <a:rPr lang="de-DE" dirty="0"/>
              <a:t> Die </a:t>
            </a:r>
            <a:r>
              <a:rPr lang="de-DE" dirty="0" err="1"/>
              <a:t>SvB</a:t>
            </a:r>
            <a:r>
              <a:rPr lang="de-DE" dirty="0"/>
              <a:t>-Zahl bei </a:t>
            </a:r>
            <a:r>
              <a:rPr lang="de-DE" b="1" dirty="0"/>
              <a:t>Ausländerinnen</a:t>
            </a:r>
            <a:r>
              <a:rPr lang="de-DE" dirty="0"/>
              <a:t> steigt im Zeitraum </a:t>
            </a:r>
            <a:r>
              <a:rPr lang="de-DE" b="1" dirty="0"/>
              <a:t>deutlich</a:t>
            </a:r>
            <a:r>
              <a:rPr lang="de-DE" dirty="0"/>
              <a:t> an.</a:t>
            </a:r>
            <a:br>
              <a:rPr lang="de-DE" dirty="0"/>
            </a:br>
            <a:endParaRPr lang="de-DE" dirty="0"/>
          </a:p>
          <a:p>
            <a:r>
              <a:rPr lang="de-DE" b="1" dirty="0"/>
              <a:t>Zweitens:</a:t>
            </a:r>
            <a:r>
              <a:rPr lang="de-DE" dirty="0"/>
              <a:t> Bei </a:t>
            </a:r>
            <a:r>
              <a:rPr lang="de-DE" b="1" dirty="0"/>
              <a:t>Deutschen</a:t>
            </a:r>
            <a:r>
              <a:rPr lang="de-DE" dirty="0"/>
              <a:t> ist die Entwicklung im Vergleich </a:t>
            </a:r>
            <a:r>
              <a:rPr lang="de-DE" b="1" dirty="0"/>
              <a:t>sehr stabil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r>
              <a:rPr lang="de-DE" b="1" dirty="0"/>
              <a:t>Drittens:</a:t>
            </a:r>
            <a:r>
              <a:rPr lang="de-DE" dirty="0"/>
              <a:t> Dadurch steigt auch der </a:t>
            </a:r>
            <a:r>
              <a:rPr lang="de-DE" b="1" dirty="0"/>
              <a:t>Anteil</a:t>
            </a:r>
            <a:r>
              <a:rPr lang="de-DE" dirty="0"/>
              <a:t> der Ausländerinnen an allen </a:t>
            </a:r>
            <a:r>
              <a:rPr lang="de-DE" dirty="0" err="1"/>
              <a:t>SvB</a:t>
            </a:r>
            <a:r>
              <a:rPr lang="de-DE" dirty="0"/>
              <a:t> Frauen – </a:t>
            </a:r>
          </a:p>
          <a:p>
            <a:r>
              <a:rPr lang="de-DE" dirty="0"/>
              <a:t>und dieser Trend ist </a:t>
            </a:r>
            <a:r>
              <a:rPr lang="de-DE" b="1" dirty="0"/>
              <a:t>nicht nur ein Ausreißer</a:t>
            </a:r>
            <a:r>
              <a:rPr lang="de-DE" dirty="0"/>
              <a:t>, sondern </a:t>
            </a:r>
          </a:p>
          <a:p>
            <a:r>
              <a:rPr lang="de-DE" dirty="0"/>
              <a:t>auch geglättet über den </a:t>
            </a:r>
            <a:r>
              <a:rPr lang="de-DE" b="1" dirty="0"/>
              <a:t>12-Monats-Durchschnitt</a:t>
            </a:r>
            <a:r>
              <a:rPr lang="de-DE" dirty="0"/>
              <a:t> sichtbar.</a:t>
            </a:r>
          </a:p>
          <a:p>
            <a:r>
              <a:rPr lang="de-DE" dirty="0"/>
              <a:t>Das ist die Grundlage dafür, später Monitoring-Kennzahlen und Prioritäten abzuleiten.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u="sng" dirty="0"/>
              <a:t>Übergang zu Folie 5</a:t>
            </a:r>
          </a:p>
          <a:p>
            <a:r>
              <a:rPr lang="de-DE" dirty="0"/>
              <a:t>Jetzt starten wir mit dem Blick auf die absoluten Bestände – </a:t>
            </a:r>
          </a:p>
          <a:p>
            <a:r>
              <a:rPr lang="de-DE" dirty="0"/>
              <a:t>und dann wechseln wir direkt zu den Kennzahlen, </a:t>
            </a:r>
          </a:p>
          <a:p>
            <a:r>
              <a:rPr lang="de-DE" dirty="0"/>
              <a:t>die Dynamik und Struktur besser sichtbar machen.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u="sng" dirty="0"/>
              <a:t>Folie 5 – Ergebnis 1: Absolutes Niveau (Bestände)</a:t>
            </a:r>
          </a:p>
          <a:p>
            <a:endParaRPr lang="de-DE" b="1" dirty="0"/>
          </a:p>
          <a:p>
            <a:r>
              <a:rPr lang="de-DE" dirty="0"/>
              <a:t>Hier sehen wir die </a:t>
            </a:r>
            <a:r>
              <a:rPr lang="de-DE" b="1" dirty="0"/>
              <a:t>absoluten Bestände</a:t>
            </a:r>
            <a:r>
              <a:rPr lang="de-DE" dirty="0"/>
              <a:t> über den Zeitraum.</a:t>
            </a:r>
            <a:br>
              <a:rPr lang="de-DE" dirty="0"/>
            </a:br>
            <a:r>
              <a:rPr lang="de-DE" dirty="0"/>
              <a:t>Deutsche Frauen liegen erwartbar auf deutlich höherem Niveau – das ist vor allem eine Frage der Größenordnung. </a:t>
            </a:r>
          </a:p>
          <a:p>
            <a:endParaRPr lang="de-DE" dirty="0"/>
          </a:p>
          <a:p>
            <a:r>
              <a:rPr lang="de-DE" dirty="0"/>
              <a:t>Entscheidend ist aber der Verlauf:</a:t>
            </a:r>
          </a:p>
          <a:p>
            <a:r>
              <a:rPr lang="de-DE" dirty="0"/>
              <a:t>Bei </a:t>
            </a:r>
            <a:r>
              <a:rPr lang="de-DE" b="1" dirty="0"/>
              <a:t>Ausländerinnen</a:t>
            </a:r>
            <a:r>
              <a:rPr lang="de-DE" dirty="0"/>
              <a:t> sehen wir eine klar steigende Linie.</a:t>
            </a:r>
            <a:br>
              <a:rPr lang="de-DE" dirty="0"/>
            </a:br>
            <a:endParaRPr lang="de-DE" dirty="0"/>
          </a:p>
          <a:p>
            <a:r>
              <a:rPr lang="de-DE" dirty="0"/>
              <a:t>Das ist der rote Faden!!: </a:t>
            </a:r>
          </a:p>
          <a:p>
            <a:r>
              <a:rPr lang="de-DE" b="1" dirty="0"/>
              <a:t>hohes Niveau bei Deutschen – aber mehr Dynamik bei Ausländerinnen.</a:t>
            </a:r>
            <a:endParaRPr lang="de-DE" dirty="0"/>
          </a:p>
          <a:p>
            <a:endParaRPr lang="de-DE" dirty="0"/>
          </a:p>
          <a:p>
            <a:r>
              <a:rPr lang="de-DE" dirty="0"/>
              <a:t>Wichtig zur Interpretation:</a:t>
            </a:r>
            <a:br>
              <a:rPr lang="de-DE" dirty="0"/>
            </a:br>
            <a:r>
              <a:rPr lang="de-DE" dirty="0"/>
              <a:t>Diese Statistik ist hilfreich – aber sie ist nicht fein genug, um alle Lebensrealitäten abzubilden. </a:t>
            </a:r>
          </a:p>
          <a:p>
            <a:endParaRPr lang="de-DE" dirty="0"/>
          </a:p>
          <a:p>
            <a:r>
              <a:rPr lang="de-DE" dirty="0"/>
              <a:t>Ein Beispiel ist </a:t>
            </a:r>
            <a:r>
              <a:rPr lang="de-DE" b="1" dirty="0"/>
              <a:t>Einbürgerung</a:t>
            </a:r>
            <a:r>
              <a:rPr lang="de-DE" dirty="0"/>
              <a:t>: </a:t>
            </a:r>
          </a:p>
          <a:p>
            <a:r>
              <a:rPr lang="de-DE" dirty="0"/>
              <a:t>Menschen, die länger hier sind und stabil beschäftigt sind, </a:t>
            </a:r>
          </a:p>
          <a:p>
            <a:r>
              <a:rPr lang="de-DE" dirty="0"/>
              <a:t>tauchen später häufig statistisch unter „deutsch“ auf. </a:t>
            </a:r>
          </a:p>
          <a:p>
            <a:endParaRPr lang="de-DE" dirty="0"/>
          </a:p>
          <a:p>
            <a:r>
              <a:rPr lang="de-DE" dirty="0"/>
              <a:t>Das heißt: Die Kategorie „Ausländerinnen“ kann einen Teil der Realität unterschätzen.</a:t>
            </a:r>
            <a:br>
              <a:rPr lang="de-DE" dirty="0"/>
            </a:br>
            <a:endParaRPr lang="de-DE" dirty="0"/>
          </a:p>
          <a:p>
            <a:r>
              <a:rPr lang="de-DE" dirty="0"/>
              <a:t>Trotzdem gilt: Die Unterschiede sind </a:t>
            </a:r>
            <a:r>
              <a:rPr lang="de-DE" b="1" dirty="0"/>
              <a:t>ein Signal</a:t>
            </a:r>
            <a:r>
              <a:rPr lang="de-DE" dirty="0"/>
              <a:t>, das wir ernst nehmen sollten – </a:t>
            </a:r>
          </a:p>
          <a:p>
            <a:r>
              <a:rPr lang="de-DE" dirty="0"/>
              <a:t>nur eben ohne vorschnelle, vereinfachte Urteile.</a:t>
            </a:r>
          </a:p>
          <a:p>
            <a:r>
              <a:rPr lang="de-DE" dirty="0"/>
              <a:t>Und genau deshalb wechsle ich jetzt zu Anteil und Index – </a:t>
            </a:r>
          </a:p>
          <a:p>
            <a:r>
              <a:rPr lang="de-DE" dirty="0"/>
              <a:t>damit Dynamik sauber vergleichbar wird.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dirty="0"/>
              <a:t>Übergang zu Folie 6</a:t>
            </a:r>
          </a:p>
          <a:p>
            <a:r>
              <a:rPr lang="de-DE" dirty="0"/>
              <a:t>Bestände allein sagen noch nicht, wie sich die Struktur verschiebt. </a:t>
            </a:r>
          </a:p>
          <a:p>
            <a:r>
              <a:rPr lang="de-DE" dirty="0"/>
              <a:t>Dafür ist der Anteil die einfachste Kennzahl.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u="sng" dirty="0"/>
              <a:t>Folie 6 – Ergebnis 2: Struktur (Anteil Ausländerinnen)</a:t>
            </a:r>
          </a:p>
          <a:p>
            <a:endParaRPr lang="de-DE" b="1" dirty="0"/>
          </a:p>
          <a:p>
            <a:r>
              <a:rPr lang="de-DE" dirty="0"/>
              <a:t>Hier sehen wir den </a:t>
            </a:r>
            <a:r>
              <a:rPr lang="de-DE" b="1" dirty="0"/>
              <a:t>Anteil der Ausländerinnen an allen </a:t>
            </a:r>
            <a:r>
              <a:rPr lang="de-DE" b="1" dirty="0" err="1"/>
              <a:t>SvB</a:t>
            </a:r>
            <a:r>
              <a:rPr lang="de-DE" b="1" dirty="0"/>
              <a:t>-Frauen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Er steigt von </a:t>
            </a:r>
            <a:r>
              <a:rPr lang="de-DE" b="1" dirty="0"/>
              <a:t>9,43 %</a:t>
            </a:r>
            <a:r>
              <a:rPr lang="de-DE" dirty="0"/>
              <a:t> auf </a:t>
            </a:r>
            <a:r>
              <a:rPr lang="de-DE" b="1" dirty="0"/>
              <a:t>11,78 %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Der 12-Monats-Durchschnitt läuft fast parallel – das spricht dafür, </a:t>
            </a:r>
          </a:p>
          <a:p>
            <a:r>
              <a:rPr lang="de-DE" dirty="0"/>
              <a:t>dass wir einen </a:t>
            </a:r>
            <a:r>
              <a:rPr lang="de-DE" b="1" dirty="0"/>
              <a:t>stabilen Trend</a:t>
            </a:r>
            <a:r>
              <a:rPr lang="de-DE" dirty="0"/>
              <a:t> sehen, nicht nur einzelne Ausreißer.</a:t>
            </a:r>
          </a:p>
          <a:p>
            <a:endParaRPr lang="de-DE" dirty="0"/>
          </a:p>
          <a:p>
            <a:r>
              <a:rPr lang="de-DE" dirty="0"/>
              <a:t>Für Arbeitsmarktmonitoring ist das eine sehr gute Kennzahl, </a:t>
            </a:r>
          </a:p>
          <a:p>
            <a:r>
              <a:rPr lang="de-DE" dirty="0"/>
              <a:t>weil sie </a:t>
            </a:r>
            <a:r>
              <a:rPr lang="de-DE" b="1" dirty="0"/>
              <a:t>Struktur</a:t>
            </a:r>
            <a:r>
              <a:rPr lang="de-DE" dirty="0"/>
              <a:t> zeigt – und nicht nur absolute Größen.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u="sng" dirty="0"/>
              <a:t>Übergang zu Folie 7</a:t>
            </a:r>
          </a:p>
          <a:p>
            <a:r>
              <a:rPr lang="de-DE" dirty="0"/>
              <a:t>Und wenn wir wissen wollen, „wer bewegt sich relativ stärker“, ist der Index das sauberste Werkzeug.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u="sng" dirty="0"/>
              <a:t>Folie 7 – Ergebnis 3: Relative Dynamik (Index)</a:t>
            </a:r>
          </a:p>
          <a:p>
            <a:endParaRPr lang="de-DE" b="1" dirty="0"/>
          </a:p>
          <a:p>
            <a:r>
              <a:rPr lang="de-DE" dirty="0"/>
              <a:t>Der Index beantwortet die Frage: </a:t>
            </a:r>
          </a:p>
          <a:p>
            <a:endParaRPr lang="de-DE" dirty="0"/>
          </a:p>
          <a:p>
            <a:r>
              <a:rPr lang="de-DE" b="1" dirty="0"/>
              <a:t>Welche Gruppe hat sich relativ stärker verändert?</a:t>
            </a:r>
            <a:br>
              <a:rPr lang="de-DE" dirty="0"/>
            </a:br>
            <a:endParaRPr lang="de-DE" dirty="0"/>
          </a:p>
          <a:p>
            <a:r>
              <a:rPr lang="de-DE" dirty="0"/>
              <a:t>Ausländerinnen liegen bei rund </a:t>
            </a:r>
            <a:r>
              <a:rPr lang="de-DE" b="1" dirty="0"/>
              <a:t>128</a:t>
            </a:r>
            <a:r>
              <a:rPr lang="de-DE" dirty="0"/>
              <a:t> – also etwa </a:t>
            </a:r>
            <a:r>
              <a:rPr lang="de-DE" b="1" dirty="0"/>
              <a:t>+28 %</a:t>
            </a:r>
            <a:r>
              <a:rPr lang="de-DE" dirty="0"/>
              <a:t> seit Januar 2022.</a:t>
            </a:r>
            <a:br>
              <a:rPr lang="de-DE" dirty="0"/>
            </a:br>
            <a:endParaRPr lang="de-DE" dirty="0"/>
          </a:p>
          <a:p>
            <a:r>
              <a:rPr lang="de-DE" dirty="0"/>
              <a:t>Deutsche liegen nahe </a:t>
            </a:r>
            <a:r>
              <a:rPr lang="de-DE" b="1" dirty="0"/>
              <a:t>100</a:t>
            </a:r>
            <a:r>
              <a:rPr lang="de-DE" dirty="0"/>
              <a:t>, also nahezu unverändert.</a:t>
            </a:r>
          </a:p>
          <a:p>
            <a:endParaRPr lang="de-DE" dirty="0"/>
          </a:p>
          <a:p>
            <a:r>
              <a:rPr lang="de-DE" dirty="0"/>
              <a:t>Das ist der klarste Beleg: </a:t>
            </a:r>
          </a:p>
          <a:p>
            <a:r>
              <a:rPr lang="de-DE" b="1" dirty="0"/>
              <a:t>Die Dynamik entsteht vor allem in der Gruppe der Ausländerinnen</a:t>
            </a:r>
            <a:r>
              <a:rPr lang="de-DE" dirty="0"/>
              <a:t> – </a:t>
            </a:r>
          </a:p>
          <a:p>
            <a:r>
              <a:rPr lang="de-DE" dirty="0"/>
              <a:t>unabhängig davon, dass die absoluten Bestände bei Deutschen höher sind.</a:t>
            </a:r>
          </a:p>
          <a:p>
            <a:endParaRPr lang="en-US" dirty="0"/>
          </a:p>
          <a:p>
            <a:r>
              <a:rPr lang="de-DE" b="1" u="sng" dirty="0"/>
              <a:t>Übergang zu Folie 8</a:t>
            </a:r>
          </a:p>
          <a:p>
            <a:r>
              <a:rPr lang="de-DE" dirty="0"/>
              <a:t>Jetzt gehen wir einen Schritt tiefer:</a:t>
            </a:r>
          </a:p>
          <a:p>
            <a:r>
              <a:rPr lang="de-DE" b="1" dirty="0"/>
              <a:t>Woraus besteht Beschäftigung strukturell?</a:t>
            </a:r>
            <a:r>
              <a:rPr lang="de-DE" dirty="0"/>
              <a:t> </a:t>
            </a:r>
          </a:p>
          <a:p>
            <a:r>
              <a:rPr lang="de-DE" dirty="0"/>
              <a:t>Dafür schauen wir auf Berufsabschlüsse – zuerst als aktueller Stand.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u="sng" dirty="0"/>
              <a:t>Folie 8 – Ergebnis 4: Aktueller Stand nach Berufsabschluss</a:t>
            </a:r>
          </a:p>
          <a:p>
            <a:endParaRPr lang="de-DE" b="1" u="sng" dirty="0"/>
          </a:p>
          <a:p>
            <a:r>
              <a:rPr lang="de-DE" dirty="0"/>
              <a:t>Im aktuellen Stand dominiert in beiden Gruppen der </a:t>
            </a:r>
            <a:r>
              <a:rPr lang="de-DE" b="1" dirty="0"/>
              <a:t>anerkannte Berufsabschluss</a:t>
            </a:r>
            <a:r>
              <a:rPr lang="de-DE" dirty="0"/>
              <a:t> – </a:t>
            </a:r>
          </a:p>
          <a:p>
            <a:r>
              <a:rPr lang="de-DE" dirty="0"/>
              <a:t>das ist die größte Kategorie.</a:t>
            </a:r>
            <a:br>
              <a:rPr lang="de-DE" dirty="0"/>
            </a:br>
            <a:endParaRPr lang="de-DE" dirty="0"/>
          </a:p>
          <a:p>
            <a:r>
              <a:rPr lang="de-DE" dirty="0"/>
              <a:t>Das ist ein wichtiger Hinweis: </a:t>
            </a:r>
          </a:p>
          <a:p>
            <a:r>
              <a:rPr lang="de-DE" dirty="0"/>
              <a:t>Die Sv-Beschäftigung von Frauen ist </a:t>
            </a:r>
            <a:r>
              <a:rPr lang="de-DE" b="1" dirty="0"/>
              <a:t>überwiegend qualifikationsgetragen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„Ohne Berufsabschluss“ ist deutlich kleiner – </a:t>
            </a:r>
          </a:p>
          <a:p>
            <a:r>
              <a:rPr lang="de-DE" dirty="0"/>
              <a:t>aber gerade dieses Segment ist für Monitoring relevant, weil hier typischerweise die größten Hürden und Risiken liegen.</a:t>
            </a:r>
          </a:p>
          <a:p>
            <a:endParaRPr lang="de-DE" dirty="0"/>
          </a:p>
          <a:p>
            <a:r>
              <a:rPr lang="de-DE" dirty="0"/>
              <a:t>Für Maßnahmenlogik heißt das:</a:t>
            </a:r>
            <a:br>
              <a:rPr lang="de-DE" dirty="0"/>
            </a:br>
            <a:r>
              <a:rPr lang="de-DE" dirty="0"/>
              <a:t>Ein zentraler Hebel liegt bei </a:t>
            </a:r>
            <a:r>
              <a:rPr lang="de-DE" b="1" dirty="0"/>
              <a:t>Anerkennung und Qualifizierung</a:t>
            </a:r>
            <a:r>
              <a:rPr lang="de-DE" dirty="0"/>
              <a:t>, nicht nur bei Einstiegshilfen. </a:t>
            </a:r>
          </a:p>
          <a:p>
            <a:endParaRPr lang="de-DE" dirty="0"/>
          </a:p>
          <a:p>
            <a:r>
              <a:rPr lang="de-DE" dirty="0"/>
              <a:t>Gleichzeitig lohnt es sich, die „Ohne“-Gruppe genauer zu verstehen:</a:t>
            </a:r>
            <a:br>
              <a:rPr lang="de-DE" dirty="0"/>
            </a:br>
            <a:r>
              <a:rPr lang="de-DE" dirty="0"/>
              <a:t>Welche Barrieren wirken dort – </a:t>
            </a:r>
          </a:p>
          <a:p>
            <a:r>
              <a:rPr lang="de-DE" dirty="0"/>
              <a:t>Information, Sprache, Anerkennung, Betreuungsstrukturen, kulturelle Erwartungen oder fehlende passende Angebote?</a:t>
            </a:r>
          </a:p>
          <a:p>
            <a:endParaRPr lang="de-DE" dirty="0"/>
          </a:p>
          <a:p>
            <a:r>
              <a:rPr lang="de-DE" dirty="0"/>
              <a:t>Mein Punkt ist: </a:t>
            </a:r>
          </a:p>
          <a:p>
            <a:r>
              <a:rPr lang="de-DE" dirty="0"/>
              <a:t>Wenn man Integration und Teilhabe stärken will, </a:t>
            </a:r>
          </a:p>
          <a:p>
            <a:r>
              <a:rPr lang="de-DE" dirty="0"/>
              <a:t>gehört auch </a:t>
            </a:r>
            <a:r>
              <a:rPr lang="de-DE" b="1" dirty="0"/>
              <a:t>ökonomische Selbstständigkeit</a:t>
            </a:r>
            <a:r>
              <a:rPr lang="de-DE" dirty="0"/>
              <a:t> dazu. </a:t>
            </a:r>
          </a:p>
          <a:p>
            <a:r>
              <a:rPr lang="de-DE" dirty="0"/>
              <a:t>Und dafür muss man verstehen, warum bestimmte Gruppen schwerer in </a:t>
            </a:r>
            <a:r>
              <a:rPr lang="de-DE" dirty="0" err="1"/>
              <a:t>SvB</a:t>
            </a:r>
            <a:r>
              <a:rPr lang="de-DE" dirty="0"/>
              <a:t> ankommen.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u="sng" dirty="0"/>
              <a:t>Übergang zu Folie 9</a:t>
            </a:r>
          </a:p>
          <a:p>
            <a:r>
              <a:rPr lang="de-DE" dirty="0"/>
              <a:t>Damit das nicht nur ein Momentbild bleibt, schauen wir jetzt auf die Entwicklung über die Zeit – getrennt für Deutsche und Ausländerinnen.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u="sng" dirty="0"/>
              <a:t>Folie 9 – Ergebnis 5: Entwicklung 2022–2024 nach Berufsabschluss</a:t>
            </a:r>
          </a:p>
          <a:p>
            <a:endParaRPr lang="de-DE" b="1" u="sng" dirty="0"/>
          </a:p>
          <a:p>
            <a:r>
              <a:rPr lang="de-DE" dirty="0"/>
              <a:t>Hier zeige ich die Entwicklung als </a:t>
            </a:r>
            <a:r>
              <a:rPr lang="de-DE" b="1" dirty="0"/>
              <a:t>Jahressummen</a:t>
            </a:r>
            <a:r>
              <a:rPr lang="de-DE" dirty="0"/>
              <a:t> für 2022 bis 2024, um </a:t>
            </a:r>
            <a:r>
              <a:rPr lang="de-DE" b="1" dirty="0"/>
              <a:t>Teiljahr-Verzerrungen</a:t>
            </a:r>
            <a:r>
              <a:rPr lang="de-DE" dirty="0"/>
              <a:t> zu vermeiden. </a:t>
            </a:r>
          </a:p>
          <a:p>
            <a:r>
              <a:rPr lang="de-DE" dirty="0"/>
              <a:t>(2025 ist nur bis Juni vorhanden; dazu gibt es ein Monatschart in der Dokumentation.)</a:t>
            </a:r>
          </a:p>
          <a:p>
            <a:endParaRPr lang="de-DE" dirty="0"/>
          </a:p>
          <a:p>
            <a:r>
              <a:rPr lang="de-DE" b="1" dirty="0"/>
              <a:t>Ausländerinnen:</a:t>
            </a:r>
            <a:br>
              <a:rPr lang="de-DE" dirty="0"/>
            </a:br>
            <a:r>
              <a:rPr lang="de-DE" dirty="0"/>
              <a:t>Die Werte steigen über alle Abschlussgruppen – und „anerkannt“ bleibt der wichtigste Treiber.</a:t>
            </a:r>
            <a:br>
              <a:rPr lang="de-DE" dirty="0"/>
            </a:br>
            <a:r>
              <a:rPr lang="de-DE" dirty="0"/>
              <a:t>Das ist eine wichtige Botschaft: </a:t>
            </a:r>
          </a:p>
          <a:p>
            <a:r>
              <a:rPr lang="de-DE" dirty="0"/>
              <a:t>Der Beschäftigungsaufbau ist </a:t>
            </a:r>
            <a:r>
              <a:rPr lang="de-DE" b="1" dirty="0"/>
              <a:t>nicht nur</a:t>
            </a:r>
            <a:r>
              <a:rPr lang="de-DE" dirty="0"/>
              <a:t> „ohne Abschluss“, sondern stark an </a:t>
            </a:r>
            <a:r>
              <a:rPr lang="de-DE" b="1" dirty="0"/>
              <a:t>formale Qualifikation/Anerkennung</a:t>
            </a:r>
            <a:r>
              <a:rPr lang="de-DE" dirty="0"/>
              <a:t> gekoppelt.</a:t>
            </a:r>
          </a:p>
          <a:p>
            <a:endParaRPr lang="de-DE" b="1" dirty="0"/>
          </a:p>
          <a:p>
            <a:r>
              <a:rPr lang="de-DE" b="1" dirty="0"/>
              <a:t>Deutsche:</a:t>
            </a:r>
            <a:br>
              <a:rPr lang="de-DE" dirty="0"/>
            </a:br>
            <a:r>
              <a:rPr lang="de-DE" dirty="0"/>
              <a:t>Sehr hohes Niveau, insgesamt moderate Veränderungen – </a:t>
            </a:r>
          </a:p>
          <a:p>
            <a:r>
              <a:rPr lang="de-DE" dirty="0"/>
              <a:t>die Struktur wirkt über die Jahre stabil, ebenfalls mit „anerkannt“ als tragender Säule.</a:t>
            </a:r>
          </a:p>
          <a:p>
            <a:endParaRPr lang="de-DE" dirty="0"/>
          </a:p>
          <a:p>
            <a:r>
              <a:rPr lang="de-DE" dirty="0"/>
              <a:t>Und daraus ergibt sich auch eine praktische Ableitung:</a:t>
            </a:r>
          </a:p>
          <a:p>
            <a:r>
              <a:rPr lang="de-DE" dirty="0"/>
              <a:t>Im Segment „ohne Abschluss“ liegen oft die größten Hürden – </a:t>
            </a:r>
          </a:p>
          <a:p>
            <a:r>
              <a:rPr lang="de-DE" dirty="0"/>
              <a:t>dort helfen Brückenangebote, Nachqualifizierung, Zugang zu Information und Unterstützung.</a:t>
            </a:r>
          </a:p>
          <a:p>
            <a:endParaRPr lang="de-DE" dirty="0"/>
          </a:p>
          <a:p>
            <a:r>
              <a:rPr lang="de-DE" dirty="0"/>
              <a:t>Im akademischen Segment geht es häufig um </a:t>
            </a:r>
            <a:r>
              <a:rPr lang="de-DE" b="1" dirty="0"/>
              <a:t>Anerkennung, </a:t>
            </a:r>
            <a:r>
              <a:rPr lang="de-DE" b="1" dirty="0" err="1"/>
              <a:t>Matching</a:t>
            </a:r>
            <a:r>
              <a:rPr lang="de-DE" b="1" dirty="0"/>
              <a:t> und Vermeidung von Dequalifizierung</a:t>
            </a:r>
            <a:r>
              <a:rPr lang="de-DE" dirty="0"/>
              <a:t>.</a:t>
            </a:r>
          </a:p>
          <a:p>
            <a:r>
              <a:rPr lang="de-DE" dirty="0"/>
              <a:t>Wenn ich dazu ein Fallbeispiel nennen darf – ohne Wertung, </a:t>
            </a:r>
          </a:p>
          <a:p>
            <a:r>
              <a:rPr lang="de-DE" dirty="0"/>
              <a:t>nur als Illustration: </a:t>
            </a:r>
          </a:p>
          <a:p>
            <a:r>
              <a:rPr lang="de-DE" dirty="0"/>
              <a:t>Anerkennungslogiken sind teilweise sehr formal. </a:t>
            </a:r>
          </a:p>
          <a:p>
            <a:r>
              <a:rPr lang="de-DE" dirty="0"/>
              <a:t>Das kann dazu führen, dass Qualifikationen nicht genutzt werden, </a:t>
            </a:r>
          </a:p>
          <a:p>
            <a:r>
              <a:rPr lang="de-DE" dirty="0"/>
              <a:t>obwohl sie eigentlich dringend gebraucht würden. </a:t>
            </a:r>
          </a:p>
          <a:p>
            <a:endParaRPr lang="de-DE" dirty="0"/>
          </a:p>
          <a:p>
            <a:r>
              <a:rPr lang="de-DE" dirty="0"/>
              <a:t>Genau solche Prozesse sind eine Stellschraube, </a:t>
            </a:r>
          </a:p>
          <a:p>
            <a:r>
              <a:rPr lang="de-DE" dirty="0"/>
              <a:t>wenn man Integration über qualifikationsnahe Beschäftigung stärken will.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u="sng" dirty="0"/>
              <a:t>Übergang zu Folie 10</a:t>
            </a:r>
          </a:p>
          <a:p>
            <a:r>
              <a:rPr lang="de-DE" dirty="0"/>
              <a:t>Bis hierher ging es um Gesamtbild und Struktur. </a:t>
            </a:r>
          </a:p>
          <a:p>
            <a:r>
              <a:rPr lang="de-DE" dirty="0"/>
              <a:t>Jetzt die Frage: </a:t>
            </a:r>
            <a:r>
              <a:rPr lang="de-DE" b="1" dirty="0"/>
              <a:t>Wo lohnt sich regional genauer hinzuschauen?</a:t>
            </a:r>
            <a:endParaRPr lang="de-DE" dirty="0"/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Folie 10 – Ergebnis 6: Regionaler Fokus (Bundesländer)</a:t>
            </a:r>
          </a:p>
          <a:p>
            <a:r>
              <a:rPr lang="de-DE" dirty="0"/>
              <a:t>Diese Folie zeigt regionale Größenordnungen: </a:t>
            </a:r>
          </a:p>
          <a:p>
            <a:r>
              <a:rPr lang="de-DE" dirty="0"/>
              <a:t>den Abstand zwischen </a:t>
            </a:r>
            <a:r>
              <a:rPr lang="de-DE" dirty="0" err="1"/>
              <a:t>SvB</a:t>
            </a:r>
            <a:r>
              <a:rPr lang="de-DE" dirty="0"/>
              <a:t>-Frauen mit deutscher Staatsangehörigkeit und Ausländerinnen je Bundesland.</a:t>
            </a:r>
          </a:p>
          <a:p>
            <a:endParaRPr lang="de-DE" dirty="0"/>
          </a:p>
          <a:p>
            <a:r>
              <a:rPr lang="de-DE" dirty="0"/>
              <a:t>Große Abstände sind nicht „gut“ oder „schlecht“ – sie zeigen schlicht unterschiedliche Größenordnungen.</a:t>
            </a:r>
          </a:p>
          <a:p>
            <a:endParaRPr lang="de-DE" dirty="0"/>
          </a:p>
          <a:p>
            <a:r>
              <a:rPr lang="de-DE" dirty="0"/>
              <a:t>Für die Landesstelle ist das praktisch:</a:t>
            </a:r>
            <a:br>
              <a:rPr lang="de-DE" dirty="0"/>
            </a:br>
            <a:r>
              <a:rPr lang="de-DE" dirty="0"/>
              <a:t>Es hilft, Regionen für Monitoring und Programme zu priorisieren – </a:t>
            </a:r>
          </a:p>
          <a:p>
            <a:r>
              <a:rPr lang="de-DE" dirty="0"/>
              <a:t>zum Beispiel dort, wo Unterschiede besonders groß sind </a:t>
            </a:r>
          </a:p>
          <a:p>
            <a:r>
              <a:rPr lang="de-DE" dirty="0"/>
              <a:t>und wo man mit gezielten Maßnahmen wahrscheinlich die meiste Wirkung erzielen kann.</a:t>
            </a:r>
          </a:p>
          <a:p>
            <a:br>
              <a:rPr lang="de-DE" dirty="0"/>
            </a:br>
            <a:endParaRPr lang="de-DE" dirty="0"/>
          </a:p>
          <a:p>
            <a:r>
              <a:rPr lang="de-DE" b="1" u="sng" dirty="0"/>
              <a:t>Übergang zu Folie 11</a:t>
            </a:r>
          </a:p>
          <a:p>
            <a:r>
              <a:rPr lang="de-DE" dirty="0"/>
              <a:t>Zum Schluss: Was kann man daraus als Data Analyst ableiten – nicht als „Wahrheit“, sondern als </a:t>
            </a:r>
            <a:r>
              <a:rPr lang="de-DE" b="1" dirty="0"/>
              <a:t>Handlungslogik</a:t>
            </a:r>
            <a:r>
              <a:rPr lang="de-DE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u="sng" dirty="0"/>
              <a:t>Folie 11 – Implikationen &amp; Empfehlungen</a:t>
            </a:r>
          </a:p>
          <a:p>
            <a:endParaRPr lang="de-DE" b="1" u="sng" dirty="0"/>
          </a:p>
          <a:p>
            <a:r>
              <a:rPr lang="de-DE" dirty="0"/>
              <a:t>„Aus den Ergebnissen würde ich fünf konkrete Schritte ableiten. </a:t>
            </a:r>
          </a:p>
          <a:p>
            <a:endParaRPr lang="de-DE" dirty="0"/>
          </a:p>
          <a:p>
            <a:r>
              <a:rPr lang="de-DE" dirty="0"/>
              <a:t>Erstens: </a:t>
            </a:r>
          </a:p>
          <a:p>
            <a:r>
              <a:rPr lang="de-DE" dirty="0"/>
              <a:t>Wir brauchen ein kleines, stabiles KPI-Set, das monatlich wiederholbar ist — </a:t>
            </a:r>
          </a:p>
          <a:p>
            <a:r>
              <a:rPr lang="de-DE" dirty="0"/>
              <a:t>Bestand, Anteil und Dynamik über Index oder </a:t>
            </a:r>
            <a:r>
              <a:rPr lang="de-DE" dirty="0" err="1"/>
              <a:t>YoY</a:t>
            </a:r>
            <a:r>
              <a:rPr lang="de-DE" dirty="0"/>
              <a:t>. </a:t>
            </a:r>
          </a:p>
          <a:p>
            <a:r>
              <a:rPr lang="de-DE" dirty="0"/>
              <a:t>Das macht die Entwicklung verständlich und steuerbar.</a:t>
            </a:r>
          </a:p>
          <a:p>
            <a:endParaRPr lang="de-DE" dirty="0"/>
          </a:p>
          <a:p>
            <a:r>
              <a:rPr lang="de-DE" dirty="0"/>
              <a:t>Zweitens: </a:t>
            </a:r>
          </a:p>
          <a:p>
            <a:r>
              <a:rPr lang="de-DE" dirty="0"/>
              <a:t>Die Qualifikationsstruktur zeigt sehr klar: ‚Anerkannter Berufsabschluss‘ ist in beiden Gruppen die zentrale Säule. </a:t>
            </a:r>
          </a:p>
          <a:p>
            <a:r>
              <a:rPr lang="de-DE" dirty="0"/>
              <a:t>Das heißt: </a:t>
            </a:r>
          </a:p>
          <a:p>
            <a:r>
              <a:rPr lang="de-DE" dirty="0"/>
              <a:t>Wenn wir Integration und stabile Beschäftigung stärken wollen, </a:t>
            </a:r>
          </a:p>
          <a:p>
            <a:r>
              <a:rPr lang="de-DE" dirty="0"/>
              <a:t>ist Anerkennung und Nachqualifizierung ein sehr plausibler Hebel — plus gutes </a:t>
            </a:r>
            <a:r>
              <a:rPr lang="de-DE" dirty="0" err="1"/>
              <a:t>Matching</a:t>
            </a:r>
            <a:r>
              <a:rPr lang="de-DE" dirty="0"/>
              <a:t> in passende Berufe.</a:t>
            </a:r>
          </a:p>
          <a:p>
            <a:endParaRPr lang="de-DE" dirty="0"/>
          </a:p>
          <a:p>
            <a:r>
              <a:rPr lang="de-DE" dirty="0"/>
              <a:t>Drittens: </a:t>
            </a:r>
          </a:p>
          <a:p>
            <a:r>
              <a:rPr lang="de-DE" dirty="0"/>
              <a:t>Das Segment ‚Ohne Berufsabschluss‘ ist kleiner, aber aus Steuerungssicht sensibel. </a:t>
            </a:r>
          </a:p>
          <a:p>
            <a:r>
              <a:rPr lang="de-DE" dirty="0"/>
              <a:t>Genau dort sitzen häufig die größten Hürden: </a:t>
            </a:r>
          </a:p>
          <a:p>
            <a:r>
              <a:rPr lang="de-DE" dirty="0"/>
              <a:t>Sprache, fehlende Orientierung, Betreuungslogik, Zugänge. </a:t>
            </a:r>
          </a:p>
          <a:p>
            <a:r>
              <a:rPr lang="de-DE" dirty="0"/>
              <a:t>Deshalb würde ich hier gezielt Brückenangebote denken — </a:t>
            </a:r>
          </a:p>
          <a:p>
            <a:r>
              <a:rPr lang="de-DE" dirty="0"/>
              <a:t>nicht als ‚Schuld‘ der Personen, sondern als Übergänge, die einfacher werden müssen.</a:t>
            </a:r>
          </a:p>
          <a:p>
            <a:endParaRPr lang="de-DE" dirty="0"/>
          </a:p>
          <a:p>
            <a:r>
              <a:rPr lang="de-DE" dirty="0"/>
              <a:t>Viertens: Regional sollten wir priorisieren, weil die Größenordnungen je Bundesland stark variieren. </a:t>
            </a:r>
          </a:p>
          <a:p>
            <a:r>
              <a:rPr lang="de-DE" dirty="0"/>
              <a:t>Große Länder sind oft die größten Hebel für Wirkung — </a:t>
            </a:r>
          </a:p>
          <a:p>
            <a:r>
              <a:rPr lang="de-DE" dirty="0"/>
              <a:t>parallel können kleinere Länder als Lern- und </a:t>
            </a:r>
            <a:r>
              <a:rPr lang="de-DE" dirty="0" err="1"/>
              <a:t>Benchmarkregionen</a:t>
            </a:r>
            <a:r>
              <a:rPr lang="de-DE" dirty="0"/>
              <a:t> dienen.</a:t>
            </a:r>
          </a:p>
          <a:p>
            <a:endParaRPr lang="de-DE" dirty="0"/>
          </a:p>
          <a:p>
            <a:r>
              <a:rPr lang="de-DE" dirty="0"/>
              <a:t>Und fünftens: </a:t>
            </a:r>
          </a:p>
          <a:p>
            <a:r>
              <a:rPr lang="de-DE" dirty="0"/>
              <a:t>Für die priorisierten Länder würde ich einen Drilldown standardisieren: </a:t>
            </a:r>
          </a:p>
          <a:p>
            <a:r>
              <a:rPr lang="de-DE" dirty="0"/>
              <a:t>Bundesland mal Berufsabschluss mal Staatsangehörigkeit — damit man sehr konkret sieht, </a:t>
            </a:r>
          </a:p>
          <a:p>
            <a:r>
              <a:rPr lang="de-DE" dirty="0"/>
              <a:t>wo Wachstum entsteht und wo Unterstützung ansetzen sollte.“</a:t>
            </a:r>
          </a:p>
          <a:p>
            <a:endParaRPr lang="de-DE" b="1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1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i="0" u="sng" dirty="0"/>
              <a:t>Übergang zu Folie 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Die fünf Schritte zeigen, </a:t>
            </a:r>
            <a:r>
              <a:rPr lang="de-DE" i="1" dirty="0"/>
              <a:t>was man tun kann</a:t>
            </a:r>
            <a:r>
              <a:rPr lang="de-DE" dirty="0"/>
              <a:t> – und jetzt kommt der zweite Teil: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wie wir die Zahlen einordnen müssen</a:t>
            </a:r>
            <a:r>
              <a:rPr lang="de-DE" dirty="0"/>
              <a:t>, damit sie fair und belastbar bleiben.</a:t>
            </a:r>
            <a:endParaRPr lang="de-DE" b="1" i="0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1" i="0" dirty="0"/>
          </a:p>
          <a:p>
            <a:endParaRPr lang="de-DE" b="1" u="sng" dirty="0"/>
          </a:p>
          <a:p>
            <a:endParaRPr lang="de-DE" b="1" u="sng" dirty="0"/>
          </a:p>
          <a:p>
            <a:pPr lvl="0"/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BA6EA-B3AA-F8FD-5DC6-4D6BFDBC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7BD00-5FF4-D5CF-C062-F4A912C70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187C2-E048-F647-A558-DB9DB3306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u="sng" dirty="0"/>
              <a:t>Folie 12 – Implikationen &amp; Empfehlungen</a:t>
            </a:r>
          </a:p>
          <a:p>
            <a:endParaRPr lang="de-DE" b="1" u="sng" dirty="0"/>
          </a:p>
          <a:p>
            <a:r>
              <a:rPr lang="de-DE" dirty="0"/>
              <a:t>„Ich möchte das bewusst sauber einordnen, damit die Zahlen nicht falsch gelesen werden. </a:t>
            </a:r>
          </a:p>
          <a:p>
            <a:endParaRPr lang="de-DE" dirty="0"/>
          </a:p>
          <a:p>
            <a:r>
              <a:rPr lang="de-DE" dirty="0"/>
              <a:t>Erstens: </a:t>
            </a:r>
          </a:p>
          <a:p>
            <a:r>
              <a:rPr lang="de-DE" dirty="0"/>
              <a:t>Das sind Beobachtungen, keine Ursachen. </a:t>
            </a:r>
          </a:p>
          <a:p>
            <a:r>
              <a:rPr lang="de-DE" dirty="0"/>
              <a:t>Wir sehen Entwicklungen und Unterschiede — aber nicht automatisch die Gründe dahinter.</a:t>
            </a:r>
          </a:p>
          <a:p>
            <a:endParaRPr lang="de-DE" dirty="0"/>
          </a:p>
          <a:p>
            <a:r>
              <a:rPr lang="de-DE" dirty="0"/>
              <a:t>Zweitens: </a:t>
            </a:r>
          </a:p>
          <a:p>
            <a:r>
              <a:rPr lang="de-DE" dirty="0"/>
              <a:t>Staatsangehörigkeit ist eine amtliche Kategorie. </a:t>
            </a:r>
          </a:p>
          <a:p>
            <a:r>
              <a:rPr lang="de-DE" dirty="0"/>
              <a:t>Durch Einbürgerung kann sich die Zuordnung über die Zeit verändern. </a:t>
            </a:r>
          </a:p>
          <a:p>
            <a:r>
              <a:rPr lang="de-DE" dirty="0"/>
              <a:t>Das heißt: </a:t>
            </a:r>
          </a:p>
          <a:p>
            <a:r>
              <a:rPr lang="de-DE" dirty="0"/>
              <a:t>Ein Teil von Frauen mit Migrationsgeschichte kann statistisch später in der Kategorie ‚Deutsche‘ auftauchen — </a:t>
            </a:r>
          </a:p>
          <a:p>
            <a:r>
              <a:rPr lang="de-DE" dirty="0"/>
              <a:t>deshalb ist die Kategorie hilfreich, aber nicht perfekt.</a:t>
            </a:r>
          </a:p>
          <a:p>
            <a:endParaRPr lang="de-DE" dirty="0"/>
          </a:p>
          <a:p>
            <a:r>
              <a:rPr lang="de-DE" dirty="0"/>
              <a:t>Drittens:</a:t>
            </a:r>
          </a:p>
          <a:p>
            <a:r>
              <a:rPr lang="de-DE" dirty="0"/>
              <a:t>Regionalität bedeutet nicht ‚gut‘ oder ‚schlecht‘, </a:t>
            </a:r>
          </a:p>
          <a:p>
            <a:r>
              <a:rPr lang="de-DE" dirty="0"/>
              <a:t>sondern unterschiedliche Größenordnungen. </a:t>
            </a:r>
          </a:p>
          <a:p>
            <a:r>
              <a:rPr lang="de-DE" dirty="0"/>
              <a:t>Und 2025 ist nur ein Halbjahr — Jahresvergleiche dazu wären methodisch unfair. </a:t>
            </a:r>
          </a:p>
          <a:p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Und: </a:t>
            </a:r>
          </a:p>
          <a:p>
            <a:r>
              <a:rPr lang="de-DE" dirty="0"/>
              <a:t>Das ist kein Wettbewerb ‚wer ist besser‘. </a:t>
            </a:r>
          </a:p>
          <a:p>
            <a:r>
              <a:rPr lang="de-DE" dirty="0"/>
              <a:t>Genau wie Frauen und Männer unter unterschiedlichen Rahmenbedingungen Erwerbsentscheidungen treffen, </a:t>
            </a:r>
          </a:p>
          <a:p>
            <a:r>
              <a:rPr lang="de-DE" dirty="0"/>
              <a:t>sind auch die Ausgangslagen </a:t>
            </a:r>
            <a:r>
              <a:rPr lang="de-DE" u="sng" dirty="0"/>
              <a:t>innerhalb</a:t>
            </a:r>
            <a:r>
              <a:rPr lang="de-DE" dirty="0"/>
              <a:t> der Gruppe Frauen nicht symmetrisch. </a:t>
            </a:r>
          </a:p>
          <a:p>
            <a:r>
              <a:rPr lang="de-DE" dirty="0"/>
              <a:t>Die richtige Lesart ist: </a:t>
            </a:r>
          </a:p>
          <a:p>
            <a:r>
              <a:rPr lang="de-DE" dirty="0"/>
              <a:t>Wo entstehen Barrieren, wo brauchen Übergänge Unterstützung?</a:t>
            </a:r>
          </a:p>
          <a:p>
            <a:endParaRPr lang="de-DE" b="1" u="sng" dirty="0"/>
          </a:p>
          <a:p>
            <a:r>
              <a:rPr lang="de-DE" b="1" u="sng" dirty="0"/>
              <a:t>Zuletzt - </a:t>
            </a:r>
            <a:r>
              <a:rPr lang="de-DE" dirty="0"/>
              <a:t>und das ist mir besonders wichtig:</a:t>
            </a:r>
            <a:endParaRPr lang="de-DE" b="1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Für eine noch bessere Steuerung wäre es hilfreich,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die amtliche Kategorie Staatsangehörigkeit künftig um Merkmale wie </a:t>
            </a:r>
            <a:r>
              <a:rPr lang="de-DE" i="1" dirty="0"/>
              <a:t>Einbürgerungsstatus</a:t>
            </a:r>
            <a:r>
              <a:rPr lang="de-DE" dirty="0"/>
              <a:t> oder </a:t>
            </a:r>
            <a:r>
              <a:rPr lang="de-DE" i="1" dirty="0"/>
              <a:t>Migrationshintergrund</a:t>
            </a:r>
            <a:r>
              <a:rPr lang="de-DE" dirty="0"/>
              <a:t> zu ergänzen.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Dann könnten Unterstützungsbedarfe präziser erkannt und Maßnahmen zielgenauer geplant werden.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i="1" dirty="0"/>
          </a:p>
          <a:p>
            <a:r>
              <a:rPr lang="de-DE" b="1" i="0" dirty="0"/>
              <a:t>Übergang zu Folie 13</a:t>
            </a:r>
          </a:p>
          <a:p>
            <a:r>
              <a:rPr lang="de-DE" dirty="0"/>
              <a:t>Damit sind die zentralen Befunde zusammengefasst. So viel zur Analyse!</a:t>
            </a:r>
          </a:p>
          <a:p>
            <a:pPr lvl="0"/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4494C-F2FC-1204-6084-3E449EF3E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86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u="sng" dirty="0"/>
              <a:t>Folie 13 – Abschluss</a:t>
            </a:r>
          </a:p>
          <a:p>
            <a:endParaRPr lang="de-DE" b="1" u="sng" dirty="0"/>
          </a:p>
          <a:p>
            <a:r>
              <a:rPr lang="de-DE" dirty="0"/>
              <a:t>Danke für Ihre Aufmerksamkeit – ich freue mich auf Fragen und Diskussion.</a:t>
            </a:r>
          </a:p>
          <a:p>
            <a:endParaRPr lang="de-DE" dirty="0"/>
          </a:p>
          <a:p>
            <a:r>
              <a:rPr lang="de-DE" dirty="0"/>
              <a:t>Was ich persönlich aus der Analyse mitnehme:</a:t>
            </a:r>
            <a:br>
              <a:rPr lang="de-DE" dirty="0"/>
            </a:br>
            <a:r>
              <a:rPr lang="de-DE" dirty="0"/>
              <a:t>Die Zahlen zeigen eine </a:t>
            </a:r>
            <a:r>
              <a:rPr lang="de-DE" b="1" dirty="0"/>
              <a:t>positive Dynamik</a:t>
            </a:r>
            <a:r>
              <a:rPr lang="de-DE" dirty="0"/>
              <a:t> bei Ausländerinnen, insbesondere auch im Bereich qualifikationsgetragener Beschäftigung – und gleichzeitig eine sehr stabile Basis bei Deutschen.</a:t>
            </a:r>
            <a:br>
              <a:rPr lang="de-DE" dirty="0"/>
            </a:br>
            <a:endParaRPr lang="de-DE" dirty="0"/>
          </a:p>
          <a:p>
            <a:r>
              <a:rPr lang="de-DE" dirty="0"/>
              <a:t>Beides zusammen ist als Gesamtbild wichtig, wenn man Monitoring und Programme fair und wirksam gestalten will.</a:t>
            </a:r>
          </a:p>
          <a:p>
            <a:endParaRPr lang="de-DE" dirty="0"/>
          </a:p>
          <a:p>
            <a:r>
              <a:rPr lang="de-DE" dirty="0"/>
              <a:t>Ich bin gespannt, welche Gedanken und Fragen, das bei Ihnen auslöst – </a:t>
            </a:r>
          </a:p>
          <a:p>
            <a:r>
              <a:rPr lang="de-DE" dirty="0"/>
              <a:t>fachlich, organisatorisch und auch mit Blick auf die praktische Umsetzung.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Menschliches Gesicht, Darstellung, Text, Kleidung enthält.&#10;&#10;KI-generierte Inhalte können fehlerhaft sein.">
            <a:extLst>
              <a:ext uri="{FF2B5EF4-FFF2-40B4-BE49-F238E27FC236}">
                <a16:creationId xmlns:a16="http://schemas.microsoft.com/office/drawing/2014/main" id="{1D737640-6988-DC0F-43CB-5E97F9E85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9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47"/>
    </mc:Choice>
    <mc:Fallback xmlns="">
      <p:transition spd="slow" advTm="1474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4511"/>
            <a:ext cx="1219169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" name="Text 1"/>
          <p:cNvSpPr/>
          <p:nvPr/>
        </p:nvSpPr>
        <p:spPr>
          <a:xfrm>
            <a:off x="604670" y="2669502"/>
            <a:ext cx="10982353" cy="1895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/>
              <a:t>BA-</a:t>
            </a:r>
            <a:r>
              <a:rPr lang="en-US" sz="4400" b="1" dirty="0" err="1"/>
              <a:t>Beschäftigungsstatistik</a:t>
            </a:r>
            <a:r>
              <a:rPr lang="en-US" sz="4400" b="1" dirty="0"/>
              <a:t>: </a:t>
            </a:r>
          </a:p>
          <a:p>
            <a:pPr marL="0" indent="0" algn="ctr">
              <a:buNone/>
            </a:pPr>
            <a:r>
              <a:rPr lang="en-US" sz="4400" b="1" dirty="0" err="1"/>
              <a:t>SvB</a:t>
            </a:r>
            <a:r>
              <a:rPr lang="en-US" sz="4400" b="1" dirty="0"/>
              <a:t>-Frauen </a:t>
            </a:r>
            <a:r>
              <a:rPr lang="en-US" sz="4400" b="1" dirty="0" err="1"/>
              <a:t>im</a:t>
            </a:r>
            <a:r>
              <a:rPr lang="en-US" sz="4400" b="1" dirty="0"/>
              <a:t> </a:t>
            </a:r>
            <a:r>
              <a:rPr lang="en-US" sz="4400" b="1" dirty="0" err="1"/>
              <a:t>Vergleich</a:t>
            </a:r>
            <a:endParaRPr lang="en-US" sz="4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1DD7EC9-F76C-FB8D-8AF2-6FD6F128768D}"/>
              </a:ext>
            </a:extLst>
          </p:cNvPr>
          <p:cNvSpPr/>
          <p:nvPr/>
        </p:nvSpPr>
        <p:spPr>
          <a:xfrm>
            <a:off x="645539" y="605596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Ayse Tosun – Data-Analyst- </a:t>
            </a:r>
            <a:r>
              <a:rPr lang="en-US" sz="1100" dirty="0" err="1"/>
              <a:t>DataSmartPoint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" name="Text 1"/>
          <p:cNvSpPr/>
          <p:nvPr/>
        </p:nvSpPr>
        <p:spPr>
          <a:xfrm>
            <a:off x="548640" y="388620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3200" b="1" dirty="0"/>
              <a:t>Zielbild: Welche Entscheidungen soll die Analyse unterstützen?</a:t>
            </a:r>
            <a:endParaRPr lang="en-US" sz="3200" b="1" dirty="0"/>
          </a:p>
        </p:txBody>
      </p:sp>
      <p:sp>
        <p:nvSpPr>
          <p:cNvPr id="6" name="Text 4"/>
          <p:cNvSpPr/>
          <p:nvPr/>
        </p:nvSpPr>
        <p:spPr>
          <a:xfrm>
            <a:off x="548640" y="2219809"/>
            <a:ext cx="9631225" cy="171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de-DE" dirty="0"/>
              <a:t>Wie </a:t>
            </a:r>
            <a:r>
              <a:rPr lang="de-DE" b="1" dirty="0"/>
              <a:t>entwickeln</a:t>
            </a:r>
            <a:r>
              <a:rPr lang="de-DE" dirty="0"/>
              <a:t> sich </a:t>
            </a:r>
            <a:r>
              <a:rPr lang="de-DE" dirty="0" err="1"/>
              <a:t>SvB</a:t>
            </a:r>
            <a:r>
              <a:rPr lang="de-DE" dirty="0"/>
              <a:t>-Bestände getrennt nach Gruppen?</a:t>
            </a:r>
          </a:p>
          <a:p>
            <a:pPr marL="182880" indent="-182880">
              <a:buSzPct val="100000"/>
              <a:buChar char="•"/>
            </a:pPr>
            <a:endParaRPr lang="de-DE" dirty="0"/>
          </a:p>
          <a:p>
            <a:pPr marL="182880" indent="-182880">
              <a:buSzPct val="100000"/>
              <a:buChar char="•"/>
            </a:pPr>
            <a:r>
              <a:rPr lang="de-DE" dirty="0"/>
              <a:t>Wie verändert sich der </a:t>
            </a:r>
            <a:r>
              <a:rPr lang="de-DE" b="1" dirty="0"/>
              <a:t>Anteil Ausländerinnen</a:t>
            </a:r>
            <a:r>
              <a:rPr lang="de-DE" dirty="0"/>
              <a:t>?</a:t>
            </a:r>
          </a:p>
          <a:p>
            <a:pPr marL="182880" indent="-182880">
              <a:buSzPct val="100000"/>
              <a:buChar char="•"/>
            </a:pPr>
            <a:endParaRPr lang="de-DE" dirty="0"/>
          </a:p>
          <a:p>
            <a:pPr marL="182880" indent="-182880">
              <a:buSzPct val="100000"/>
              <a:buChar char="•"/>
            </a:pPr>
            <a:r>
              <a:rPr lang="de-DE" dirty="0"/>
              <a:t>Welche Abschlussgruppen sind </a:t>
            </a:r>
            <a:r>
              <a:rPr lang="de-DE" b="1" dirty="0"/>
              <a:t>Treiber</a:t>
            </a:r>
            <a:r>
              <a:rPr lang="de-DE" dirty="0"/>
              <a:t>?</a:t>
            </a:r>
          </a:p>
          <a:p>
            <a:pPr marL="182880" indent="-182880">
              <a:buSzPct val="100000"/>
              <a:buChar char="•"/>
            </a:pPr>
            <a:endParaRPr lang="de-DE" dirty="0"/>
          </a:p>
          <a:p>
            <a:pPr marL="182880" indent="-182880">
              <a:buSzPct val="100000"/>
              <a:buChar char="•"/>
            </a:pPr>
            <a:r>
              <a:rPr lang="de-DE" dirty="0"/>
              <a:t>Wo sind Unterschiede groß genug für </a:t>
            </a:r>
            <a:r>
              <a:rPr lang="de-DE" b="1" dirty="0"/>
              <a:t>Priorisierung</a:t>
            </a:r>
            <a:r>
              <a:rPr lang="de-DE" dirty="0"/>
              <a:t>?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609850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1400" b="1" dirty="0"/>
              <a:t>Quelle:</a:t>
            </a:r>
            <a:r>
              <a:rPr lang="de-DE" sz="1400" dirty="0"/>
              <a:t> Bundesagentur für Arbeit – Statistikportal (statistik.arbeitsagentur.de)</a:t>
            </a:r>
            <a:endParaRPr lang="en-US" sz="1400" dirty="0"/>
          </a:p>
        </p:txBody>
      </p:sp>
      <p:pic>
        <p:nvPicPr>
          <p:cNvPr id="5" name="Grafik 4" descr="Ein Bild, das Menschliches Gesicht, Entwurf, Zeichnung, Kleidung enthält.&#10;&#10;KI-generierte Inhalte können fehlerhaft sein.">
            <a:extLst>
              <a:ext uri="{FF2B5EF4-FFF2-40B4-BE49-F238E27FC236}">
                <a16:creationId xmlns:a16="http://schemas.microsoft.com/office/drawing/2014/main" id="{A68B3F03-3D1B-64DF-F408-D9964B78F2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66" t="17000" r="35368"/>
          <a:stretch>
            <a:fillRect/>
          </a:stretch>
        </p:blipFill>
        <p:spPr>
          <a:xfrm>
            <a:off x="8709212" y="950976"/>
            <a:ext cx="3482788" cy="5907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16552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87275" y="234174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Ankerpunkte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87275" y="594327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drei wichtigsten Ergebnisse auf einen Blick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22960" y="1663820"/>
            <a:ext cx="29260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005840" y="232776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KPI (Stand 2025-06)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6322" y="1767191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11,78%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86200" y="1663820"/>
            <a:ext cx="29260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069080" y="232776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MA12 Anteil (Trend)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99562" y="1767191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11,47%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949440" y="1663820"/>
            <a:ext cx="29260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132320" y="232776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Index SvB Ausländerinnen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62802" y="1767191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128,14</a:t>
            </a:r>
            <a:endParaRPr lang="en-US" sz="2200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F507898F-7E6D-8FAC-CF76-0F356C804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3527968"/>
            <a:ext cx="949474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Ausländerinnen:</a:t>
            </a:r>
            <a:r>
              <a:rPr lang="de-DE" altLang="de-DE" b="1" dirty="0">
                <a:latin typeface="Arial" panose="020B0604020202020204" pitchFamily="34" charset="0"/>
              </a:rPr>
              <a:t>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+X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(2022-01 → 2025-06)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 klare Zunahme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Deutsche: ~ stabil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 gleichen Zeitraum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Strukturwandel: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Anteil Ausländerinnen steigt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(+ pp)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09728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" name="Text 1"/>
          <p:cNvSpPr/>
          <p:nvPr/>
        </p:nvSpPr>
        <p:spPr>
          <a:xfrm>
            <a:off x="548639" y="294760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+mj-lt"/>
                <a:ea typeface="Calibri" pitchFamily="34" charset="-122"/>
                <a:cs typeface="Calibri" pitchFamily="34" charset="-120"/>
              </a:rPr>
              <a:t>Ergebnis 1 – </a:t>
            </a:r>
            <a:r>
              <a:rPr lang="de-DE" sz="3200" b="1" dirty="0">
                <a:latin typeface="+mj-lt"/>
              </a:rPr>
              <a:t>Bestände (</a:t>
            </a:r>
            <a:r>
              <a:rPr lang="de-DE" sz="3200" b="1" dirty="0" err="1">
                <a:latin typeface="+mj-lt"/>
              </a:rPr>
              <a:t>SvB</a:t>
            </a:r>
            <a:r>
              <a:rPr lang="de-DE" sz="3200" b="1" dirty="0">
                <a:latin typeface="+mj-lt"/>
              </a:rPr>
              <a:t>-Frauen) nach Staatsangehörigkeit</a:t>
            </a:r>
            <a:endParaRPr lang="en-US" sz="3200" b="1" dirty="0">
              <a:latin typeface="+mj-lt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469215548"/>
              </p:ext>
            </p:extLst>
          </p:nvPr>
        </p:nvGraphicFramePr>
        <p:xfrm>
          <a:off x="731520" y="1097280"/>
          <a:ext cx="749808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1862418"/>
            <a:ext cx="3520440" cy="371542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</a:rPr>
              <a:t>Niveau</a:t>
            </a: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Deutsche deutlich höher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</a:rPr>
              <a:t>Trend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Ausländerinnen steigen sichtbar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</a:rPr>
              <a:t>Übergang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Absolute Werte →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gleich Index &amp; Anteil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0" y="160020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37160" indent="-137160">
              <a:buSzPct val="100000"/>
              <a:buChar char="•"/>
            </a:pPr>
            <a:endParaRPr lang="en-US" sz="12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69C8A98-E5EE-4A71-C4C8-14F995366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3642" y="7999956"/>
            <a:ext cx="62745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44228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73828" y="332949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Ergebnis 2 – </a:t>
            </a:r>
            <a:r>
              <a:rPr lang="de-DE" sz="3200" b="1" dirty="0"/>
              <a:t>Anteil Ausländerinnen steigt kontinuierlich</a:t>
            </a:r>
            <a:endParaRPr lang="en-US" sz="3200" b="1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819194131"/>
              </p:ext>
            </p:extLst>
          </p:nvPr>
        </p:nvGraphicFramePr>
        <p:xfrm>
          <a:off x="731520" y="1097280"/>
          <a:ext cx="749808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349018" y="1939809"/>
            <a:ext cx="3520440" cy="382897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8686800" y="160020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buSzPct val="100000"/>
              <a:buChar char="•"/>
            </a:pPr>
            <a:endParaRPr lang="en-US" sz="12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0E9264F-43A8-1576-9DC7-8900D4871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3524" y="2546477"/>
            <a:ext cx="341535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Anteil steigt von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9,43% → 11,78%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+2,35 pp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MA12 bestätigt</a:t>
            </a: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kein Ausreißer, sondern Trend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KPI-Nutzen</a:t>
            </a: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Strukturkennzahl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fürs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17808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31781" y="261659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Ergebnis 3 – </a:t>
            </a:r>
            <a:r>
              <a:rPr lang="de-DE" sz="3200" b="1" dirty="0"/>
              <a:t>Index zeigt die Dynamik (Basis 2022-01 = 100)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99921140"/>
              </p:ext>
            </p:extLst>
          </p:nvPr>
        </p:nvGraphicFramePr>
        <p:xfrm>
          <a:off x="731520" y="1097280"/>
          <a:ext cx="749808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1801905"/>
            <a:ext cx="3520440" cy="404756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B6575D4-9FFB-C7A2-A6A1-9B22758AE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0503" y="2222000"/>
            <a:ext cx="317583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Stand Ende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Ausländerinnen 128,14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(~+28%)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Deutsche ~ 100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(nahezu stabil)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Nutzen</a:t>
            </a: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Vergleich der Veränderung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trotz unterschiedlichem Niveau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80191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33487" y="2468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Ergebnis 4 – Aktueller Stand </a:t>
            </a:r>
            <a:r>
              <a:rPr lang="de-DE" sz="3200" b="1" dirty="0"/>
              <a:t>Qualifikationsstruktur</a:t>
            </a:r>
            <a:endParaRPr lang="en-US" sz="3200" b="1" dirty="0"/>
          </a:p>
        </p:txBody>
      </p:sp>
      <p:sp>
        <p:nvSpPr>
          <p:cNvPr id="4" name="Text 2"/>
          <p:cNvSpPr/>
          <p:nvPr/>
        </p:nvSpPr>
        <p:spPr>
          <a:xfrm>
            <a:off x="333487" y="612648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SvB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Frauen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nach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Berufsabschluss und Staatsangehörigkeit (Stand: 2025-06)</a:t>
            </a:r>
            <a:endParaRPr lang="en-US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2877997"/>
              </p:ext>
            </p:extLst>
          </p:nvPr>
        </p:nvGraphicFramePr>
        <p:xfrm>
          <a:off x="731520" y="1188720"/>
          <a:ext cx="749808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1627002"/>
            <a:ext cx="3520440" cy="410144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F15EF45-2A29-8306-6F00-D2317A3C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2091676"/>
            <a:ext cx="352044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„Anerkannt“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ist die größte Kategorie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 beiden Gruppen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„Ohne“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ist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deutlich kleiner</a:t>
            </a: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bleibt aber ein Monitoring-Segment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Implikation</a:t>
            </a: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Hebel liegen bei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Anerkennung &amp; Qualifizierung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Ergebnis 5 – </a:t>
            </a:r>
            <a:r>
              <a:rPr lang="de-DE" sz="3200" b="1" dirty="0"/>
              <a:t>Qualifikationsstruktur im Zeitverlauf (2022–2024)</a:t>
            </a:r>
            <a:endParaRPr lang="en-US" sz="3200" b="1" dirty="0"/>
          </a:p>
        </p:txBody>
      </p:sp>
      <p:sp>
        <p:nvSpPr>
          <p:cNvPr id="4" name="Text 2"/>
          <p:cNvSpPr/>
          <p:nvPr/>
        </p:nvSpPr>
        <p:spPr>
          <a:xfrm>
            <a:off x="548640" y="572307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Jahresaggregation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getrennt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nach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Staatsangehörigkeit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577840" cy="41755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Ausländerinnen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511288149"/>
              </p:ext>
            </p:extLst>
          </p:nvPr>
        </p:nvGraphicFramePr>
        <p:xfrm>
          <a:off x="914400" y="146304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537960" y="1051560"/>
            <a:ext cx="5577840" cy="41755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81228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Deutsche</a:t>
            </a:r>
            <a:endParaRPr lang="en-US" sz="1400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1809449463"/>
              </p:ext>
            </p:extLst>
          </p:nvPr>
        </p:nvGraphicFramePr>
        <p:xfrm>
          <a:off x="6720840" y="146304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3">
            <a:extLst>
              <a:ext uri="{FF2B5EF4-FFF2-40B4-BE49-F238E27FC236}">
                <a16:creationId xmlns:a16="http://schemas.microsoft.com/office/drawing/2014/main" id="{5667648C-518B-F451-CF05-A3B231AA1B68}"/>
              </a:ext>
            </a:extLst>
          </p:cNvPr>
          <p:cNvSpPr/>
          <p:nvPr/>
        </p:nvSpPr>
        <p:spPr>
          <a:xfrm>
            <a:off x="1571960" y="5394960"/>
            <a:ext cx="9481521" cy="121942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7976594-7F24-650A-311D-1968D91F4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592" y="5543008"/>
            <a:ext cx="998538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 beiden Gruppen bleibt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„Anerkannt“ der Haupttreiber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Ausländerinnen: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Wachstum in allen Abschlussgruppen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bis 2024 sichtbar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Deutsche: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hohes Niveau + moderate Veränderungen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(Baseline)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09728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85569" y="283464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Ergebnis 6 – </a:t>
            </a:r>
            <a:r>
              <a:rPr lang="de-DE" sz="3200" b="1" dirty="0"/>
              <a:t>Regionaler Fokus – Unterschiede nach Bundesland</a:t>
            </a:r>
            <a:endParaRPr lang="en-US" sz="3200" b="1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593458639"/>
              </p:ext>
            </p:extLst>
          </p:nvPr>
        </p:nvGraphicFramePr>
        <p:xfrm>
          <a:off x="731520" y="1188720"/>
          <a:ext cx="749808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1532965"/>
            <a:ext cx="3520440" cy="32138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9BF5C0A-8177-9D74-1BAB-0C6001851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3177" y="2124226"/>
            <a:ext cx="327546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Größte Abstände: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NRW, Bayern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(Größenordnung)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Kleinster Abstand: 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Bremen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Nutzen: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Priorisierung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für Monitoring/Programme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28757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39712" y="169905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3200" b="1" dirty="0"/>
              <a:t>Implikationen und Empfehlungen: was tun?</a:t>
            </a:r>
            <a:endParaRPr lang="en-US" sz="32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586753"/>
            <a:ext cx="8205395" cy="463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A7F10B7C-87AA-CDE8-7068-5A3EDB656004}"/>
              </a:ext>
            </a:extLst>
          </p:cNvPr>
          <p:cNvSpPr/>
          <p:nvPr/>
        </p:nvSpPr>
        <p:spPr>
          <a:xfrm>
            <a:off x="139712" y="572510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dirty="0"/>
              <a:t>Ableitungen aus Bestand, Anteil, Index, Qualifikationsstruktur und regionalem Fokus (2022–2024; Stand 2025-06)</a:t>
            </a:r>
            <a:endParaRPr lang="en-US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7CDDC4BC-E9B7-D233-20C9-EEDA6079D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922" y="2366420"/>
            <a:ext cx="885382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KPI-Set fürs Monitoring (monatlich)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Qualifikation als Haupthebel („anerkannt“ dominiert)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Zielgruppe „Ohne Berufsabschluss“ gezielt absichern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Regional priorisieren (Größenordnungen variieren stark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Drilldown-Standard</a:t>
            </a:r>
          </a:p>
        </p:txBody>
      </p:sp>
      <p:pic>
        <p:nvPicPr>
          <p:cNvPr id="6" name="Grafik 5" descr="Ein Bild, das Zeichnung, Entwurf, Darstellung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46232EDD-3875-4A75-DF91-47EA0F8CB3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" t="13211" r="74632"/>
          <a:stretch>
            <a:fillRect/>
          </a:stretch>
        </p:blipFill>
        <p:spPr>
          <a:xfrm>
            <a:off x="9099480" y="905998"/>
            <a:ext cx="3092520" cy="59520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10F0-EFA9-50AA-DD6C-090C33B6E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AD5E1B-7BDC-8737-40E1-96454C2FE8FB}"/>
              </a:ext>
            </a:extLst>
          </p:cNvPr>
          <p:cNvSpPr/>
          <p:nvPr/>
        </p:nvSpPr>
        <p:spPr>
          <a:xfrm>
            <a:off x="305" y="176963"/>
            <a:ext cx="12191695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845798-F639-870A-F097-E12B5C140372}"/>
              </a:ext>
            </a:extLst>
          </p:cNvPr>
          <p:cNvSpPr/>
          <p:nvPr/>
        </p:nvSpPr>
        <p:spPr>
          <a:xfrm>
            <a:off x="282388" y="230214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3200" b="1" dirty="0"/>
              <a:t>Warnhinweise: Wie (nicht) interpretieren??</a:t>
            </a:r>
            <a:endParaRPr lang="en-US" sz="3200" b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FD0E17-D4AE-A2AD-82B0-1D1B309EA02A}"/>
              </a:ext>
            </a:extLst>
          </p:cNvPr>
          <p:cNvSpPr/>
          <p:nvPr/>
        </p:nvSpPr>
        <p:spPr>
          <a:xfrm>
            <a:off x="484095" y="1707776"/>
            <a:ext cx="8390964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Interpretationsregeln (wichtig)</a:t>
            </a:r>
          </a:p>
          <a:p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 ≠  „warum“ – Ursachen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Staatsangehörigkeit ≠ Herkunft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Regionale  ≠ „Problemregion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„Ohne Abschluss“≠  stigmatisieren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 künftig besser wäre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D0FFDB8-6EC9-D8C6-3262-801F67E9C3AE}"/>
              </a:ext>
            </a:extLst>
          </p:cNvPr>
          <p:cNvSpPr/>
          <p:nvPr/>
        </p:nvSpPr>
        <p:spPr>
          <a:xfrm>
            <a:off x="282388" y="601891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dirty="0"/>
              <a:t>Neutralität, Grenzen der Kategorie „Staatsangehörigkeit“ und typische Fehlinterpretationen</a:t>
            </a:r>
            <a:endParaRPr lang="en-US" dirty="0"/>
          </a:p>
        </p:txBody>
      </p:sp>
      <p:pic>
        <p:nvPicPr>
          <p:cNvPr id="6" name="Grafik 5" descr="Ein Bild, das Zeichnung, Entwurf, Darstellung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665645F4-E08C-3B68-4AA0-5AF06F8465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278" t="16970"/>
          <a:stretch>
            <a:fillRect/>
          </a:stretch>
        </p:blipFill>
        <p:spPr>
          <a:xfrm>
            <a:off x="9345706" y="954202"/>
            <a:ext cx="2846294" cy="590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90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Danke!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Fragen &amp; Diskussion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263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Belege: Views &amp; Reports (SQL) + Excel-Charts in </a:t>
            </a:r>
            <a:r>
              <a:rPr lang="en-US" sz="1100" dirty="0" err="1">
                <a:solidFill>
                  <a:srgbClr val="94A3B8"/>
                </a:solidFill>
              </a:rPr>
              <a:t>Abgabeordner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2526</Words>
  <Application>Microsoft Office PowerPoint</Application>
  <PresentationFormat>Breitbild</PresentationFormat>
  <Paragraphs>374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BA-Beschäftigungsstatistik (Option B) – SvB (Frauen)</dc:subject>
  <dc:creator>BA Projekt – Data Analyst</dc:creator>
  <cp:lastModifiedBy>Ayse Tosun</cp:lastModifiedBy>
  <cp:revision>49</cp:revision>
  <dcterms:created xsi:type="dcterms:W3CDTF">2026-01-31T16:21:25Z</dcterms:created>
  <dcterms:modified xsi:type="dcterms:W3CDTF">2026-02-03T13:58:44Z</dcterms:modified>
</cp:coreProperties>
</file>