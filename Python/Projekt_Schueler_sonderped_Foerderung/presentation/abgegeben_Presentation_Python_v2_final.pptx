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Roboto" panose="02000000000000000000" pitchFamily="2" charset="0"/>
      <p:regular r:id="rId22"/>
    </p:embeddedFont>
    <p:embeddedFont>
      <p:font typeface="Telegraf" panose="020B0604020202020204" charset="0"/>
      <p:regular r:id="rId23"/>
    </p:embeddedFont>
    <p:embeddedFont>
      <p:font typeface="Telegraf Bold" panose="020B0604020202020204" charset="0"/>
      <p:regular r:id="rId24"/>
    </p:embeddedFont>
    <p:embeddedFont>
      <p:font typeface="Telegraf Heavy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0793" autoAdjust="0"/>
  </p:normalViewPr>
  <p:slideViewPr>
    <p:cSldViewPr>
      <p:cViewPr varScale="1">
        <p:scale>
          <a:sx n="65" d="100"/>
          <a:sy n="65" d="100"/>
        </p:scale>
        <p:origin x="49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‹Nr.›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Die Verteilung nach Schularten zeigt eine klare Konzentration.</a:t>
            </a:r>
          </a:p>
          <a:p>
            <a:endParaRPr lang="en-US"/>
          </a:p>
          <a:p>
            <a:r>
              <a:rPr lang="en-US"/>
              <a:t>Förderschulen stellen weiterhin den größten Anteil.</a:t>
            </a:r>
          </a:p>
          <a:p>
            <a:r>
              <a:rPr lang="en-US"/>
              <a:t>Das ist fachlich erwartbar, da sie speziell für Förderung ausgelegt sind.</a:t>
            </a:r>
          </a:p>
          <a:p>
            <a:endParaRPr lang="en-US"/>
          </a:p>
          <a:p>
            <a:r>
              <a:rPr lang="en-US"/>
              <a:t>Gleichzeitig sehen wir aber auch eine Zunahme in allgemeinen Schularten – insbesondere Grundschulen und Schularten mit mehreren Bildungsgängen.</a:t>
            </a:r>
          </a:p>
          <a:p>
            <a:endParaRPr lang="en-US"/>
          </a:p>
          <a:p>
            <a:r>
              <a:rPr lang="en-US"/>
              <a:t>Das deutet auf eine stärkere Integration in Regelschulen hin.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//Übergang///</a:t>
            </a:r>
          </a:p>
          <a:p>
            <a:r>
              <a:rPr lang="en-US"/>
              <a:t>Das bringt uns zu einer zentralen Frage: Ist das Wachstum rein mengenbedingt – oder strukturell?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///Zeigen///</a:t>
            </a:r>
          </a:p>
          <a:p>
            <a:r>
              <a:rPr lang="en-US"/>
              <a:t>links: Verteilung (dominant Förderschule)</a:t>
            </a:r>
          </a:p>
          <a:p>
            <a:r>
              <a:rPr lang="en-US"/>
              <a:t>rechts: Wachstum in Regelschulen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25.sv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08597">
            <a:off x="14198417" y="5350254"/>
            <a:ext cx="5199973" cy="7277316"/>
          </a:xfrm>
          <a:custGeom>
            <a:avLst/>
            <a:gdLst/>
            <a:ahLst/>
            <a:cxnLst/>
            <a:rect l="l" t="t" r="r" b="b"/>
            <a:pathLst>
              <a:path w="5199973" h="7277316">
                <a:moveTo>
                  <a:pt x="0" y="0"/>
                </a:moveTo>
                <a:lnTo>
                  <a:pt x="5199973" y="0"/>
                </a:lnTo>
                <a:lnTo>
                  <a:pt x="5199973" y="7277315"/>
                </a:lnTo>
                <a:lnTo>
                  <a:pt x="0" y="72773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/>
          <p:nvPr/>
        </p:nvGrpSpPr>
        <p:grpSpPr>
          <a:xfrm>
            <a:off x="1744252" y="3237259"/>
            <a:ext cx="14799496" cy="4823281"/>
            <a:chOff x="0" y="0"/>
            <a:chExt cx="19732662" cy="6431041"/>
          </a:xfrm>
        </p:grpSpPr>
        <p:sp>
          <p:nvSpPr>
            <p:cNvPr id="4" name="TextBox 4"/>
            <p:cNvSpPr txBox="1"/>
            <p:nvPr/>
          </p:nvSpPr>
          <p:spPr>
            <a:xfrm>
              <a:off x="0" y="-66675"/>
              <a:ext cx="19732662" cy="3457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Sonderpädagogischer Förderung </a:t>
              </a:r>
            </a:p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in Deutschland </a:t>
              </a:r>
            </a:p>
            <a:p>
              <a:pPr algn="ctr">
                <a:lnSpc>
                  <a:spcPts val="6720"/>
                </a:lnSpc>
              </a:pPr>
              <a:r>
                <a:rPr lang="en-US" sz="5600" b="1" spc="560">
                  <a:solidFill>
                    <a:srgbClr val="001B3D"/>
                  </a:solidFill>
                  <a:latin typeface="Telegraf Heavy"/>
                  <a:ea typeface="Telegraf Heavy"/>
                  <a:cs typeface="Telegraf Heavy"/>
                  <a:sym typeface="Telegraf Heavy"/>
                </a:rPr>
                <a:t>(2000–2024)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084746" y="5192579"/>
              <a:ext cx="9563170" cy="12384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39"/>
                </a:lnSpc>
              </a:pPr>
              <a:r>
                <a:rPr lang="en-US" sz="2799">
                  <a:solidFill>
                    <a:srgbClr val="001B3D"/>
                  </a:solidFill>
                  <a:latin typeface="Telegraf"/>
                  <a:ea typeface="Telegraf"/>
                  <a:cs typeface="Telegraf"/>
                  <a:sym typeface="Telegraf"/>
                </a:rPr>
                <a:t>Ayse Tosun</a:t>
              </a:r>
            </a:p>
            <a:p>
              <a:pPr algn="ctr">
                <a:lnSpc>
                  <a:spcPts val="3639"/>
                </a:lnSpc>
              </a:pPr>
              <a:r>
                <a:rPr lang="en-US" sz="2799">
                  <a:solidFill>
                    <a:srgbClr val="001B3D"/>
                  </a:solidFill>
                  <a:latin typeface="Telegraf"/>
                  <a:ea typeface="Telegraf"/>
                  <a:cs typeface="Telegraf"/>
                  <a:sym typeface="Telegraf"/>
                </a:rPr>
                <a:t>Data Analyst - Python Projekt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809792" y="3936245"/>
              <a:ext cx="12918319" cy="710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60"/>
                </a:lnSpc>
              </a:pPr>
              <a:r>
                <a:rPr lang="en-US" sz="3200" b="1">
                  <a:solidFill>
                    <a:srgbClr val="001B3D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Entwicklung, Struktur und Einflussfaktoren</a:t>
              </a:r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-1250312">
            <a:off x="17527731" y="5311911"/>
            <a:ext cx="1026921" cy="435539"/>
            <a:chOff x="0" y="0"/>
            <a:chExt cx="2527300" cy="1071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9" name="Freeform 9"/>
          <p:cNvSpPr/>
          <p:nvPr/>
        </p:nvSpPr>
        <p:spPr>
          <a:xfrm>
            <a:off x="-1725689" y="515168"/>
            <a:ext cx="6645148" cy="5400693"/>
          </a:xfrm>
          <a:custGeom>
            <a:avLst/>
            <a:gdLst/>
            <a:ahLst/>
            <a:cxnLst/>
            <a:rect l="l" t="t" r="r" b="b"/>
            <a:pathLst>
              <a:path w="6645148" h="5400693">
                <a:moveTo>
                  <a:pt x="0" y="0"/>
                </a:moveTo>
                <a:lnTo>
                  <a:pt x="6645149" y="0"/>
                </a:lnTo>
                <a:lnTo>
                  <a:pt x="6645149" y="5400693"/>
                </a:lnTo>
                <a:lnTo>
                  <a:pt x="0" y="5400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14052569" y="-927039"/>
            <a:ext cx="5491668" cy="4443259"/>
          </a:xfrm>
          <a:custGeom>
            <a:avLst/>
            <a:gdLst/>
            <a:ahLst/>
            <a:cxnLst/>
            <a:rect l="l" t="t" r="r" b="b"/>
            <a:pathLst>
              <a:path w="5491668" h="4443259">
                <a:moveTo>
                  <a:pt x="0" y="0"/>
                </a:moveTo>
                <a:lnTo>
                  <a:pt x="5491668" y="0"/>
                </a:lnTo>
                <a:lnTo>
                  <a:pt x="5491668" y="4443258"/>
                </a:lnTo>
                <a:lnTo>
                  <a:pt x="0" y="44432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839509">
            <a:off x="1518992" y="7913161"/>
            <a:ext cx="4066369" cy="3659732"/>
          </a:xfrm>
          <a:custGeom>
            <a:avLst/>
            <a:gdLst/>
            <a:ahLst/>
            <a:cxnLst/>
            <a:rect l="l" t="t" r="r" b="b"/>
            <a:pathLst>
              <a:path w="4066369" h="3659732">
                <a:moveTo>
                  <a:pt x="0" y="0"/>
                </a:moveTo>
                <a:lnTo>
                  <a:pt x="4066369" y="0"/>
                </a:lnTo>
                <a:lnTo>
                  <a:pt x="4066369" y="3659732"/>
                </a:lnTo>
                <a:lnTo>
                  <a:pt x="0" y="36597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5195579" y="-278833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>
            <a:off x="16763027" y="4517888"/>
            <a:ext cx="560556" cy="523865"/>
          </a:xfrm>
          <a:custGeom>
            <a:avLst/>
            <a:gdLst/>
            <a:ahLst/>
            <a:cxnLst/>
            <a:rect l="l" t="t" r="r" b="b"/>
            <a:pathLst>
              <a:path w="560556" h="523865">
                <a:moveTo>
                  <a:pt x="0" y="0"/>
                </a:moveTo>
                <a:lnTo>
                  <a:pt x="560556" y="0"/>
                </a:lnTo>
                <a:lnTo>
                  <a:pt x="560556" y="523865"/>
                </a:lnTo>
                <a:lnTo>
                  <a:pt x="0" y="523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002704" y="9819227"/>
            <a:ext cx="582072" cy="543973"/>
          </a:xfrm>
          <a:custGeom>
            <a:avLst/>
            <a:gdLst/>
            <a:ahLst/>
            <a:cxnLst/>
            <a:rect l="l" t="t" r="r" b="b"/>
            <a:pathLst>
              <a:path w="582072" h="543973">
                <a:moveTo>
                  <a:pt x="0" y="0"/>
                </a:moveTo>
                <a:lnTo>
                  <a:pt x="582071" y="0"/>
                </a:lnTo>
                <a:lnTo>
                  <a:pt x="582071" y="543973"/>
                </a:lnTo>
                <a:lnTo>
                  <a:pt x="0" y="543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5" name="Freeform 15"/>
          <p:cNvSpPr/>
          <p:nvPr/>
        </p:nvSpPr>
        <p:spPr>
          <a:xfrm>
            <a:off x="1028700" y="6461741"/>
            <a:ext cx="878815" cy="821293"/>
          </a:xfrm>
          <a:custGeom>
            <a:avLst/>
            <a:gdLst/>
            <a:ahLst/>
            <a:cxnLst/>
            <a:rect l="l" t="t" r="r" b="b"/>
            <a:pathLst>
              <a:path w="878815" h="821293">
                <a:moveTo>
                  <a:pt x="0" y="0"/>
                </a:moveTo>
                <a:lnTo>
                  <a:pt x="878815" y="0"/>
                </a:lnTo>
                <a:lnTo>
                  <a:pt x="878815" y="821293"/>
                </a:lnTo>
                <a:lnTo>
                  <a:pt x="0" y="8212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6" name="Freeform 16"/>
          <p:cNvSpPr/>
          <p:nvPr/>
        </p:nvSpPr>
        <p:spPr>
          <a:xfrm>
            <a:off x="2593368" y="4189375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7" name="Freeform 17"/>
          <p:cNvSpPr/>
          <p:nvPr/>
        </p:nvSpPr>
        <p:spPr>
          <a:xfrm>
            <a:off x="15424104" y="4877497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8" name="Freeform 18"/>
          <p:cNvSpPr/>
          <p:nvPr/>
        </p:nvSpPr>
        <p:spPr>
          <a:xfrm>
            <a:off x="9575652" y="9578771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9" name="Freeform 19"/>
          <p:cNvSpPr/>
          <p:nvPr/>
        </p:nvSpPr>
        <p:spPr>
          <a:xfrm>
            <a:off x="8641489" y="864444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5689600" cy="10402962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1812022">
            <a:off x="11421112" y="9906198"/>
            <a:ext cx="917835" cy="389273"/>
            <a:chOff x="0" y="0"/>
            <a:chExt cx="2527300" cy="107188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27300" cy="1071880"/>
            </a:xfrm>
            <a:custGeom>
              <a:avLst/>
              <a:gdLst/>
              <a:ahLst/>
              <a:cxnLst/>
              <a:rect l="l" t="t" r="r" b="b"/>
              <a:pathLst>
                <a:path w="2527300" h="1071880">
                  <a:moveTo>
                    <a:pt x="260350" y="1071880"/>
                  </a:moveTo>
                  <a:lnTo>
                    <a:pt x="0" y="914400"/>
                  </a:lnTo>
                  <a:lnTo>
                    <a:pt x="524510" y="48260"/>
                  </a:lnTo>
                  <a:lnTo>
                    <a:pt x="941070" y="516890"/>
                  </a:lnTo>
                  <a:lnTo>
                    <a:pt x="1245870" y="0"/>
                  </a:lnTo>
                  <a:lnTo>
                    <a:pt x="1604010" y="500380"/>
                  </a:lnTo>
                  <a:lnTo>
                    <a:pt x="1941830" y="15240"/>
                  </a:lnTo>
                  <a:lnTo>
                    <a:pt x="2527300" y="787400"/>
                  </a:lnTo>
                  <a:lnTo>
                    <a:pt x="2284730" y="971550"/>
                  </a:lnTo>
                  <a:lnTo>
                    <a:pt x="1951990" y="533400"/>
                  </a:lnTo>
                  <a:lnTo>
                    <a:pt x="1607820" y="1028700"/>
                  </a:lnTo>
                  <a:lnTo>
                    <a:pt x="1271270" y="557530"/>
                  </a:lnTo>
                  <a:lnTo>
                    <a:pt x="990600" y="1031240"/>
                  </a:lnTo>
                  <a:lnTo>
                    <a:pt x="571500" y="56007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5" name="Freeform 5"/>
          <p:cNvSpPr/>
          <p:nvPr/>
        </p:nvSpPr>
        <p:spPr>
          <a:xfrm>
            <a:off x="490295" y="2193129"/>
            <a:ext cx="4709009" cy="5395740"/>
          </a:xfrm>
          <a:custGeom>
            <a:avLst/>
            <a:gdLst/>
            <a:ahLst/>
            <a:cxnLst/>
            <a:rect l="l" t="t" r="r" b="b"/>
            <a:pathLst>
              <a:path w="4709009" h="5395740">
                <a:moveTo>
                  <a:pt x="0" y="0"/>
                </a:moveTo>
                <a:lnTo>
                  <a:pt x="4709010" y="0"/>
                </a:lnTo>
                <a:lnTo>
                  <a:pt x="4709010" y="5395739"/>
                </a:lnTo>
                <a:lnTo>
                  <a:pt x="0" y="53957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644474" y="727444"/>
            <a:ext cx="4375895" cy="967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Ablauf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99200" y="1718310"/>
            <a:ext cx="12598400" cy="6717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1: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Ziel der Analyse &amp; Datengrundlage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2: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Gesamtentwicklung der Förderung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Förderanteil und Dynamik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Struktur nach Schularten und Förderschwerpunkten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Treiber und strukturelle Verschiebungen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3: 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Einordnung externer Einflussfaktoren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 Hypothesenprüfung (Migration &amp; COVID-19)</a:t>
            </a:r>
          </a:p>
          <a:p>
            <a:pPr algn="l">
              <a:lnSpc>
                <a:spcPts val="480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Fazit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 |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222375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252317" y="4317365"/>
            <a:ext cx="1417071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1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Ziel der Analyse &amp; Datengrundlage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3 |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3632200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1416050" y="3954006"/>
            <a:ext cx="15843250" cy="4509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Analyse der Entwicklung sonderpädagogischer Förderung (2000–2024)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Fokus auf drei zentrale Aspekte: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Zeitliche Entwicklung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Strukturelle Zusammensetzung</a:t>
            </a:r>
          </a:p>
          <a:p>
            <a:pPr algn="just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     - Mögliche Einflussfaktoren</a:t>
            </a:r>
          </a:p>
          <a:p>
            <a:pPr algn="just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Identifikation struktureller Veränderungen im Bildungssystem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58642" y="2132258"/>
            <a:ext cx="14170716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</a:pPr>
            <a:r>
              <a:rPr lang="en-US" sz="71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Ziel der Analyse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4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16229358" y="619865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2058642" y="881090"/>
            <a:ext cx="14170716" cy="1101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19"/>
              </a:lnSpc>
            </a:pPr>
            <a:r>
              <a:rPr lang="en-US" sz="71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Datengrundlage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5 | 19</a:t>
            </a:r>
          </a:p>
        </p:txBody>
      </p:sp>
      <p:sp>
        <p:nvSpPr>
          <p:cNvPr id="6" name="AutoShape 6"/>
          <p:cNvSpPr/>
          <p:nvPr/>
        </p:nvSpPr>
        <p:spPr>
          <a:xfrm>
            <a:off x="1301000" y="2096990"/>
            <a:ext cx="15958300" cy="795266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403485" y="2168036"/>
            <a:ext cx="3760389" cy="788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Quelle: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Zeitraum: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Analyseebene: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Zentrale Variablen: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Datenaufbereitung: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0" lvl="0" indent="0"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Wichtiger Hinweis: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087278" y="2168036"/>
            <a:ext cx="12172022" cy="7881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Destatis  / GENESIS-Online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2000–2024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Deutschland gesamt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Jahr                    Förderschwerpunkt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Schulart          Anzahl Schülerinnen und Schüler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Entfernung von „Insgesamt“-Kategorien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Ausschluss fehlender Werte</a:t>
            </a: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Fokus auf echte Detailkombinationen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  <a:p>
            <a:pPr marL="690881" lvl="1" indent="-345440" algn="l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Aggregierte Daten, keine individuellen Ursachen analysierbar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4946400" y="77206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136577" y="4317365"/>
            <a:ext cx="1417071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2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Gesamtentwicklung &amp; Struktur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6 |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Gesamtentwicklung der sonderpädagogischen Förderung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9407" y="7536379"/>
            <a:ext cx="8256644" cy="27506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endParaRPr/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Leichter Rückgang bis ca. 2010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Danach kontinuierlicher Anstieg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Deutlicher Sprung ab 2017/2018</a:t>
            </a:r>
          </a:p>
          <a:p>
            <a:pPr algn="l">
              <a:lnSpc>
                <a:spcPts val="2115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919407" y="2813508"/>
            <a:ext cx="15619719" cy="5486426"/>
          </a:xfrm>
          <a:custGeom>
            <a:avLst/>
            <a:gdLst/>
            <a:ahLst/>
            <a:cxnLst/>
            <a:rect l="l" t="t" r="r" b="b"/>
            <a:pathLst>
              <a:path w="15619719" h="5486426">
                <a:moveTo>
                  <a:pt x="0" y="0"/>
                </a:moveTo>
                <a:lnTo>
                  <a:pt x="15619720" y="0"/>
                </a:lnTo>
                <a:lnTo>
                  <a:pt x="15619720" y="5486427"/>
                </a:lnTo>
                <a:lnTo>
                  <a:pt x="0" y="5486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7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Förderanteil und Dynamik im Zeitverlauf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239520"/>
            <a:ext cx="8256644" cy="214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Anteil steigt von ~4,7 % auf ~6,9 %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überwiegend kontinuierlich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Deutlichster Anstieg ab 2017/2018</a:t>
            </a:r>
          </a:p>
          <a:p>
            <a:pPr algn="l">
              <a:lnSpc>
                <a:spcPts val="2115"/>
              </a:lnSpc>
            </a:pPr>
            <a:endParaRPr lang="en-US" sz="3200">
              <a:solidFill>
                <a:srgbClr val="001B3D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1028700" y="2597790"/>
            <a:ext cx="16230600" cy="5721287"/>
          </a:xfrm>
          <a:custGeom>
            <a:avLst/>
            <a:gdLst/>
            <a:ahLst/>
            <a:cxnLst/>
            <a:rect l="l" t="t" r="r" b="b"/>
            <a:pathLst>
              <a:path w="16230600" h="5721287">
                <a:moveTo>
                  <a:pt x="0" y="0"/>
                </a:moveTo>
                <a:lnTo>
                  <a:pt x="16230600" y="0"/>
                </a:lnTo>
                <a:lnTo>
                  <a:pt x="16230600" y="5721286"/>
                </a:lnTo>
                <a:lnTo>
                  <a:pt x="0" y="5721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8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7840" y="2597790"/>
            <a:ext cx="15388631" cy="5982330"/>
          </a:xfrm>
          <a:custGeom>
            <a:avLst/>
            <a:gdLst/>
            <a:ahLst/>
            <a:cxnLst/>
            <a:rect l="l" t="t" r="r" b="b"/>
            <a:pathLst>
              <a:path w="15388631" h="5982330">
                <a:moveTo>
                  <a:pt x="0" y="0"/>
                </a:moveTo>
                <a:lnTo>
                  <a:pt x="15388631" y="0"/>
                </a:lnTo>
                <a:lnTo>
                  <a:pt x="15388631" y="5982330"/>
                </a:lnTo>
                <a:lnTo>
                  <a:pt x="0" y="5982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Verteilung und Entwicklung nach Schularten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99200" y="7936400"/>
            <a:ext cx="10682721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Förderschulen dominieren weiterhin das System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Zunahme auch in allgemeinen Schularten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Hinweise auf stärkere Integration in Regelschulen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57143" y="10036810"/>
            <a:ext cx="430857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9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Absolute vs. relative Entwickelung der Förderung</a:t>
            </a:r>
          </a:p>
        </p:txBody>
      </p:sp>
      <p:sp>
        <p:nvSpPr>
          <p:cNvPr id="4" name="Freeform 4"/>
          <p:cNvSpPr/>
          <p:nvPr/>
        </p:nvSpPr>
        <p:spPr>
          <a:xfrm>
            <a:off x="957840" y="2597790"/>
            <a:ext cx="12287158" cy="6097502"/>
          </a:xfrm>
          <a:custGeom>
            <a:avLst/>
            <a:gdLst/>
            <a:ahLst/>
            <a:cxnLst/>
            <a:rect l="l" t="t" r="r" b="b"/>
            <a:pathLst>
              <a:path w="12287158" h="6097502">
                <a:moveTo>
                  <a:pt x="0" y="0"/>
                </a:moveTo>
                <a:lnTo>
                  <a:pt x="12287157" y="0"/>
                </a:lnTo>
                <a:lnTo>
                  <a:pt x="12287157" y="6097502"/>
                </a:lnTo>
                <a:lnTo>
                  <a:pt x="0" y="6097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957840" y="8389620"/>
            <a:ext cx="10682721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Absolute Zahlen steigen deutlich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Förderanteil steigt parallel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nicht allein durch mehr Schüler erklärbar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10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3207" y="2597790"/>
            <a:ext cx="10691987" cy="6548842"/>
          </a:xfrm>
          <a:custGeom>
            <a:avLst/>
            <a:gdLst/>
            <a:ahLst/>
            <a:cxnLst/>
            <a:rect l="l" t="t" r="r" b="b"/>
            <a:pathLst>
              <a:path w="10691987" h="6548842">
                <a:moveTo>
                  <a:pt x="0" y="0"/>
                </a:moveTo>
                <a:lnTo>
                  <a:pt x="10691986" y="0"/>
                </a:lnTo>
                <a:lnTo>
                  <a:pt x="10691986" y="6548842"/>
                </a:lnTo>
                <a:lnTo>
                  <a:pt x="0" y="65488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3237760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Dominierende Förderschwerpunkte im Gesamtsystem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7625080"/>
            <a:ext cx="11479860" cy="2449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“Lernen” mit Abstand größter Bereich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Danach: “geistige” sowie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“emotionale/soziale Entwicklung”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starke Konzentration auf wenige Kategorien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72299" y="10036810"/>
            <a:ext cx="615701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11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957840" y="2597790"/>
            <a:ext cx="17330160" cy="5610639"/>
          </a:xfrm>
          <a:custGeom>
            <a:avLst/>
            <a:gdLst/>
            <a:ahLst/>
            <a:cxnLst/>
            <a:rect l="l" t="t" r="r" b="b"/>
            <a:pathLst>
              <a:path w="17330160" h="5610639">
                <a:moveTo>
                  <a:pt x="0" y="0"/>
                </a:moveTo>
                <a:lnTo>
                  <a:pt x="17330160" y="0"/>
                </a:lnTo>
                <a:lnTo>
                  <a:pt x="17330160" y="5610639"/>
                </a:lnTo>
                <a:lnTo>
                  <a:pt x="0" y="56106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527373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Entwicklung und strukturelle Verschiebung der Top 5 Förderschwerpunkte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7840" y="8340725"/>
            <a:ext cx="11479860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“Lernen” nimmt relativ an Bedeutung ab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“emotionale” &amp; “soziale Förderung” wächst stark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Verschiebung innerhalb des Systems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695404" y="10036810"/>
            <a:ext cx="592596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12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>
            <a:off x="1028700" y="2799127"/>
            <a:ext cx="11030960" cy="6990871"/>
          </a:xfrm>
          <a:custGeom>
            <a:avLst/>
            <a:gdLst/>
            <a:ahLst/>
            <a:cxnLst/>
            <a:rect l="l" t="t" r="r" b="b"/>
            <a:pathLst>
              <a:path w="11030960" h="6990871">
                <a:moveTo>
                  <a:pt x="0" y="0"/>
                </a:moveTo>
                <a:lnTo>
                  <a:pt x="11030960" y="0"/>
                </a:lnTo>
                <a:lnTo>
                  <a:pt x="11030960" y="6990871"/>
                </a:lnTo>
                <a:lnTo>
                  <a:pt x="0" y="69908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TextBox 4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Beitrag der Förderschwerpunkte zum Anstieg seit 2015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85272" y="4041660"/>
            <a:ext cx="7021674" cy="366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Wachstum wird von wenigen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Bereichen getragen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insbesondere „Lernen“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 und „soziale Entwicklung“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andere Kategorien stagnieren </a:t>
            </a:r>
          </a:p>
          <a:p>
            <a:pPr algn="l">
              <a:lnSpc>
                <a:spcPts val="480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      oder sinken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718510" y="10036810"/>
            <a:ext cx="569490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13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Einordnung der Entwicklung im Kontext externer Ereignisse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271510"/>
            <a:ext cx="13536378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mehrere relevante Zeitpunkte (Migration, COVID etc.)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stärkste Veränderung ab 2017/2018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kein klarer Zusammenhang mit einem einzelnen Ereignis</a:t>
            </a:r>
          </a:p>
        </p:txBody>
      </p:sp>
      <p:sp>
        <p:nvSpPr>
          <p:cNvPr id="5" name="Freeform 5"/>
          <p:cNvSpPr/>
          <p:nvPr/>
        </p:nvSpPr>
        <p:spPr>
          <a:xfrm>
            <a:off x="957840" y="2597790"/>
            <a:ext cx="12402957" cy="5674353"/>
          </a:xfrm>
          <a:custGeom>
            <a:avLst/>
            <a:gdLst/>
            <a:ahLst/>
            <a:cxnLst/>
            <a:rect l="l" t="t" r="r" b="b"/>
            <a:pathLst>
              <a:path w="12402957" h="5674353">
                <a:moveTo>
                  <a:pt x="0" y="0"/>
                </a:moveTo>
                <a:lnTo>
                  <a:pt x="12402956" y="0"/>
                </a:lnTo>
                <a:lnTo>
                  <a:pt x="12402956" y="5674352"/>
                </a:lnTo>
                <a:lnTo>
                  <a:pt x="0" y="56743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17730062" y="10036810"/>
            <a:ext cx="557938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14 | 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2</a:t>
            </a:r>
          </a:p>
        </p:txBody>
      </p:sp>
      <p:sp>
        <p:nvSpPr>
          <p:cNvPr id="8" name="Freeform 8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 descr="Cream Abstract Brushstroke"/>
          <p:cNvSpPr/>
          <p:nvPr/>
        </p:nvSpPr>
        <p:spPr>
          <a:xfrm>
            <a:off x="8554212" y="8184400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Cream Abstract Brushstroke"/>
          <p:cNvSpPr/>
          <p:nvPr/>
        </p:nvSpPr>
        <p:spPr>
          <a:xfrm>
            <a:off x="15879404" y="2313262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1416050" y="4329113"/>
            <a:ext cx="7340600" cy="3816350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2106267" y="5058728"/>
            <a:ext cx="6400612" cy="226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H1: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Die verstärkte Zuwanderung ab 2015 hängt mit einem zeitverzögerten Anstieg des Förderanteils zusammen.</a:t>
            </a:r>
          </a:p>
        </p:txBody>
      </p:sp>
      <p:sp>
        <p:nvSpPr>
          <p:cNvPr id="6" name="AutoShape 6"/>
          <p:cNvSpPr/>
          <p:nvPr/>
        </p:nvSpPr>
        <p:spPr>
          <a:xfrm>
            <a:off x="9531350" y="4329113"/>
            <a:ext cx="7340600" cy="3816350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0520650" y="5019675"/>
            <a:ext cx="7052975" cy="169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32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H2:</a:t>
            </a: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 COVID-19 führte zu einem starken zusätzlichen Anstieg </a:t>
            </a:r>
          </a:p>
          <a:p>
            <a:pPr marL="0" lvl="0" indent="0" algn="l">
              <a:lnSpc>
                <a:spcPts val="4480"/>
              </a:lnSpc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des Förderanteils.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58642" y="1470906"/>
            <a:ext cx="14170716" cy="242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TEIL 3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Hypothesen der Analyse</a:t>
            </a:r>
          </a:p>
          <a:p>
            <a:pPr marL="0" lvl="0" indent="0" algn="ctr">
              <a:lnSpc>
                <a:spcPts val="6160"/>
              </a:lnSpc>
            </a:pPr>
            <a:r>
              <a:rPr lang="en-US" sz="56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(externe Einflussfaktoren)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15 |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1202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Hypothese 1: Migration ab 2015 → </a:t>
            </a:r>
          </a:p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                          zeitverzögerter Anstieg des Förderanteils?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234680"/>
            <a:ext cx="13004823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Anstieg erfolgt zeitverzögert nach 2015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Durchschnitt nach 2015 höher als davor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Zeitlicher Zusammenhang sichtbar, aber nicht eindeutig kausal</a:t>
            </a:r>
          </a:p>
        </p:txBody>
      </p:sp>
      <p:sp>
        <p:nvSpPr>
          <p:cNvPr id="5" name="Freeform 5"/>
          <p:cNvSpPr/>
          <p:nvPr/>
        </p:nvSpPr>
        <p:spPr>
          <a:xfrm>
            <a:off x="957840" y="2928558"/>
            <a:ext cx="15684976" cy="5509348"/>
          </a:xfrm>
          <a:custGeom>
            <a:avLst/>
            <a:gdLst/>
            <a:ahLst/>
            <a:cxnLst/>
            <a:rect l="l" t="t" r="r" b="b"/>
            <a:pathLst>
              <a:path w="15684976" h="5509348">
                <a:moveTo>
                  <a:pt x="0" y="0"/>
                </a:moveTo>
                <a:lnTo>
                  <a:pt x="15684975" y="0"/>
                </a:lnTo>
                <a:lnTo>
                  <a:pt x="15684975" y="5509348"/>
                </a:lnTo>
                <a:lnTo>
                  <a:pt x="0" y="5509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6034326" y="2097410"/>
            <a:ext cx="9478093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1B3D"/>
                </a:solidFill>
                <a:latin typeface="Roboto"/>
                <a:ea typeface="Roboto"/>
                <a:cs typeface="Roboto"/>
                <a:sym typeface="Roboto"/>
              </a:rPr>
              <a:t>Erwartung: Anstieg mit zeitlicher Verzögerung nach 2015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16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3</a:t>
            </a:r>
          </a:p>
        </p:txBody>
      </p:sp>
      <p:sp>
        <p:nvSpPr>
          <p:cNvPr id="9" name="Freeform 9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890631" y="0"/>
            <a:ext cx="19669617" cy="2597790"/>
          </a:xfrm>
          <a:prstGeom prst="rect">
            <a:avLst/>
          </a:prstGeom>
          <a:solidFill>
            <a:srgbClr val="8BCB9F">
              <a:alpha val="49804"/>
            </a:srgbClr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3014265" y="908896"/>
            <a:ext cx="15273735" cy="611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9"/>
              </a:lnSpc>
            </a:pPr>
            <a:r>
              <a:rPr lang="en-US" sz="35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Hypothese 2: COVID-19 → zusätzlicher Anstieg des Förderanteils?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7840" y="8157771"/>
            <a:ext cx="13004823" cy="184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kein klarer zusätzlicher Sprung während COVID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Trend setzt sich fort</a:t>
            </a:r>
          </a:p>
          <a:p>
            <a:pPr marL="690881" lvl="1" indent="-345440" algn="l">
              <a:lnSpc>
                <a:spcPts val="4800"/>
              </a:lnSpc>
              <a:buFont typeface="Arial"/>
              <a:buChar char="•"/>
            </a:pPr>
            <a:r>
              <a:rPr lang="en-US" sz="3200">
                <a:solidFill>
                  <a:srgbClr val="001B3D"/>
                </a:solidFill>
                <a:latin typeface="Telegraf"/>
                <a:ea typeface="Telegraf"/>
                <a:cs typeface="Telegraf"/>
                <a:sym typeface="Telegraf"/>
              </a:rPr>
              <a:t>eher Verstärker als eigenständiger Treiber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92520" y="1770805"/>
            <a:ext cx="15273735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1B3D"/>
                </a:solidFill>
                <a:latin typeface="Roboto"/>
                <a:ea typeface="Roboto"/>
                <a:cs typeface="Roboto"/>
                <a:sym typeface="Roboto"/>
              </a:rPr>
              <a:t>Erwartung: zusätzlicher Sprung im Zeitraum 2020–2022</a:t>
            </a:r>
          </a:p>
        </p:txBody>
      </p:sp>
      <p:sp>
        <p:nvSpPr>
          <p:cNvPr id="6" name="Freeform 6"/>
          <p:cNvSpPr/>
          <p:nvPr/>
        </p:nvSpPr>
        <p:spPr>
          <a:xfrm>
            <a:off x="957840" y="2597790"/>
            <a:ext cx="15718232" cy="5521029"/>
          </a:xfrm>
          <a:custGeom>
            <a:avLst/>
            <a:gdLst/>
            <a:ahLst/>
            <a:cxnLst/>
            <a:rect l="l" t="t" r="r" b="b"/>
            <a:pathLst>
              <a:path w="15718232" h="5521029">
                <a:moveTo>
                  <a:pt x="0" y="0"/>
                </a:moveTo>
                <a:lnTo>
                  <a:pt x="15718232" y="0"/>
                </a:lnTo>
                <a:lnTo>
                  <a:pt x="15718232" y="5521029"/>
                </a:lnTo>
                <a:lnTo>
                  <a:pt x="0" y="5521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17 | 19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Teil 3</a:t>
            </a:r>
          </a:p>
        </p:txBody>
      </p:sp>
      <p:sp>
        <p:nvSpPr>
          <p:cNvPr id="9" name="Freeform 9"/>
          <p:cNvSpPr/>
          <p:nvPr/>
        </p:nvSpPr>
        <p:spPr>
          <a:xfrm>
            <a:off x="670438" y="462134"/>
            <a:ext cx="1859469" cy="1673522"/>
          </a:xfrm>
          <a:custGeom>
            <a:avLst/>
            <a:gdLst/>
            <a:ahLst/>
            <a:cxnLst/>
            <a:rect l="l" t="t" r="r" b="b"/>
            <a:pathLst>
              <a:path w="1859469" h="1673522">
                <a:moveTo>
                  <a:pt x="0" y="0"/>
                </a:moveTo>
                <a:lnTo>
                  <a:pt x="1859469" y="0"/>
                </a:lnTo>
                <a:lnTo>
                  <a:pt x="1859469" y="1673522"/>
                </a:lnTo>
                <a:lnTo>
                  <a:pt x="0" y="16735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3565" y="3632200"/>
            <a:ext cx="18032991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Freeform 3" descr="Yellow Circle Shape Illustration"/>
          <p:cNvSpPr/>
          <p:nvPr/>
        </p:nvSpPr>
        <p:spPr>
          <a:xfrm>
            <a:off x="16058851" y="8527084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 descr="Cream Abstract Brushstroke"/>
          <p:cNvSpPr/>
          <p:nvPr/>
        </p:nvSpPr>
        <p:spPr>
          <a:xfrm>
            <a:off x="5958362" y="982321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80"/>
                </a:lnTo>
                <a:lnTo>
                  <a:pt x="0" y="927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AutoShape 5"/>
          <p:cNvSpPr/>
          <p:nvPr/>
        </p:nvSpPr>
        <p:spPr>
          <a:xfrm rot="5400000">
            <a:off x="947290" y="6860683"/>
            <a:ext cx="6843109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0" y="3443891"/>
            <a:ext cx="18246628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 rot="5400000">
            <a:off x="5243715" y="7053476"/>
            <a:ext cx="7228694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 rot="5400000">
            <a:off x="10172548" y="6860683"/>
            <a:ext cx="6843109" cy="0"/>
          </a:xfrm>
          <a:prstGeom prst="line">
            <a:avLst/>
          </a:prstGeom>
          <a:ln w="9525" cap="rnd">
            <a:solidFill>
              <a:srgbClr val="5F778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1898667" y="4809269"/>
            <a:ext cx="628847" cy="1437364"/>
          </a:xfrm>
          <a:custGeom>
            <a:avLst/>
            <a:gdLst/>
            <a:ahLst/>
            <a:cxnLst/>
            <a:rect l="l" t="t" r="r" b="b"/>
            <a:pathLst>
              <a:path w="628847" h="1437364">
                <a:moveTo>
                  <a:pt x="0" y="0"/>
                </a:moveTo>
                <a:lnTo>
                  <a:pt x="628847" y="0"/>
                </a:lnTo>
                <a:lnTo>
                  <a:pt x="628847" y="1437365"/>
                </a:lnTo>
                <a:lnTo>
                  <a:pt x="0" y="14373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>
            <a:off x="5689600" y="5000061"/>
            <a:ext cx="1640228" cy="1246573"/>
          </a:xfrm>
          <a:custGeom>
            <a:avLst/>
            <a:gdLst/>
            <a:ahLst/>
            <a:cxnLst/>
            <a:rect l="l" t="t" r="r" b="b"/>
            <a:pathLst>
              <a:path w="1640228" h="1246573">
                <a:moveTo>
                  <a:pt x="0" y="0"/>
                </a:moveTo>
                <a:lnTo>
                  <a:pt x="1640228" y="0"/>
                </a:lnTo>
                <a:lnTo>
                  <a:pt x="1640228" y="1246573"/>
                </a:lnTo>
                <a:lnTo>
                  <a:pt x="0" y="12465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>
            <a:off x="9629184" y="5224151"/>
            <a:ext cx="2359616" cy="607601"/>
          </a:xfrm>
          <a:custGeom>
            <a:avLst/>
            <a:gdLst/>
            <a:ahLst/>
            <a:cxnLst/>
            <a:rect l="l" t="t" r="r" b="b"/>
            <a:pathLst>
              <a:path w="2359616" h="607601">
                <a:moveTo>
                  <a:pt x="0" y="0"/>
                </a:moveTo>
                <a:lnTo>
                  <a:pt x="2359616" y="0"/>
                </a:lnTo>
                <a:lnTo>
                  <a:pt x="2359616" y="607601"/>
                </a:lnTo>
                <a:lnTo>
                  <a:pt x="0" y="6076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>
            <a:off x="13633409" y="4852435"/>
            <a:ext cx="3956050" cy="1736865"/>
          </a:xfrm>
          <a:custGeom>
            <a:avLst/>
            <a:gdLst/>
            <a:ahLst/>
            <a:cxnLst/>
            <a:rect l="l" t="t" r="r" b="b"/>
            <a:pathLst>
              <a:path w="3956050" h="1736865">
                <a:moveTo>
                  <a:pt x="0" y="0"/>
                </a:moveTo>
                <a:lnTo>
                  <a:pt x="3956050" y="0"/>
                </a:lnTo>
                <a:lnTo>
                  <a:pt x="3956050" y="1736864"/>
                </a:lnTo>
                <a:lnTo>
                  <a:pt x="0" y="17368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</a:blip>
            <a:stretch>
              <a:fillRect r="-18659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3633409" y="6599059"/>
            <a:ext cx="4122389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zunehmender Unterstützungsbedarf im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68844" y="6599059"/>
            <a:ext cx="3931184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strukturelle Verschiebung der Förderschwerpunkte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58063" y="6599059"/>
            <a:ext cx="3790205" cy="1402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kein einzelner Auslöser → mehrere Faktoren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1927" y="6588125"/>
            <a:ext cx="3842328" cy="9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</a:pPr>
            <a:r>
              <a:rPr lang="en-US" sz="2799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langfristiger Anstieg der Förderung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27514" y="2108200"/>
            <a:ext cx="12827148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001B3D"/>
                </a:solidFill>
                <a:latin typeface="Telegraf Bold"/>
                <a:ea typeface="Telegraf Bold"/>
                <a:cs typeface="Telegraf Bold"/>
                <a:sym typeface="Telegraf Bold"/>
              </a:rPr>
              <a:t>Strukturwandel im Bildungssystem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06957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18 | 19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0" y="10036810"/>
            <a:ext cx="581043" cy="250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Fazit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DE1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16050" y="2555391"/>
            <a:ext cx="15843250" cy="5176217"/>
          </a:xfrm>
          <a:prstGeom prst="rect">
            <a:avLst/>
          </a:prstGeom>
          <a:solidFill>
            <a:srgbClr val="F9DCA8"/>
          </a:solid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8971986" y="3678873"/>
            <a:ext cx="6321252" cy="2814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Dankeaussage</a:t>
            </a:r>
          </a:p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&amp;</a:t>
            </a:r>
          </a:p>
          <a:p>
            <a:pPr algn="ctr">
              <a:lnSpc>
                <a:spcPts val="7280"/>
              </a:lnSpc>
            </a:pPr>
            <a:r>
              <a:rPr lang="en-US" sz="5600" b="1">
                <a:solidFill>
                  <a:srgbClr val="001B3D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Fragenrunde</a:t>
            </a:r>
          </a:p>
        </p:txBody>
      </p:sp>
      <p:sp>
        <p:nvSpPr>
          <p:cNvPr id="4" name="Freeform 4"/>
          <p:cNvSpPr/>
          <p:nvPr/>
        </p:nvSpPr>
        <p:spPr>
          <a:xfrm>
            <a:off x="5780875" y="1028700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5425901" y="3339378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Freeform 6"/>
          <p:cNvSpPr/>
          <p:nvPr/>
        </p:nvSpPr>
        <p:spPr>
          <a:xfrm>
            <a:off x="408775" y="3895465"/>
            <a:ext cx="1335446" cy="1248035"/>
          </a:xfrm>
          <a:custGeom>
            <a:avLst/>
            <a:gdLst/>
            <a:ahLst/>
            <a:cxnLst/>
            <a:rect l="l" t="t" r="r" b="b"/>
            <a:pathLst>
              <a:path w="1335446" h="1248035">
                <a:moveTo>
                  <a:pt x="0" y="0"/>
                </a:moveTo>
                <a:lnTo>
                  <a:pt x="1335446" y="0"/>
                </a:lnTo>
                <a:lnTo>
                  <a:pt x="1335446" y="1248035"/>
                </a:lnTo>
                <a:lnTo>
                  <a:pt x="0" y="1248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1389247" y="5612271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3"/>
                </a:lnTo>
                <a:lnTo>
                  <a:pt x="0" y="328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>
            <a:off x="6454635" y="7556653"/>
            <a:ext cx="354974" cy="328512"/>
          </a:xfrm>
          <a:custGeom>
            <a:avLst/>
            <a:gdLst/>
            <a:ahLst/>
            <a:cxnLst/>
            <a:rect l="l" t="t" r="r" b="b"/>
            <a:pathLst>
              <a:path w="354974" h="328512">
                <a:moveTo>
                  <a:pt x="0" y="0"/>
                </a:moveTo>
                <a:lnTo>
                  <a:pt x="354974" y="0"/>
                </a:lnTo>
                <a:lnTo>
                  <a:pt x="354974" y="328512"/>
                </a:lnTo>
                <a:lnTo>
                  <a:pt x="0" y="3285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>
            <a:off x="6632122" y="9089767"/>
            <a:ext cx="992546" cy="927579"/>
          </a:xfrm>
          <a:custGeom>
            <a:avLst/>
            <a:gdLst/>
            <a:ahLst/>
            <a:cxnLst/>
            <a:rect l="l" t="t" r="r" b="b"/>
            <a:pathLst>
              <a:path w="992546" h="927579">
                <a:moveTo>
                  <a:pt x="0" y="0"/>
                </a:moveTo>
                <a:lnTo>
                  <a:pt x="992546" y="0"/>
                </a:lnTo>
                <a:lnTo>
                  <a:pt x="992546" y="927579"/>
                </a:lnTo>
                <a:lnTo>
                  <a:pt x="0" y="927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Freeform 10"/>
          <p:cNvSpPr/>
          <p:nvPr/>
        </p:nvSpPr>
        <p:spPr>
          <a:xfrm rot="1123876">
            <a:off x="3114553" y="1666620"/>
            <a:ext cx="4083753" cy="6953759"/>
          </a:xfrm>
          <a:custGeom>
            <a:avLst/>
            <a:gdLst/>
            <a:ahLst/>
            <a:cxnLst/>
            <a:rect l="l" t="t" r="r" b="b"/>
            <a:pathLst>
              <a:path w="4083753" h="6953759">
                <a:moveTo>
                  <a:pt x="0" y="0"/>
                </a:moveTo>
                <a:lnTo>
                  <a:pt x="4083754" y="0"/>
                </a:lnTo>
                <a:lnTo>
                  <a:pt x="4083754" y="6953760"/>
                </a:lnTo>
                <a:lnTo>
                  <a:pt x="0" y="6953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6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694</Words>
  <Application>Microsoft Office PowerPoint</Application>
  <PresentationFormat>Benutzerdefiniert</PresentationFormat>
  <Paragraphs>207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6" baseType="lpstr">
      <vt:lpstr>Telegraf</vt:lpstr>
      <vt:lpstr>Arial</vt:lpstr>
      <vt:lpstr>Roboto</vt:lpstr>
      <vt:lpstr>Telegraf Heavy</vt:lpstr>
      <vt:lpstr>Telegraf Bold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Presentation_Python_v1_mit_Sprechtext</dc:title>
  <cp:lastModifiedBy>Ayse Tosun</cp:lastModifiedBy>
  <cp:revision>2</cp:revision>
  <dcterms:created xsi:type="dcterms:W3CDTF">2006-08-16T00:00:00Z</dcterms:created>
  <dcterms:modified xsi:type="dcterms:W3CDTF">2026-04-29T10:21:49Z</dcterms:modified>
  <dc:identifier>DAHIIJGsELM</dc:identifier>
</cp:coreProperties>
</file>