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Roboto" panose="02000000000000000000" pitchFamily="2" charset="0"/>
      <p:regular r:id="rId22"/>
    </p:embeddedFont>
    <p:embeddedFont>
      <p:font typeface="Telegraf" panose="020B0604020202020204" charset="0"/>
      <p:regular r:id="rId23"/>
    </p:embeddedFont>
    <p:embeddedFont>
      <p:font typeface="Telegraf Bold" panose="020B0604020202020204" charset="0"/>
      <p:regular r:id="rId24"/>
    </p:embeddedFont>
    <p:embeddedFont>
      <p:font typeface="Telegraf Heavy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61693" autoAdjust="0"/>
  </p:normalViewPr>
  <p:slideViewPr>
    <p:cSldViewPr>
      <p:cViewPr varScale="1">
        <p:scale>
          <a:sx n="52" d="100"/>
          <a:sy n="52" d="100"/>
        </p:scale>
        <p:origin x="52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‹Nr.›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Hallo zusammen,</a:t>
            </a:r>
          </a:p>
          <a:p>
            <a:r>
              <a:rPr lang="en-US"/>
              <a:t>ich stelle heute meine Analyse zur Entwicklung der sonderpädagogischen Förderung in Deutschland im Zeitraum von 2000 bis 2024 vor.</a:t>
            </a:r>
          </a:p>
          <a:p>
            <a:endParaRPr lang="en-US"/>
          </a:p>
          <a:p>
            <a:r>
              <a:rPr lang="en-US"/>
              <a:t>Im Fokus stehen dabei drei zentrale Aspekte:</a:t>
            </a:r>
          </a:p>
          <a:p>
            <a:r>
              <a:rPr lang="en-US"/>
              <a:t>die zeitliche Entwicklung, die strukturelle Zusammensetzung sowie mögliche Einflussfaktoren.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Die Analyse gliedert sich in drei Teile:</a:t>
            </a:r>
          </a:p>
          <a:p>
            <a:endParaRPr lang="en-US"/>
          </a:p>
          <a:p>
            <a:r>
              <a:rPr lang="en-US"/>
              <a:t>Im ersten Teil stelle ich Ziel und Datengrundlage vor.</a:t>
            </a:r>
          </a:p>
          <a:p>
            <a:endParaRPr lang="en-US"/>
          </a:p>
          <a:p>
            <a:r>
              <a:rPr lang="en-US"/>
              <a:t>Im zweiten Teil analysiere ich die Entwicklung und Struktur der Förderung.</a:t>
            </a:r>
          </a:p>
          <a:p>
            <a:endParaRPr lang="en-US"/>
          </a:p>
          <a:p>
            <a:r>
              <a:rPr lang="en-US"/>
              <a:t>Und im dritten Teil ordne ich mögliche externe Einflussfaktoren anhand von Hypothesen ein.</a:t>
            </a:r>
          </a:p>
          <a:p>
            <a:endParaRPr lang="en-US"/>
          </a:p>
          <a:p>
            <a:r>
              <a:rPr lang="en-US"/>
              <a:t>Am Ende fasse ich die wichtigsten Erkenntnisse zusammen.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Ich stelle Im ersten Teil dar, welche Fragestellung der Analyse zugrunde liegt und auf welcher Datenbasis die Ergebnisse beruhen.</a:t>
            </a:r>
          </a:p>
          <a:p>
            <a:endParaRPr lang="en-US"/>
          </a:p>
          <a:p>
            <a:r>
              <a:rPr lang="en-US"/>
              <a:t>Das ist wichtig, um die späteren Ergebnisse korrekt einordnen zu können.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 dirty="0"/>
              <a:t>Das Ziel meiner Analyse ist es, datenbasiert zu untersuchen, </a:t>
            </a:r>
          </a:p>
          <a:p>
            <a:r>
              <a:rPr lang="de-DE" dirty="0"/>
              <a:t>wie sich die sonderpädagogische Förderung in Deutschland im Zeitraum von 2000 bis 2024 entwickelt hat.</a:t>
            </a:r>
          </a:p>
          <a:p>
            <a:endParaRPr lang="de-DE" dirty="0"/>
          </a:p>
          <a:p>
            <a:r>
              <a:rPr lang="de-DE" dirty="0"/>
              <a:t>Mit sonderpädagogischer Förderung sind Schüler gemeint, </a:t>
            </a:r>
          </a:p>
          <a:p>
            <a:r>
              <a:rPr lang="de-DE" dirty="0"/>
              <a:t>bei denen ein besonderer Unterstützungsbedarf festgestellt wurde, </a:t>
            </a:r>
          </a:p>
          <a:p>
            <a:r>
              <a:rPr lang="de-DE" dirty="0"/>
              <a:t>zum Beispiel in den Bereichen Lernen, Sprache, emotionale und soziale Entwicklung oder geistige Entwicklung.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Dabei geht es nicht nur um die reine Gesamtzahl, sondern auch darum, ob sich die Struktur der Förderung verändert hat.</a:t>
            </a:r>
          </a:p>
          <a:p>
            <a:endParaRPr lang="de-DE" dirty="0"/>
          </a:p>
          <a:p>
            <a:r>
              <a:rPr lang="de-DE" dirty="0"/>
              <a:t>Deshalb betrachte ich drei zentrale Aspekte: </a:t>
            </a:r>
          </a:p>
          <a:p>
            <a:endParaRPr lang="de-DE" dirty="0"/>
          </a:p>
          <a:p>
            <a:r>
              <a:rPr lang="de-DE" dirty="0"/>
              <a:t>erstens die zeitliche Gesamtentwicklung, </a:t>
            </a:r>
          </a:p>
          <a:p>
            <a:endParaRPr lang="de-DE" dirty="0"/>
          </a:p>
          <a:p>
            <a:r>
              <a:rPr lang="de-DE" dirty="0"/>
              <a:t>zweitens Unterschiede nach Schularten und Förderschwerpunkten</a:t>
            </a:r>
          </a:p>
          <a:p>
            <a:endParaRPr lang="de-DE" dirty="0"/>
          </a:p>
          <a:p>
            <a:r>
              <a:rPr lang="de-DE" dirty="0"/>
              <a:t>und drittens eine vorsichtige Einordnung möglicher externer Einflussfaktoren.</a:t>
            </a:r>
          </a:p>
          <a:p>
            <a:endParaRPr lang="de-DE" dirty="0"/>
          </a:p>
          <a:p>
            <a:r>
              <a:rPr lang="de-DE" dirty="0"/>
              <a:t>Im Kern soll die Analyse zeigen, ob es Hinweise auf einen strukturellen Wandel im Bildungssystem gibt </a:t>
            </a:r>
          </a:p>
          <a:p>
            <a:r>
              <a:rPr lang="de-DE" dirty="0"/>
              <a:t>und in welchen Bereichen dieser besonders sichtbar wird.</a:t>
            </a:r>
          </a:p>
          <a:p>
            <a:endParaRPr lang="de-DE" dirty="0"/>
          </a:p>
          <a:p>
            <a:r>
              <a:rPr lang="de-DE" dirty="0"/>
              <a:t>Um diese Fragen sauber beantworten zu können, ist zunächst die Datengrundlage entscheidend.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Die </a:t>
            </a:r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basiert</a:t>
            </a:r>
            <a:r>
              <a:rPr lang="en-US" dirty="0"/>
              <a:t> auf </a:t>
            </a:r>
            <a:r>
              <a:rPr lang="en-US" dirty="0" err="1"/>
              <a:t>zwei</a:t>
            </a:r>
            <a:r>
              <a:rPr lang="en-US" dirty="0"/>
              <a:t> </a:t>
            </a:r>
            <a:r>
              <a:rPr lang="en-US" dirty="0" err="1"/>
              <a:t>Destatis-Datensätzen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Der </a:t>
            </a:r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Datensatz</a:t>
            </a:r>
            <a:r>
              <a:rPr lang="en-US" dirty="0"/>
              <a:t> </a:t>
            </a:r>
            <a:r>
              <a:rPr lang="en-US" dirty="0" err="1"/>
              <a:t>enthält</a:t>
            </a:r>
            <a:r>
              <a:rPr lang="en-US" dirty="0"/>
              <a:t> die </a:t>
            </a:r>
            <a:r>
              <a:rPr lang="en-US" dirty="0" err="1"/>
              <a:t>sonderpädagogische</a:t>
            </a:r>
            <a:r>
              <a:rPr lang="en-US" dirty="0"/>
              <a:t> </a:t>
            </a:r>
            <a:r>
              <a:rPr lang="en-US" dirty="0" err="1"/>
              <a:t>Förderung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Jahr, </a:t>
            </a:r>
            <a:r>
              <a:rPr lang="en-US" dirty="0" err="1"/>
              <a:t>Schulart</a:t>
            </a:r>
            <a:r>
              <a:rPr lang="en-US" dirty="0"/>
              <a:t> und </a:t>
            </a:r>
            <a:r>
              <a:rPr lang="en-US" dirty="0" err="1"/>
              <a:t>Förderschwerpunkt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Der </a:t>
            </a:r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Datensatz</a:t>
            </a:r>
            <a:r>
              <a:rPr lang="en-US" dirty="0"/>
              <a:t> </a:t>
            </a:r>
            <a:r>
              <a:rPr lang="en-US" dirty="0" err="1"/>
              <a:t>enthält</a:t>
            </a:r>
            <a:r>
              <a:rPr lang="en-US" dirty="0"/>
              <a:t> die </a:t>
            </a:r>
            <a:r>
              <a:rPr lang="en-US" dirty="0" err="1"/>
              <a:t>Gesamtschülerzahl</a:t>
            </a:r>
            <a:r>
              <a:rPr lang="en-US" dirty="0"/>
              <a:t> und </a:t>
            </a:r>
            <a:r>
              <a:rPr lang="en-US" dirty="0" err="1"/>
              <a:t>dient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Referenz</a:t>
            </a:r>
            <a:r>
              <a:rPr lang="en-US" dirty="0"/>
              <a:t> für die </a:t>
            </a:r>
            <a:r>
              <a:rPr lang="en-US" dirty="0" err="1"/>
              <a:t>Berechnung</a:t>
            </a:r>
            <a:r>
              <a:rPr lang="en-US" dirty="0"/>
              <a:t> des </a:t>
            </a:r>
            <a:r>
              <a:rPr lang="en-US" dirty="0" err="1"/>
              <a:t>Förderanteils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Für die </a:t>
            </a:r>
            <a:r>
              <a:rPr lang="en-US" dirty="0" err="1"/>
              <a:t>Datenaufbereitung</a:t>
            </a:r>
            <a:r>
              <a:rPr lang="en-US" dirty="0"/>
              <a:t> </a:t>
            </a:r>
            <a:r>
              <a:rPr lang="en-US" dirty="0" err="1"/>
              <a:t>wurden</a:t>
            </a:r>
            <a:r>
              <a:rPr lang="en-US" dirty="0"/>
              <a:t> „</a:t>
            </a:r>
            <a:r>
              <a:rPr lang="en-US" dirty="0" err="1"/>
              <a:t>Insgesamt</a:t>
            </a:r>
            <a:r>
              <a:rPr lang="en-US" dirty="0"/>
              <a:t>“-</a:t>
            </a:r>
            <a:r>
              <a:rPr lang="en-US" dirty="0" err="1"/>
              <a:t>Kategorien</a:t>
            </a:r>
            <a:r>
              <a:rPr lang="en-US" dirty="0"/>
              <a:t> </a:t>
            </a:r>
            <a:r>
              <a:rPr lang="en-US" dirty="0" err="1"/>
              <a:t>entfernt</a:t>
            </a:r>
            <a:r>
              <a:rPr lang="en-US" dirty="0"/>
              <a:t>, </a:t>
            </a:r>
          </a:p>
          <a:p>
            <a:r>
              <a:rPr lang="en-US" dirty="0" err="1"/>
              <a:t>weil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</a:t>
            </a:r>
            <a:r>
              <a:rPr lang="en-US" dirty="0" err="1"/>
              <a:t>bereits</a:t>
            </a:r>
            <a:r>
              <a:rPr lang="en-US" dirty="0"/>
              <a:t> </a:t>
            </a:r>
            <a:r>
              <a:rPr lang="en-US" dirty="0" err="1"/>
              <a:t>Summenwerte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und </a:t>
            </a:r>
            <a:r>
              <a:rPr lang="en-US" dirty="0" err="1"/>
              <a:t>sonst</a:t>
            </a:r>
            <a:r>
              <a:rPr lang="en-US" dirty="0"/>
              <a:t> </a:t>
            </a:r>
            <a:r>
              <a:rPr lang="en-US" dirty="0" err="1"/>
              <a:t>Doppelzählungen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verzerrte</a:t>
            </a:r>
            <a:r>
              <a:rPr lang="en-US" dirty="0"/>
              <a:t> </a:t>
            </a:r>
            <a:r>
              <a:rPr lang="en-US" dirty="0" err="1"/>
              <a:t>Anteile</a:t>
            </a:r>
            <a:r>
              <a:rPr lang="en-US" dirty="0"/>
              <a:t> </a:t>
            </a:r>
            <a:r>
              <a:rPr lang="en-US" dirty="0" err="1"/>
              <a:t>entstehen</a:t>
            </a:r>
            <a:r>
              <a:rPr lang="en-US" dirty="0"/>
              <a:t> </a:t>
            </a:r>
            <a:r>
              <a:rPr lang="en-US" dirty="0" err="1"/>
              <a:t>würden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Die </a:t>
            </a:r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basiert</a:t>
            </a:r>
            <a:r>
              <a:rPr lang="en-US" dirty="0"/>
              <a:t> </a:t>
            </a:r>
            <a:r>
              <a:rPr lang="en-US" dirty="0" err="1"/>
              <a:t>daher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auf </a:t>
            </a:r>
            <a:r>
              <a:rPr lang="en-US" dirty="0" err="1"/>
              <a:t>echten</a:t>
            </a:r>
            <a:r>
              <a:rPr lang="en-US" dirty="0"/>
              <a:t> </a:t>
            </a:r>
            <a:r>
              <a:rPr lang="en-US" dirty="0" err="1"/>
              <a:t>Detailkombinationen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Wichtig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: </a:t>
            </a:r>
          </a:p>
          <a:p>
            <a:r>
              <a:rPr lang="en-US" dirty="0"/>
              <a:t>Die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aggregiert</a:t>
            </a:r>
            <a:r>
              <a:rPr lang="en-US" dirty="0"/>
              <a:t>. </a:t>
            </a:r>
          </a:p>
          <a:p>
            <a:r>
              <a:rPr lang="en-US" dirty="0"/>
              <a:t>Ich </a:t>
            </a:r>
            <a:r>
              <a:rPr lang="en-US" dirty="0" err="1"/>
              <a:t>kann</a:t>
            </a:r>
            <a:r>
              <a:rPr lang="en-US" dirty="0"/>
              <a:t> also </a:t>
            </a:r>
            <a:r>
              <a:rPr lang="en-US" dirty="0" err="1"/>
              <a:t>Entwicklungen</a:t>
            </a:r>
            <a:r>
              <a:rPr lang="en-US" dirty="0"/>
              <a:t> und </a:t>
            </a:r>
            <a:r>
              <a:rPr lang="en-US" dirty="0" err="1"/>
              <a:t>Strukturen</a:t>
            </a:r>
            <a:r>
              <a:rPr lang="en-US" dirty="0"/>
              <a:t> </a:t>
            </a:r>
            <a:r>
              <a:rPr lang="en-US" dirty="0" err="1"/>
              <a:t>beschreiben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individuellen</a:t>
            </a:r>
            <a:r>
              <a:rPr lang="en-US" dirty="0"/>
              <a:t> </a:t>
            </a:r>
            <a:r>
              <a:rPr lang="en-US" dirty="0" err="1"/>
              <a:t>Ursachen</a:t>
            </a:r>
            <a:r>
              <a:rPr lang="en-US" dirty="0"/>
              <a:t> </a:t>
            </a:r>
            <a:r>
              <a:rPr lang="en-US" dirty="0" err="1"/>
              <a:t>nachweisen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//</a:t>
            </a:r>
            <a:r>
              <a:rPr lang="en-US" dirty="0" err="1"/>
              <a:t>Übergang</a:t>
            </a:r>
            <a:r>
              <a:rPr lang="en-US" dirty="0"/>
              <a:t>///</a:t>
            </a:r>
          </a:p>
          <a:p>
            <a:r>
              <a:rPr lang="en-US" dirty="0"/>
              <a:t>Auf </a:t>
            </a:r>
            <a:r>
              <a:rPr lang="en-US" dirty="0" err="1"/>
              <a:t>dieser</a:t>
            </a:r>
            <a:r>
              <a:rPr lang="en-US" dirty="0"/>
              <a:t> Basis </a:t>
            </a:r>
            <a:r>
              <a:rPr lang="en-US" dirty="0" err="1"/>
              <a:t>schauen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zweiten</a:t>
            </a:r>
            <a:r>
              <a:rPr lang="en-US" dirty="0"/>
              <a:t> Teil </a:t>
            </a:r>
            <a:r>
              <a:rPr lang="en-US" dirty="0" err="1"/>
              <a:t>jetzt</a:t>
            </a:r>
            <a:r>
              <a:rPr lang="en-US" dirty="0"/>
              <a:t> die </a:t>
            </a:r>
            <a:r>
              <a:rPr lang="en-US" dirty="0" err="1"/>
              <a:t>Entwicklung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Zeitverlauf</a:t>
            </a:r>
            <a:r>
              <a:rPr lang="en-US" dirty="0"/>
              <a:t> an.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Hier geht es um die tatsächliche Entwicklung und die strukturelle Zusammensetzung der Förderung.</a:t>
            </a:r>
          </a:p>
          <a:p>
            <a:endParaRPr lang="en-US"/>
          </a:p>
          <a:p>
            <a:r>
              <a:rPr lang="en-US"/>
              <a:t>Damit kommen wir zum Kern der Analyse.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Hier </a:t>
            </a:r>
            <a:r>
              <a:rPr lang="en-US" dirty="0" err="1"/>
              <a:t>sehen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die </a:t>
            </a:r>
            <a:r>
              <a:rPr lang="en-US" dirty="0" err="1"/>
              <a:t>Gesamtentwicklung</a:t>
            </a:r>
            <a:r>
              <a:rPr lang="en-US" dirty="0"/>
              <a:t> der </a:t>
            </a:r>
            <a:r>
              <a:rPr lang="en-US" dirty="0" err="1"/>
              <a:t>sonderpädagogischen</a:t>
            </a:r>
            <a:r>
              <a:rPr lang="en-US" dirty="0"/>
              <a:t> </a:t>
            </a:r>
            <a:r>
              <a:rPr lang="en-US" dirty="0" err="1"/>
              <a:t>Förderung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Links </a:t>
            </a:r>
            <a:r>
              <a:rPr lang="en-US" dirty="0" err="1"/>
              <a:t>ist</a:t>
            </a:r>
            <a:r>
              <a:rPr lang="en-US" dirty="0"/>
              <a:t> der </a:t>
            </a:r>
            <a:r>
              <a:rPr lang="en-US" dirty="0" err="1"/>
              <a:t>Gesamttrend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Y-</a:t>
            </a:r>
            <a:r>
              <a:rPr lang="en-US" dirty="0" err="1"/>
              <a:t>Achse</a:t>
            </a:r>
            <a:r>
              <a:rPr lang="en-US" dirty="0"/>
              <a:t> ab null </a:t>
            </a:r>
            <a:r>
              <a:rPr lang="en-US" dirty="0" err="1"/>
              <a:t>dargestellt</a:t>
            </a:r>
            <a:r>
              <a:rPr lang="en-US" dirty="0"/>
              <a:t>. </a:t>
            </a:r>
          </a:p>
          <a:p>
            <a:r>
              <a:rPr lang="en-US" dirty="0"/>
              <a:t>Das </a:t>
            </a:r>
            <a:r>
              <a:rPr lang="en-US" dirty="0" err="1"/>
              <a:t>gibt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unverzerrten</a:t>
            </a:r>
            <a:r>
              <a:rPr lang="en-US" dirty="0"/>
              <a:t> </a:t>
            </a:r>
            <a:r>
              <a:rPr lang="en-US" dirty="0" err="1"/>
              <a:t>Überblick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die </a:t>
            </a:r>
            <a:r>
              <a:rPr lang="en-US" dirty="0" err="1"/>
              <a:t>Größenordnung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Rechts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derselbe</a:t>
            </a:r>
            <a:r>
              <a:rPr lang="en-US" dirty="0"/>
              <a:t> </a:t>
            </a:r>
            <a:r>
              <a:rPr lang="en-US" dirty="0" err="1"/>
              <a:t>Verlauf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Detailansicht </a:t>
            </a:r>
            <a:r>
              <a:rPr lang="en-US" dirty="0" err="1"/>
              <a:t>dargestellt</a:t>
            </a:r>
            <a:r>
              <a:rPr lang="en-US" dirty="0"/>
              <a:t>. </a:t>
            </a:r>
          </a:p>
          <a:p>
            <a:r>
              <a:rPr lang="en-US" dirty="0"/>
              <a:t>Hier beginnt die Y-</a:t>
            </a:r>
            <a:r>
              <a:rPr lang="en-US" dirty="0" err="1"/>
              <a:t>Achse</a:t>
            </a:r>
            <a:r>
              <a:rPr lang="en-US" dirty="0"/>
              <a:t> nicht </a:t>
            </a:r>
            <a:r>
              <a:rPr lang="en-US" dirty="0" err="1"/>
              <a:t>bei</a:t>
            </a:r>
            <a:r>
              <a:rPr lang="en-US" dirty="0"/>
              <a:t> null, </a:t>
            </a:r>
            <a:r>
              <a:rPr lang="en-US" dirty="0" err="1"/>
              <a:t>sondern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bewusst</a:t>
            </a:r>
            <a:r>
              <a:rPr lang="en-US" dirty="0"/>
              <a:t> </a:t>
            </a:r>
            <a:r>
              <a:rPr lang="en-US" dirty="0" err="1"/>
              <a:t>eingezoomt</a:t>
            </a:r>
            <a:r>
              <a:rPr lang="en-US" dirty="0"/>
              <a:t>. </a:t>
            </a:r>
          </a:p>
          <a:p>
            <a:r>
              <a:rPr lang="en-US" dirty="0" err="1"/>
              <a:t>Dadurch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Veränderungen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Verlauf</a:t>
            </a:r>
            <a:r>
              <a:rPr lang="en-US" dirty="0"/>
              <a:t> </a:t>
            </a:r>
            <a:r>
              <a:rPr lang="en-US" dirty="0" err="1"/>
              <a:t>besser</a:t>
            </a:r>
            <a:r>
              <a:rPr lang="en-US" dirty="0"/>
              <a:t> </a:t>
            </a:r>
            <a:r>
              <a:rPr lang="en-US" dirty="0" err="1"/>
              <a:t>sichtbar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Das </a:t>
            </a:r>
            <a:r>
              <a:rPr lang="en-US" dirty="0" err="1"/>
              <a:t>nutze</a:t>
            </a:r>
            <a:r>
              <a:rPr lang="en-US" dirty="0"/>
              <a:t> ich </a:t>
            </a:r>
            <a:r>
              <a:rPr lang="en-US" dirty="0" err="1"/>
              <a:t>auch</a:t>
            </a:r>
            <a:r>
              <a:rPr lang="en-US" dirty="0"/>
              <a:t> auf </a:t>
            </a:r>
            <a:r>
              <a:rPr lang="en-US" dirty="0" err="1"/>
              <a:t>einigen</a:t>
            </a:r>
            <a:r>
              <a:rPr lang="en-US" dirty="0"/>
              <a:t> </a:t>
            </a:r>
            <a:r>
              <a:rPr lang="en-US" dirty="0" err="1"/>
              <a:t>weiteren</a:t>
            </a:r>
            <a:r>
              <a:rPr lang="en-US" dirty="0"/>
              <a:t> </a:t>
            </a:r>
            <a:r>
              <a:rPr lang="en-US" dirty="0" err="1"/>
              <a:t>Folien</a:t>
            </a:r>
            <a:r>
              <a:rPr lang="en-US" dirty="0"/>
              <a:t>:</a:t>
            </a:r>
          </a:p>
          <a:p>
            <a:r>
              <a:rPr lang="en-US" dirty="0"/>
              <a:t> Wenn es um die </a:t>
            </a:r>
            <a:r>
              <a:rPr lang="en-US" dirty="0" err="1"/>
              <a:t>Beantwortung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konkreten</a:t>
            </a:r>
            <a:r>
              <a:rPr lang="en-US" dirty="0"/>
              <a:t> </a:t>
            </a:r>
            <a:r>
              <a:rPr lang="en-US" dirty="0" err="1"/>
              <a:t>Analysefrage</a:t>
            </a:r>
            <a:r>
              <a:rPr lang="en-US" dirty="0"/>
              <a:t> </a:t>
            </a:r>
            <a:r>
              <a:rPr lang="en-US" dirty="0" err="1"/>
              <a:t>geht</a:t>
            </a:r>
            <a:r>
              <a:rPr lang="en-US" dirty="0"/>
              <a:t>, </a:t>
            </a:r>
            <a:r>
              <a:rPr lang="en-US" dirty="0" err="1"/>
              <a:t>hilft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angepasste</a:t>
            </a:r>
            <a:r>
              <a:rPr lang="en-US" dirty="0"/>
              <a:t> </a:t>
            </a:r>
            <a:r>
              <a:rPr lang="en-US" dirty="0" err="1"/>
              <a:t>Achse</a:t>
            </a:r>
            <a:r>
              <a:rPr lang="en-US" dirty="0"/>
              <a:t>, </a:t>
            </a:r>
          </a:p>
          <a:p>
            <a:r>
              <a:rPr lang="en-US" dirty="0"/>
              <a:t>Muster und </a:t>
            </a:r>
            <a:r>
              <a:rPr lang="en-US" dirty="0" err="1"/>
              <a:t>Brüche</a:t>
            </a:r>
            <a:r>
              <a:rPr lang="en-US" dirty="0"/>
              <a:t> </a:t>
            </a:r>
            <a:r>
              <a:rPr lang="en-US" dirty="0" err="1"/>
              <a:t>deutlicher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erkennen</a:t>
            </a:r>
            <a:r>
              <a:rPr lang="en-US" dirty="0"/>
              <a:t>.</a:t>
            </a:r>
          </a:p>
          <a:p>
            <a:r>
              <a:rPr lang="en-US" dirty="0"/>
              <a:t> Die Interpretation </a:t>
            </a:r>
            <a:r>
              <a:rPr lang="en-US" dirty="0" err="1"/>
              <a:t>erfolgt</a:t>
            </a:r>
            <a:r>
              <a:rPr lang="en-US" dirty="0"/>
              <a:t> </a:t>
            </a:r>
            <a:r>
              <a:rPr lang="en-US" dirty="0" err="1"/>
              <a:t>dabei</a:t>
            </a:r>
            <a:r>
              <a:rPr lang="en-US" dirty="0"/>
              <a:t> immer </a:t>
            </a:r>
            <a:r>
              <a:rPr lang="en-US" dirty="0" err="1"/>
              <a:t>mit</a:t>
            </a:r>
            <a:r>
              <a:rPr lang="en-US" dirty="0"/>
              <a:t> Blick auf die </a:t>
            </a:r>
            <a:r>
              <a:rPr lang="en-US" dirty="0" err="1"/>
              <a:t>Achsenskalierung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Inhaltlich</a:t>
            </a:r>
            <a:r>
              <a:rPr lang="en-US" dirty="0"/>
              <a:t> </a:t>
            </a:r>
            <a:r>
              <a:rPr lang="en-US" dirty="0" err="1"/>
              <a:t>sieht</a:t>
            </a:r>
            <a:r>
              <a:rPr lang="en-US" dirty="0"/>
              <a:t> man </a:t>
            </a:r>
            <a:r>
              <a:rPr lang="en-US" dirty="0" err="1"/>
              <a:t>zunächst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leichten</a:t>
            </a:r>
            <a:r>
              <a:rPr lang="en-US" dirty="0"/>
              <a:t> Rückgang bis </a:t>
            </a:r>
            <a:r>
              <a:rPr lang="en-US" dirty="0" err="1"/>
              <a:t>etwa</a:t>
            </a:r>
            <a:r>
              <a:rPr lang="en-US" dirty="0"/>
              <a:t> 2010. </a:t>
            </a:r>
          </a:p>
          <a:p>
            <a:r>
              <a:rPr lang="en-US" dirty="0"/>
              <a:t>Danach </a:t>
            </a:r>
            <a:r>
              <a:rPr lang="en-US" dirty="0" err="1"/>
              <a:t>folgt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kontinuierlicher</a:t>
            </a:r>
            <a:r>
              <a:rPr lang="en-US" dirty="0"/>
              <a:t> </a:t>
            </a:r>
            <a:r>
              <a:rPr lang="en-US" dirty="0" err="1"/>
              <a:t>Anstieg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Besonders</a:t>
            </a:r>
            <a:r>
              <a:rPr lang="en-US" dirty="0"/>
              <a:t> </a:t>
            </a:r>
            <a:r>
              <a:rPr lang="en-US" dirty="0" err="1"/>
              <a:t>auffällig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der </a:t>
            </a:r>
            <a:r>
              <a:rPr lang="en-US" dirty="0" err="1"/>
              <a:t>deutliche</a:t>
            </a:r>
            <a:r>
              <a:rPr lang="en-US" dirty="0"/>
              <a:t> Sprung ab 2017/2018. </a:t>
            </a:r>
          </a:p>
          <a:p>
            <a:r>
              <a:rPr lang="en-US" dirty="0"/>
              <a:t>Das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erster</a:t>
            </a:r>
            <a:r>
              <a:rPr lang="en-US" dirty="0"/>
              <a:t> </a:t>
            </a:r>
            <a:r>
              <a:rPr lang="en-US" dirty="0" err="1"/>
              <a:t>Hinweis</a:t>
            </a:r>
            <a:r>
              <a:rPr lang="en-US" dirty="0"/>
              <a:t> </a:t>
            </a:r>
            <a:r>
              <a:rPr lang="en-US" dirty="0" err="1"/>
              <a:t>darauf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die Dynamik </a:t>
            </a:r>
            <a:r>
              <a:rPr lang="en-US" dirty="0" err="1"/>
              <a:t>im</a:t>
            </a:r>
            <a:r>
              <a:rPr lang="en-US" dirty="0"/>
              <a:t> System ab </a:t>
            </a:r>
            <a:r>
              <a:rPr lang="en-US" dirty="0" err="1"/>
              <a:t>diesem</a:t>
            </a:r>
            <a:r>
              <a:rPr lang="en-US" dirty="0"/>
              <a:t> </a:t>
            </a:r>
            <a:r>
              <a:rPr lang="en-US" dirty="0" err="1"/>
              <a:t>Zeitpunkt</a:t>
            </a:r>
            <a:r>
              <a:rPr lang="en-US" dirty="0"/>
              <a:t> </a:t>
            </a:r>
            <a:r>
              <a:rPr lang="en-US" dirty="0" err="1"/>
              <a:t>verändert</a:t>
            </a:r>
            <a:r>
              <a:rPr lang="en-US" dirty="0"/>
              <a:t> hat.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//</a:t>
            </a:r>
            <a:r>
              <a:rPr lang="en-US" dirty="0" err="1"/>
              <a:t>Übergang</a:t>
            </a:r>
            <a:r>
              <a:rPr lang="en-US" dirty="0"/>
              <a:t>///</a:t>
            </a:r>
          </a:p>
          <a:p>
            <a:r>
              <a:rPr lang="en-US" dirty="0"/>
              <a:t>Die </a:t>
            </a:r>
            <a:r>
              <a:rPr lang="en-US" dirty="0" err="1"/>
              <a:t>spannende</a:t>
            </a:r>
            <a:r>
              <a:rPr lang="en-US" dirty="0"/>
              <a:t> Frage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jetzt</a:t>
            </a:r>
            <a:r>
              <a:rPr lang="en-US" dirty="0"/>
              <a:t>: </a:t>
            </a:r>
            <a:r>
              <a:rPr lang="en-US" dirty="0" err="1"/>
              <a:t>passiert</a:t>
            </a:r>
            <a:r>
              <a:rPr lang="en-US" dirty="0"/>
              <a:t> das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absolut</a:t>
            </a:r>
            <a:r>
              <a:rPr lang="en-US" dirty="0"/>
              <a:t> –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Gesamtsystem</a:t>
            </a:r>
            <a:r>
              <a:rPr lang="en-US" dirty="0"/>
              <a:t>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Hier sehen wir den Förderanteil – also den Anteil an allen Schülerinnen und Schülern.</a:t>
            </a:r>
          </a:p>
          <a:p>
            <a:endParaRPr lang="en-US"/>
          </a:p>
          <a:p>
            <a:r>
              <a:rPr lang="en-US"/>
              <a:t>Dieser steigt von etwa 4,7 % auf rund 6,9 %.</a:t>
            </a:r>
          </a:p>
          <a:p>
            <a:endParaRPr lang="en-US"/>
          </a:p>
          <a:p>
            <a:r>
              <a:rPr lang="en-US"/>
              <a:t>Das bedeutet:</a:t>
            </a:r>
          </a:p>
          <a:p>
            <a:r>
              <a:rPr lang="en-US"/>
              <a:t>Der Förderbedarf wächst nicht nur absolut, sondern auch relativ zum Gesamtsystem.</a:t>
            </a:r>
          </a:p>
          <a:p>
            <a:endParaRPr lang="en-US"/>
          </a:p>
          <a:p>
            <a:r>
              <a:rPr lang="en-US"/>
              <a:t>Die jährliche Veränderung zeigt zusätzlich:</a:t>
            </a:r>
          </a:p>
          <a:p>
            <a:r>
              <a:rPr lang="en-US"/>
              <a:t>Der stärkste Anstieg liegt ebenfalls im Zeitraum 2017/2018.</a:t>
            </a:r>
          </a:p>
          <a:p>
            <a:endParaRPr lang="en-US"/>
          </a:p>
          <a:p>
            <a:r>
              <a:rPr lang="en-US"/>
              <a:t>Das bestätigt den zuvor beobachteten Strukturbruch.</a:t>
            </a:r>
          </a:p>
          <a:p>
            <a:endParaRPr lang="en-US"/>
          </a:p>
          <a:p>
            <a:r>
              <a:rPr lang="en-US"/>
              <a:t>//Übergang///</a:t>
            </a:r>
          </a:p>
          <a:p>
            <a:r>
              <a:rPr lang="en-US"/>
              <a:t>Schauen wir uns nun an, wie sich diese Entwicklung auf verschiedene Schularten verteilt.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Diese Folie </a:t>
            </a:r>
            <a:r>
              <a:rPr lang="en-US" dirty="0" err="1"/>
              <a:t>zeigt</a:t>
            </a:r>
            <a:r>
              <a:rPr lang="en-US" dirty="0"/>
              <a:t>, in </a:t>
            </a:r>
            <a:r>
              <a:rPr lang="en-US" dirty="0" err="1"/>
              <a:t>welchen</a:t>
            </a:r>
            <a:r>
              <a:rPr lang="en-US" dirty="0"/>
              <a:t> </a:t>
            </a:r>
            <a:r>
              <a:rPr lang="en-US" dirty="0" err="1"/>
              <a:t>Schularten</a:t>
            </a:r>
            <a:r>
              <a:rPr lang="en-US" dirty="0"/>
              <a:t> </a:t>
            </a:r>
            <a:r>
              <a:rPr lang="en-US" dirty="0" err="1"/>
              <a:t>sonderpädagogische</a:t>
            </a:r>
            <a:r>
              <a:rPr lang="en-US" dirty="0"/>
              <a:t> </a:t>
            </a:r>
            <a:r>
              <a:rPr lang="en-US" dirty="0" err="1"/>
              <a:t>Förderung</a:t>
            </a:r>
            <a:r>
              <a:rPr lang="en-US" dirty="0"/>
              <a:t> </a:t>
            </a:r>
            <a:r>
              <a:rPr lang="en-US" dirty="0" err="1"/>
              <a:t>besonders</a:t>
            </a:r>
            <a:r>
              <a:rPr lang="en-US" dirty="0"/>
              <a:t> </a:t>
            </a:r>
            <a:r>
              <a:rPr lang="en-US" dirty="0" err="1"/>
              <a:t>sichtbar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Links </a:t>
            </a:r>
            <a:r>
              <a:rPr lang="en-US" dirty="0" err="1"/>
              <a:t>sieht</a:t>
            </a:r>
            <a:r>
              <a:rPr lang="en-US" dirty="0"/>
              <a:t> man die </a:t>
            </a:r>
            <a:r>
              <a:rPr lang="en-US" dirty="0" err="1"/>
              <a:t>Verteilung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den </a:t>
            </a:r>
            <a:r>
              <a:rPr lang="en-US" dirty="0" err="1"/>
              <a:t>gesamten</a:t>
            </a:r>
            <a:r>
              <a:rPr lang="en-US" dirty="0"/>
              <a:t> </a:t>
            </a:r>
            <a:r>
              <a:rPr lang="en-US" dirty="0" err="1"/>
              <a:t>Zeitraum</a:t>
            </a:r>
            <a:r>
              <a:rPr lang="en-US" dirty="0"/>
              <a:t>. </a:t>
            </a:r>
          </a:p>
          <a:p>
            <a:r>
              <a:rPr lang="en-US" dirty="0" err="1"/>
              <a:t>Förderschulen</a:t>
            </a:r>
            <a:r>
              <a:rPr lang="en-US" dirty="0"/>
              <a:t> </a:t>
            </a:r>
            <a:r>
              <a:rPr lang="en-US" dirty="0" err="1"/>
              <a:t>dominieren</a:t>
            </a:r>
            <a:r>
              <a:rPr lang="en-US" dirty="0"/>
              <a:t> </a:t>
            </a:r>
            <a:r>
              <a:rPr lang="en-US" dirty="0" err="1"/>
              <a:t>weiterhin</a:t>
            </a:r>
            <a:r>
              <a:rPr lang="en-US" dirty="0"/>
              <a:t> </a:t>
            </a:r>
            <a:r>
              <a:rPr lang="en-US" dirty="0" err="1"/>
              <a:t>deutlich</a:t>
            </a:r>
            <a:r>
              <a:rPr lang="en-US" dirty="0"/>
              <a:t>, was </a:t>
            </a:r>
            <a:r>
              <a:rPr lang="en-US" dirty="0" err="1"/>
              <a:t>fachlich</a:t>
            </a:r>
            <a:r>
              <a:rPr lang="en-US" dirty="0"/>
              <a:t> </a:t>
            </a:r>
            <a:r>
              <a:rPr lang="en-US" dirty="0" err="1"/>
              <a:t>plausibel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, da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Schulart</a:t>
            </a:r>
            <a:r>
              <a:rPr lang="en-US" dirty="0"/>
              <a:t> </a:t>
            </a:r>
            <a:r>
              <a:rPr lang="en-US" dirty="0" err="1"/>
              <a:t>speziell</a:t>
            </a:r>
            <a:r>
              <a:rPr lang="en-US" dirty="0"/>
              <a:t> auf </a:t>
            </a:r>
            <a:r>
              <a:rPr lang="en-US" dirty="0" err="1"/>
              <a:t>Förderung</a:t>
            </a:r>
            <a:r>
              <a:rPr lang="en-US" dirty="0"/>
              <a:t> </a:t>
            </a:r>
            <a:r>
              <a:rPr lang="en-US" dirty="0" err="1"/>
              <a:t>ausgerichtet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Rechts</a:t>
            </a:r>
            <a:r>
              <a:rPr lang="en-US" dirty="0"/>
              <a:t> </a:t>
            </a:r>
            <a:r>
              <a:rPr lang="en-US" dirty="0" err="1"/>
              <a:t>sieht</a:t>
            </a:r>
            <a:r>
              <a:rPr lang="en-US" dirty="0"/>
              <a:t> man </a:t>
            </a:r>
            <a:r>
              <a:rPr lang="en-US" dirty="0" err="1"/>
              <a:t>jedoch</a:t>
            </a:r>
            <a:r>
              <a:rPr lang="en-US" dirty="0"/>
              <a:t> die </a:t>
            </a:r>
            <a:r>
              <a:rPr lang="en-US" dirty="0" err="1"/>
              <a:t>Entwicklung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die Zeit. </a:t>
            </a:r>
          </a:p>
          <a:p>
            <a:r>
              <a:rPr lang="en-US" dirty="0" err="1"/>
              <a:t>Besonders</a:t>
            </a:r>
            <a:r>
              <a:rPr lang="en-US" dirty="0"/>
              <a:t> </a:t>
            </a:r>
            <a:r>
              <a:rPr lang="en-US" dirty="0" err="1"/>
              <a:t>Grundschulen</a:t>
            </a:r>
            <a:r>
              <a:rPr lang="en-US" dirty="0"/>
              <a:t> und </a:t>
            </a:r>
            <a:r>
              <a:rPr lang="en-US" dirty="0" err="1"/>
              <a:t>Schularten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drei</a:t>
            </a:r>
            <a:r>
              <a:rPr lang="en-US" dirty="0"/>
              <a:t> </a:t>
            </a:r>
            <a:r>
              <a:rPr lang="en-US" dirty="0" err="1"/>
              <a:t>Bildungsgängen</a:t>
            </a:r>
            <a:r>
              <a:rPr lang="en-US" dirty="0"/>
              <a:t> – also </a:t>
            </a:r>
            <a:r>
              <a:rPr lang="en-US" dirty="0" err="1"/>
              <a:t>Gesamtschule</a:t>
            </a:r>
            <a:r>
              <a:rPr lang="en-US" dirty="0"/>
              <a:t> – </a:t>
            </a:r>
            <a:r>
              <a:rPr lang="en-US" dirty="0" err="1"/>
              <a:t>nehmen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Das </a:t>
            </a:r>
            <a:r>
              <a:rPr lang="en-US" dirty="0" err="1"/>
              <a:t>deutet</a:t>
            </a:r>
            <a:r>
              <a:rPr lang="en-US" dirty="0"/>
              <a:t> </a:t>
            </a:r>
            <a:r>
              <a:rPr lang="en-US" dirty="0" err="1"/>
              <a:t>darauf</a:t>
            </a:r>
            <a:r>
              <a:rPr lang="en-US" dirty="0"/>
              <a:t> </a:t>
            </a:r>
            <a:r>
              <a:rPr lang="en-US" dirty="0" err="1"/>
              <a:t>hin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sonderpädagogische</a:t>
            </a:r>
            <a:r>
              <a:rPr lang="en-US" dirty="0"/>
              <a:t> </a:t>
            </a:r>
            <a:r>
              <a:rPr lang="en-US" dirty="0" err="1"/>
              <a:t>Förderung</a:t>
            </a:r>
            <a:r>
              <a:rPr lang="en-US" dirty="0"/>
              <a:t> </a:t>
            </a:r>
            <a:r>
              <a:rPr lang="en-US" dirty="0" err="1"/>
              <a:t>zunehmend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allgemeinen</a:t>
            </a:r>
            <a:r>
              <a:rPr lang="en-US" dirty="0"/>
              <a:t> </a:t>
            </a:r>
            <a:r>
              <a:rPr lang="en-US" dirty="0" err="1"/>
              <a:t>Schulsystem</a:t>
            </a:r>
            <a:r>
              <a:rPr lang="en-US" dirty="0"/>
              <a:t> </a:t>
            </a:r>
            <a:r>
              <a:rPr lang="en-US" dirty="0" err="1"/>
              <a:t>sichtbar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und nicht </a:t>
            </a:r>
            <a:r>
              <a:rPr lang="en-US" dirty="0" err="1"/>
              <a:t>ausschließlich</a:t>
            </a:r>
            <a:r>
              <a:rPr lang="en-US" dirty="0"/>
              <a:t> in </a:t>
            </a:r>
            <a:r>
              <a:rPr lang="en-US" dirty="0" err="1"/>
              <a:t>klassischen</a:t>
            </a:r>
            <a:r>
              <a:rPr lang="en-US" dirty="0"/>
              <a:t> </a:t>
            </a:r>
            <a:r>
              <a:rPr lang="en-US" dirty="0" err="1"/>
              <a:t>Förderschulen</a:t>
            </a:r>
            <a:r>
              <a:rPr lang="en-US" dirty="0"/>
              <a:t> </a:t>
            </a:r>
            <a:r>
              <a:rPr lang="en-US" dirty="0" err="1"/>
              <a:t>konzentriert</a:t>
            </a:r>
            <a:r>
              <a:rPr lang="en-US" dirty="0"/>
              <a:t> </a:t>
            </a:r>
            <a:r>
              <a:rPr lang="en-US" dirty="0" err="1"/>
              <a:t>bleibt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Wichtig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: Die </a:t>
            </a:r>
            <a:r>
              <a:rPr lang="en-US" dirty="0" err="1"/>
              <a:t>Darstellung</a:t>
            </a:r>
            <a:r>
              <a:rPr lang="en-US" dirty="0"/>
              <a:t> </a:t>
            </a:r>
            <a:r>
              <a:rPr lang="en-US" dirty="0" err="1"/>
              <a:t>zeigt</a:t>
            </a:r>
            <a:r>
              <a:rPr lang="en-US" dirty="0"/>
              <a:t> absolute </a:t>
            </a:r>
            <a:r>
              <a:rPr lang="en-US" dirty="0" err="1"/>
              <a:t>Fallzahlen</a:t>
            </a:r>
            <a:r>
              <a:rPr lang="en-US" dirty="0"/>
              <a:t> und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Anteile</a:t>
            </a:r>
            <a:r>
              <a:rPr lang="en-US" dirty="0"/>
              <a:t> </a:t>
            </a:r>
            <a:r>
              <a:rPr lang="en-US" dirty="0" err="1"/>
              <a:t>innerhalb</a:t>
            </a:r>
            <a:r>
              <a:rPr lang="en-US" dirty="0"/>
              <a:t> der </a:t>
            </a:r>
            <a:r>
              <a:rPr lang="en-US" dirty="0" err="1"/>
              <a:t>jeweiligen</a:t>
            </a:r>
            <a:r>
              <a:rPr lang="en-US" dirty="0"/>
              <a:t> </a:t>
            </a:r>
            <a:r>
              <a:rPr lang="en-US" dirty="0" err="1"/>
              <a:t>Schulart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//</a:t>
            </a:r>
            <a:r>
              <a:rPr lang="en-US" dirty="0" err="1"/>
              <a:t>Übergang</a:t>
            </a:r>
            <a:r>
              <a:rPr lang="en-US" dirty="0"/>
              <a:t>///</a:t>
            </a:r>
          </a:p>
          <a:p>
            <a:r>
              <a:rPr lang="en-US" dirty="0"/>
              <a:t>Das </a:t>
            </a:r>
            <a:r>
              <a:rPr lang="en-US" dirty="0" err="1"/>
              <a:t>bringt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zentralen</a:t>
            </a:r>
            <a:r>
              <a:rPr lang="en-US" dirty="0"/>
              <a:t> Frage: </a:t>
            </a:r>
            <a:r>
              <a:rPr lang="en-US" dirty="0" err="1"/>
              <a:t>Ist</a:t>
            </a:r>
            <a:r>
              <a:rPr lang="en-US" dirty="0"/>
              <a:t> das </a:t>
            </a:r>
            <a:r>
              <a:rPr lang="en-US" dirty="0" err="1"/>
              <a:t>Wachstum</a:t>
            </a:r>
            <a:r>
              <a:rPr lang="en-US" dirty="0"/>
              <a:t> rein </a:t>
            </a:r>
            <a:r>
              <a:rPr lang="en-US" dirty="0" err="1"/>
              <a:t>mengenbedingt</a:t>
            </a:r>
            <a:r>
              <a:rPr lang="en-US" dirty="0"/>
              <a:t> –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strukturell</a:t>
            </a:r>
            <a:r>
              <a:rPr lang="en-US" dirty="0"/>
              <a:t>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Diese</a:t>
            </a:r>
            <a:r>
              <a:rPr lang="en-US" dirty="0"/>
              <a:t> Folie </a:t>
            </a:r>
            <a:r>
              <a:rPr lang="en-US" dirty="0" err="1"/>
              <a:t>kombiniert</a:t>
            </a:r>
            <a:r>
              <a:rPr lang="en-US" dirty="0"/>
              <a:t> </a:t>
            </a:r>
            <a:r>
              <a:rPr lang="en-US" dirty="0" err="1"/>
              <a:t>zwei</a:t>
            </a:r>
            <a:r>
              <a:rPr lang="en-US" dirty="0"/>
              <a:t> </a:t>
            </a:r>
            <a:r>
              <a:rPr lang="en-US" dirty="0" err="1"/>
              <a:t>Perspektiven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Die </a:t>
            </a:r>
            <a:r>
              <a:rPr lang="en-US" dirty="0" err="1"/>
              <a:t>blaue</a:t>
            </a:r>
            <a:r>
              <a:rPr lang="en-US" dirty="0"/>
              <a:t> Linie </a:t>
            </a:r>
            <a:r>
              <a:rPr lang="en-US" dirty="0" err="1"/>
              <a:t>zeigt</a:t>
            </a:r>
            <a:r>
              <a:rPr lang="en-US" dirty="0"/>
              <a:t> die absolute Zahl der </a:t>
            </a:r>
            <a:r>
              <a:rPr lang="en-US" dirty="0" err="1"/>
              <a:t>Schülerinnen</a:t>
            </a:r>
            <a:r>
              <a:rPr lang="en-US" dirty="0"/>
              <a:t> und Schüler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sonderpädagogischer</a:t>
            </a:r>
            <a:r>
              <a:rPr lang="en-US" dirty="0"/>
              <a:t> </a:t>
            </a:r>
            <a:r>
              <a:rPr lang="en-US" dirty="0" err="1"/>
              <a:t>Förderung</a:t>
            </a:r>
            <a:r>
              <a:rPr lang="en-US" dirty="0"/>
              <a:t>. </a:t>
            </a:r>
          </a:p>
          <a:p>
            <a:r>
              <a:rPr lang="en-US" dirty="0"/>
              <a:t>Die rote Linie </a:t>
            </a:r>
            <a:r>
              <a:rPr lang="en-US" dirty="0" err="1"/>
              <a:t>zeigt</a:t>
            </a:r>
            <a:r>
              <a:rPr lang="en-US" dirty="0"/>
              <a:t> den </a:t>
            </a:r>
            <a:r>
              <a:rPr lang="en-US" dirty="0" err="1"/>
              <a:t>Förderanteil</a:t>
            </a:r>
            <a:r>
              <a:rPr lang="en-US" dirty="0"/>
              <a:t>, also den </a:t>
            </a:r>
            <a:r>
              <a:rPr lang="en-US" dirty="0" err="1"/>
              <a:t>Anteil</a:t>
            </a:r>
            <a:r>
              <a:rPr lang="en-US" dirty="0"/>
              <a:t> </a:t>
            </a:r>
            <a:r>
              <a:rPr lang="en-US" dirty="0" err="1"/>
              <a:t>dieser</a:t>
            </a:r>
            <a:r>
              <a:rPr lang="en-US" dirty="0"/>
              <a:t> Gruppe an </a:t>
            </a:r>
            <a:r>
              <a:rPr lang="en-US" dirty="0" err="1"/>
              <a:t>allen</a:t>
            </a:r>
            <a:r>
              <a:rPr lang="en-US" dirty="0"/>
              <a:t> </a:t>
            </a:r>
            <a:r>
              <a:rPr lang="en-US" dirty="0" err="1"/>
              <a:t>Schülerinnen</a:t>
            </a:r>
            <a:r>
              <a:rPr lang="en-US" dirty="0"/>
              <a:t> und </a:t>
            </a:r>
            <a:r>
              <a:rPr lang="en-US" dirty="0" err="1"/>
              <a:t>Schülern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wichtig</a:t>
            </a:r>
            <a:r>
              <a:rPr lang="en-US" dirty="0"/>
              <a:t>, </a:t>
            </a:r>
            <a:r>
              <a:rPr lang="en-US" dirty="0" err="1"/>
              <a:t>weil</a:t>
            </a:r>
            <a:r>
              <a:rPr lang="en-US" dirty="0"/>
              <a:t> absolute Zahlen </a:t>
            </a:r>
            <a:r>
              <a:rPr lang="en-US" dirty="0" err="1"/>
              <a:t>allein</a:t>
            </a:r>
            <a:r>
              <a:rPr lang="en-US" dirty="0"/>
              <a:t> nicht </a:t>
            </a:r>
            <a:r>
              <a:rPr lang="en-US" dirty="0" err="1"/>
              <a:t>ausreichen</a:t>
            </a:r>
            <a:r>
              <a:rPr lang="en-US" dirty="0"/>
              <a:t>. </a:t>
            </a:r>
          </a:p>
          <a:p>
            <a:r>
              <a:rPr lang="en-US" dirty="0"/>
              <a:t>Wenn es </a:t>
            </a:r>
            <a:r>
              <a:rPr lang="en-US" dirty="0" err="1"/>
              <a:t>insgesamt</a:t>
            </a:r>
            <a:r>
              <a:rPr lang="en-US" dirty="0"/>
              <a:t> </a:t>
            </a:r>
            <a:r>
              <a:rPr lang="en-US" dirty="0" err="1"/>
              <a:t>mehr</a:t>
            </a:r>
            <a:r>
              <a:rPr lang="en-US" dirty="0"/>
              <a:t> Schüler </a:t>
            </a:r>
            <a:r>
              <a:rPr lang="en-US" dirty="0" err="1"/>
              <a:t>gibt</a:t>
            </a:r>
            <a:r>
              <a:rPr lang="en-US" dirty="0"/>
              <a:t>, </a:t>
            </a:r>
            <a:r>
              <a:rPr lang="en-US" dirty="0" err="1"/>
              <a:t>können</a:t>
            </a:r>
            <a:r>
              <a:rPr lang="en-US" dirty="0"/>
              <a:t> absolute Zahlen </a:t>
            </a:r>
            <a:r>
              <a:rPr lang="en-US" dirty="0" err="1"/>
              <a:t>steigen</a:t>
            </a:r>
            <a:r>
              <a:rPr lang="en-US" dirty="0"/>
              <a:t>, </a:t>
            </a:r>
            <a:r>
              <a:rPr lang="en-US" dirty="0" err="1"/>
              <a:t>ohne</a:t>
            </a:r>
            <a:r>
              <a:rPr lang="en-US" dirty="0"/>
              <a:t>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der </a:t>
            </a:r>
            <a:r>
              <a:rPr lang="en-US" dirty="0" err="1"/>
              <a:t>Anteil</a:t>
            </a:r>
            <a:r>
              <a:rPr lang="en-US" dirty="0"/>
              <a:t> </a:t>
            </a:r>
            <a:r>
              <a:rPr lang="en-US" dirty="0" err="1"/>
              <a:t>verändert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Hier </a:t>
            </a:r>
            <a:r>
              <a:rPr lang="en-US" dirty="0" err="1"/>
              <a:t>sehen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: </a:t>
            </a:r>
            <a:r>
              <a:rPr lang="en-US" dirty="0" err="1"/>
              <a:t>Beide</a:t>
            </a:r>
            <a:r>
              <a:rPr lang="en-US" dirty="0"/>
              <a:t> Linien </a:t>
            </a:r>
            <a:r>
              <a:rPr lang="en-US" dirty="0" err="1"/>
              <a:t>steigen</a:t>
            </a:r>
            <a:r>
              <a:rPr lang="en-US" dirty="0"/>
              <a:t>. </a:t>
            </a:r>
          </a:p>
          <a:p>
            <a:r>
              <a:rPr lang="en-US" dirty="0"/>
              <a:t>Die Zahl der </a:t>
            </a:r>
            <a:r>
              <a:rPr lang="en-US" dirty="0" err="1"/>
              <a:t>Förderschüler</a:t>
            </a:r>
            <a:r>
              <a:rPr lang="en-US" dirty="0"/>
              <a:t> </a:t>
            </a:r>
            <a:r>
              <a:rPr lang="en-US" dirty="0" err="1"/>
              <a:t>nimmt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, und </a:t>
            </a:r>
            <a:r>
              <a:rPr lang="en-US" dirty="0" err="1"/>
              <a:t>gleichzeitig</a:t>
            </a:r>
            <a:r>
              <a:rPr lang="en-US" dirty="0"/>
              <a:t> </a:t>
            </a:r>
            <a:r>
              <a:rPr lang="en-US" dirty="0" err="1"/>
              <a:t>steigt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Anteil</a:t>
            </a:r>
            <a:r>
              <a:rPr lang="en-US" dirty="0"/>
              <a:t> am </a:t>
            </a:r>
            <a:r>
              <a:rPr lang="en-US" dirty="0" err="1"/>
              <a:t>Gesamtsystem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Das </a:t>
            </a:r>
            <a:r>
              <a:rPr lang="en-US" dirty="0" err="1"/>
              <a:t>bedeutet</a:t>
            </a:r>
            <a:r>
              <a:rPr lang="en-US" dirty="0"/>
              <a:t>: Der </a:t>
            </a:r>
            <a:r>
              <a:rPr lang="en-US" dirty="0" err="1"/>
              <a:t>Anstieg</a:t>
            </a:r>
            <a:r>
              <a:rPr lang="en-US" dirty="0"/>
              <a:t> </a:t>
            </a:r>
            <a:r>
              <a:rPr lang="en-US" dirty="0" err="1"/>
              <a:t>lässt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nicht </a:t>
            </a:r>
            <a:r>
              <a:rPr lang="en-US" dirty="0" err="1"/>
              <a:t>allein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mehr</a:t>
            </a:r>
            <a:r>
              <a:rPr lang="en-US" dirty="0"/>
              <a:t> </a:t>
            </a:r>
            <a:r>
              <a:rPr lang="en-US" dirty="0" err="1"/>
              <a:t>Schülerinnen</a:t>
            </a:r>
            <a:r>
              <a:rPr lang="en-US" dirty="0"/>
              <a:t> und Schüler </a:t>
            </a:r>
            <a:r>
              <a:rPr lang="en-US" dirty="0" err="1"/>
              <a:t>erklären</a:t>
            </a:r>
            <a:r>
              <a:rPr lang="en-US" dirty="0"/>
              <a:t>. </a:t>
            </a:r>
          </a:p>
          <a:p>
            <a:r>
              <a:rPr lang="en-US" dirty="0"/>
              <a:t>Es </a:t>
            </a:r>
            <a:r>
              <a:rPr lang="en-US" dirty="0" err="1"/>
              <a:t>deutet</a:t>
            </a:r>
            <a:r>
              <a:rPr lang="en-US" dirty="0"/>
              <a:t> </a:t>
            </a:r>
            <a:r>
              <a:rPr lang="en-US" dirty="0" err="1"/>
              <a:t>vielmehr</a:t>
            </a:r>
            <a:r>
              <a:rPr lang="en-US" dirty="0"/>
              <a:t> auf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strukturelle</a:t>
            </a:r>
            <a:r>
              <a:rPr lang="en-US" dirty="0"/>
              <a:t> </a:t>
            </a:r>
            <a:r>
              <a:rPr lang="en-US" dirty="0" err="1"/>
              <a:t>Entwicklung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Bildungssystem</a:t>
            </a:r>
            <a:r>
              <a:rPr lang="en-US" dirty="0"/>
              <a:t> </a:t>
            </a:r>
            <a:r>
              <a:rPr lang="en-US" dirty="0" err="1"/>
              <a:t>hin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Besonders</a:t>
            </a:r>
            <a:r>
              <a:rPr lang="en-US" dirty="0"/>
              <a:t> </a:t>
            </a:r>
            <a:r>
              <a:rPr lang="en-US" dirty="0" err="1"/>
              <a:t>auffällig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der </a:t>
            </a:r>
            <a:r>
              <a:rPr lang="en-US" dirty="0" err="1"/>
              <a:t>Bereich</a:t>
            </a:r>
            <a:r>
              <a:rPr lang="en-US" dirty="0"/>
              <a:t> ab 2017/2018. </a:t>
            </a:r>
          </a:p>
          <a:p>
            <a:r>
              <a:rPr lang="en-US" dirty="0"/>
              <a:t>Dort </a:t>
            </a:r>
            <a:r>
              <a:rPr lang="en-US" dirty="0" err="1"/>
              <a:t>steigen</a:t>
            </a:r>
            <a:r>
              <a:rPr lang="en-US" dirty="0"/>
              <a:t> </a:t>
            </a:r>
            <a:r>
              <a:rPr lang="en-US" dirty="0" err="1"/>
              <a:t>sowohl</a:t>
            </a:r>
            <a:r>
              <a:rPr lang="en-US" dirty="0"/>
              <a:t> die absolute Zahl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der </a:t>
            </a:r>
            <a:r>
              <a:rPr lang="en-US" dirty="0" err="1"/>
              <a:t>Förderanteil</a:t>
            </a:r>
            <a:r>
              <a:rPr lang="en-US" dirty="0"/>
              <a:t> </a:t>
            </a:r>
            <a:r>
              <a:rPr lang="en-US" dirty="0" err="1"/>
              <a:t>deutlich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Wichtig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: </a:t>
            </a:r>
            <a:r>
              <a:rPr lang="en-US" dirty="0" err="1"/>
              <a:t>Diese</a:t>
            </a:r>
            <a:r>
              <a:rPr lang="en-US" dirty="0"/>
              <a:t> Grafik </a:t>
            </a:r>
            <a:r>
              <a:rPr lang="en-US" dirty="0" err="1"/>
              <a:t>zeigt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Ursache. </a:t>
            </a:r>
          </a:p>
          <a:p>
            <a:r>
              <a:rPr lang="en-US" dirty="0"/>
              <a:t>Sie </a:t>
            </a:r>
            <a:r>
              <a:rPr lang="en-US" dirty="0" err="1"/>
              <a:t>zeigt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der </a:t>
            </a:r>
            <a:r>
              <a:rPr lang="en-US" dirty="0" err="1"/>
              <a:t>Förderbedarf</a:t>
            </a:r>
            <a:r>
              <a:rPr lang="en-US" dirty="0"/>
              <a:t>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Gesamtsystem</a:t>
            </a:r>
            <a:r>
              <a:rPr lang="en-US" dirty="0"/>
              <a:t> </a:t>
            </a:r>
            <a:r>
              <a:rPr lang="en-US" dirty="0" err="1"/>
              <a:t>zugenommen</a:t>
            </a:r>
            <a:r>
              <a:rPr lang="en-US" dirty="0"/>
              <a:t> hat.</a:t>
            </a:r>
          </a:p>
          <a:p>
            <a:endParaRPr lang="en-US" dirty="0"/>
          </a:p>
          <a:p>
            <a:r>
              <a:rPr lang="en-US" dirty="0"/>
              <a:t>//</a:t>
            </a:r>
            <a:r>
              <a:rPr lang="en-US" dirty="0" err="1"/>
              <a:t>Übergang</a:t>
            </a:r>
            <a:r>
              <a:rPr lang="en-US" dirty="0"/>
              <a:t>///</a:t>
            </a:r>
          </a:p>
          <a:p>
            <a:r>
              <a:rPr lang="en-US" dirty="0"/>
              <a:t>Wenn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tiefer</a:t>
            </a:r>
            <a:r>
              <a:rPr lang="en-US" dirty="0"/>
              <a:t> in die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gehen</a:t>
            </a:r>
            <a:r>
              <a:rPr lang="en-US" dirty="0"/>
              <a:t>, </a:t>
            </a:r>
            <a:r>
              <a:rPr lang="en-US" dirty="0" err="1"/>
              <a:t>stellt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die Frage: </a:t>
            </a:r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Bereiche</a:t>
            </a:r>
            <a:r>
              <a:rPr lang="en-US" dirty="0"/>
              <a:t> </a:t>
            </a:r>
            <a:r>
              <a:rPr lang="en-US" dirty="0" err="1"/>
              <a:t>treiben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Entwicklung</a:t>
            </a:r>
            <a:r>
              <a:rPr lang="en-US" dirty="0"/>
              <a:t>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Die Analyse der Förderschwerpunkte zeigt eine starke Konzentration.</a:t>
            </a:r>
          </a:p>
          <a:p>
            <a:endParaRPr lang="en-US"/>
          </a:p>
          <a:p>
            <a:r>
              <a:rPr lang="en-US"/>
              <a:t>Der Bereich ‚Lernen‘ ist mit Abstand der größte.</a:t>
            </a:r>
          </a:p>
          <a:p>
            <a:endParaRPr lang="en-US"/>
          </a:p>
          <a:p>
            <a:r>
              <a:rPr lang="en-US"/>
              <a:t>Danach folgen:</a:t>
            </a:r>
          </a:p>
          <a:p>
            <a:endParaRPr lang="en-US"/>
          </a:p>
          <a:p>
            <a:r>
              <a:rPr lang="en-US"/>
              <a:t>geistige Entwicklung</a:t>
            </a:r>
          </a:p>
          <a:p>
            <a:r>
              <a:rPr lang="en-US"/>
              <a:t>sowie emotionale und soziale Entwicklung</a:t>
            </a:r>
          </a:p>
          <a:p>
            <a:endParaRPr lang="en-US"/>
          </a:p>
          <a:p>
            <a:r>
              <a:rPr lang="en-US"/>
              <a:t>Das System ist also stark auf wenige Kategorien fokussiert.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//Übergang///</a:t>
            </a:r>
          </a:p>
          <a:p>
            <a:r>
              <a:rPr lang="en-US"/>
              <a:t>Interessant ist jetzt, wie sich diese Struktur im Zeitverlauf verändert.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Diese Folie </a:t>
            </a:r>
            <a:r>
              <a:rPr lang="en-US" dirty="0" err="1"/>
              <a:t>zeigt</a:t>
            </a:r>
            <a:r>
              <a:rPr lang="en-US" dirty="0"/>
              <a:t> die </a:t>
            </a:r>
            <a:r>
              <a:rPr lang="en-US" dirty="0" err="1"/>
              <a:t>wichtigsten</a:t>
            </a:r>
            <a:r>
              <a:rPr lang="en-US" dirty="0"/>
              <a:t> </a:t>
            </a:r>
            <a:r>
              <a:rPr lang="en-US" dirty="0" err="1"/>
              <a:t>Förderschwerpunkte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zwei</a:t>
            </a:r>
            <a:r>
              <a:rPr lang="en-US" dirty="0"/>
              <a:t> </a:t>
            </a:r>
            <a:r>
              <a:rPr lang="en-US" dirty="0" err="1"/>
              <a:t>Perspektiven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Links </a:t>
            </a:r>
            <a:r>
              <a:rPr lang="en-US" dirty="0" err="1"/>
              <a:t>sehen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die absolute </a:t>
            </a:r>
            <a:r>
              <a:rPr lang="en-US" dirty="0" err="1"/>
              <a:t>Entwicklung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Rechts</a:t>
            </a:r>
            <a:r>
              <a:rPr lang="en-US" dirty="0"/>
              <a:t> </a:t>
            </a:r>
            <a:r>
              <a:rPr lang="en-US" dirty="0" err="1"/>
              <a:t>sehen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den </a:t>
            </a:r>
            <a:r>
              <a:rPr lang="en-US" dirty="0" err="1"/>
              <a:t>Anteil</a:t>
            </a:r>
            <a:r>
              <a:rPr lang="en-US" dirty="0"/>
              <a:t> am </a:t>
            </a:r>
            <a:r>
              <a:rPr lang="en-US" dirty="0" err="1"/>
              <a:t>gesamten</a:t>
            </a:r>
            <a:r>
              <a:rPr lang="en-US" dirty="0"/>
              <a:t> </a:t>
            </a:r>
            <a:r>
              <a:rPr lang="en-US" dirty="0" err="1"/>
              <a:t>Fördervolumen</a:t>
            </a:r>
            <a:r>
              <a:rPr lang="en-US" dirty="0"/>
              <a:t>. </a:t>
            </a:r>
          </a:p>
          <a:p>
            <a:r>
              <a:rPr lang="en-US" dirty="0" err="1"/>
              <a:t>Dadurch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sichtbar</a:t>
            </a:r>
            <a:r>
              <a:rPr lang="en-US" dirty="0"/>
              <a:t>, </a:t>
            </a:r>
            <a:r>
              <a:rPr lang="en-US" dirty="0" err="1"/>
              <a:t>ob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Bereich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System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wichtiger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weniger</a:t>
            </a:r>
            <a:r>
              <a:rPr lang="en-US" dirty="0"/>
              <a:t> </a:t>
            </a:r>
            <a:r>
              <a:rPr lang="en-US" dirty="0" err="1"/>
              <a:t>wichtig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Der </a:t>
            </a:r>
            <a:r>
              <a:rPr lang="en-US" dirty="0" err="1"/>
              <a:t>Förderschwerpunkt</a:t>
            </a:r>
            <a:r>
              <a:rPr lang="en-US" dirty="0"/>
              <a:t> „</a:t>
            </a:r>
            <a:r>
              <a:rPr lang="en-US" dirty="0" err="1"/>
              <a:t>Lernen</a:t>
            </a:r>
            <a:r>
              <a:rPr lang="en-US" dirty="0"/>
              <a:t>“ </a:t>
            </a:r>
            <a:r>
              <a:rPr lang="en-US" dirty="0" err="1"/>
              <a:t>bleibt</a:t>
            </a:r>
            <a:r>
              <a:rPr lang="en-US" dirty="0"/>
              <a:t> </a:t>
            </a:r>
            <a:r>
              <a:rPr lang="en-US" dirty="0" err="1"/>
              <a:t>zwar</a:t>
            </a:r>
            <a:r>
              <a:rPr lang="en-US" dirty="0"/>
              <a:t> der </a:t>
            </a:r>
            <a:r>
              <a:rPr lang="en-US" dirty="0" err="1"/>
              <a:t>größte</a:t>
            </a:r>
            <a:r>
              <a:rPr lang="en-US" dirty="0"/>
              <a:t> </a:t>
            </a:r>
            <a:r>
              <a:rPr lang="en-US" dirty="0" err="1"/>
              <a:t>Bereich</a:t>
            </a:r>
            <a:r>
              <a:rPr lang="en-US" dirty="0"/>
              <a:t>, </a:t>
            </a:r>
            <a:r>
              <a:rPr lang="en-US" dirty="0" err="1"/>
              <a:t>verliert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deutlich</a:t>
            </a:r>
            <a:r>
              <a:rPr lang="en-US" dirty="0"/>
              <a:t> an </a:t>
            </a:r>
            <a:r>
              <a:rPr lang="en-US" dirty="0" err="1"/>
              <a:t>Bedeutung</a:t>
            </a:r>
            <a:r>
              <a:rPr lang="en-US" dirty="0"/>
              <a:t>. </a:t>
            </a:r>
          </a:p>
          <a:p>
            <a:r>
              <a:rPr lang="en-US" dirty="0"/>
              <a:t>Das </a:t>
            </a:r>
            <a:r>
              <a:rPr lang="en-US" dirty="0" err="1"/>
              <a:t>sieht</a:t>
            </a:r>
            <a:r>
              <a:rPr lang="en-US" dirty="0"/>
              <a:t> man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allem</a:t>
            </a:r>
            <a:r>
              <a:rPr lang="en-US" dirty="0"/>
              <a:t> </a:t>
            </a:r>
            <a:r>
              <a:rPr lang="en-US" dirty="0" err="1"/>
              <a:t>rechts</a:t>
            </a:r>
            <a:r>
              <a:rPr lang="en-US" dirty="0"/>
              <a:t>: Der </a:t>
            </a:r>
            <a:r>
              <a:rPr lang="en-US" dirty="0" err="1"/>
              <a:t>Anteil</a:t>
            </a:r>
            <a:r>
              <a:rPr lang="en-US" dirty="0"/>
              <a:t> </a:t>
            </a:r>
            <a:r>
              <a:rPr lang="en-US" dirty="0" err="1"/>
              <a:t>sinkt</a:t>
            </a:r>
            <a:r>
              <a:rPr lang="en-US" dirty="0"/>
              <a:t> </a:t>
            </a:r>
            <a:r>
              <a:rPr lang="en-US" dirty="0" err="1"/>
              <a:t>langfristig</a:t>
            </a:r>
            <a:r>
              <a:rPr lang="en-US" dirty="0"/>
              <a:t> von </a:t>
            </a:r>
            <a:r>
              <a:rPr lang="en-US" dirty="0" err="1"/>
              <a:t>über</a:t>
            </a:r>
            <a:r>
              <a:rPr lang="en-US" dirty="0"/>
              <a:t> der </a:t>
            </a:r>
            <a:r>
              <a:rPr lang="en-US" dirty="0" err="1"/>
              <a:t>Hälfte</a:t>
            </a:r>
            <a:r>
              <a:rPr lang="en-US" dirty="0"/>
              <a:t> auf </a:t>
            </a:r>
            <a:r>
              <a:rPr lang="en-US" dirty="0" err="1"/>
              <a:t>etwa</a:t>
            </a:r>
            <a:r>
              <a:rPr lang="en-US" dirty="0"/>
              <a:t> 40 </a:t>
            </a:r>
            <a:r>
              <a:rPr lang="en-US" dirty="0" err="1"/>
              <a:t>Prozent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Gleichzeitig</a:t>
            </a:r>
            <a:r>
              <a:rPr lang="en-US" dirty="0"/>
              <a:t> </a:t>
            </a:r>
            <a:r>
              <a:rPr lang="en-US" dirty="0" err="1"/>
              <a:t>wachsen</a:t>
            </a:r>
            <a:r>
              <a:rPr lang="en-US" dirty="0"/>
              <a:t> </a:t>
            </a:r>
            <a:r>
              <a:rPr lang="en-US" dirty="0" err="1"/>
              <a:t>insbesondere</a:t>
            </a:r>
            <a:r>
              <a:rPr lang="en-US" dirty="0"/>
              <a:t> „</a:t>
            </a:r>
            <a:r>
              <a:rPr lang="en-US" dirty="0" err="1"/>
              <a:t>emotionale</a:t>
            </a:r>
            <a:r>
              <a:rPr lang="en-US" dirty="0"/>
              <a:t> und </a:t>
            </a:r>
            <a:r>
              <a:rPr lang="en-US" dirty="0" err="1"/>
              <a:t>soziale</a:t>
            </a:r>
            <a:r>
              <a:rPr lang="en-US" dirty="0"/>
              <a:t> </a:t>
            </a:r>
            <a:r>
              <a:rPr lang="en-US" dirty="0" err="1"/>
              <a:t>Entwicklung</a:t>
            </a:r>
            <a:r>
              <a:rPr lang="en-US" dirty="0"/>
              <a:t>“ </a:t>
            </a:r>
            <a:r>
              <a:rPr lang="en-US" dirty="0" err="1"/>
              <a:t>sowie</a:t>
            </a:r>
            <a:r>
              <a:rPr lang="en-US" dirty="0"/>
              <a:t> „</a:t>
            </a:r>
            <a:r>
              <a:rPr lang="en-US" dirty="0" err="1"/>
              <a:t>geistige</a:t>
            </a:r>
            <a:r>
              <a:rPr lang="en-US" dirty="0"/>
              <a:t> </a:t>
            </a:r>
            <a:r>
              <a:rPr lang="en-US" dirty="0" err="1"/>
              <a:t>Entwicklung</a:t>
            </a:r>
            <a:r>
              <a:rPr lang="en-US" dirty="0"/>
              <a:t>“ </a:t>
            </a:r>
            <a:r>
              <a:rPr lang="en-US" dirty="0" err="1"/>
              <a:t>deutlich</a:t>
            </a:r>
            <a:r>
              <a:rPr lang="en-US" dirty="0"/>
              <a:t>. </a:t>
            </a:r>
          </a:p>
          <a:p>
            <a:r>
              <a:rPr lang="en-US" dirty="0"/>
              <a:t>Diese Bereiche </a:t>
            </a:r>
            <a:r>
              <a:rPr lang="en-US" dirty="0" err="1"/>
              <a:t>gewinnen</a:t>
            </a:r>
            <a:r>
              <a:rPr lang="en-US" dirty="0"/>
              <a:t> also nicht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absolut</a:t>
            </a:r>
            <a:r>
              <a:rPr lang="en-US" dirty="0"/>
              <a:t>, </a:t>
            </a:r>
            <a:r>
              <a:rPr lang="en-US" dirty="0" err="1"/>
              <a:t>sondern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strukturell</a:t>
            </a:r>
            <a:r>
              <a:rPr lang="en-US" dirty="0"/>
              <a:t> an </a:t>
            </a:r>
            <a:r>
              <a:rPr lang="en-US" dirty="0" err="1"/>
              <a:t>Bedeutung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Das </a:t>
            </a:r>
            <a:r>
              <a:rPr lang="en-US" dirty="0" err="1"/>
              <a:t>bedeutet</a:t>
            </a:r>
            <a:r>
              <a:rPr lang="en-US" dirty="0"/>
              <a:t>: Die </a:t>
            </a:r>
            <a:r>
              <a:rPr lang="en-US" dirty="0" err="1"/>
              <a:t>Förderung</a:t>
            </a:r>
            <a:r>
              <a:rPr lang="en-US" dirty="0"/>
              <a:t> </a:t>
            </a:r>
            <a:r>
              <a:rPr lang="en-US" dirty="0" err="1"/>
              <a:t>verteilt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zunehmend</a:t>
            </a:r>
            <a:r>
              <a:rPr lang="en-US" dirty="0"/>
              <a:t> </a:t>
            </a:r>
            <a:r>
              <a:rPr lang="en-US" dirty="0" err="1"/>
              <a:t>breiter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mehrere</a:t>
            </a:r>
            <a:r>
              <a:rPr lang="en-US" dirty="0"/>
              <a:t> </a:t>
            </a:r>
            <a:r>
              <a:rPr lang="en-US" dirty="0" err="1"/>
              <a:t>Schwerpunkte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Auffällig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Blick auf die </a:t>
            </a:r>
            <a:r>
              <a:rPr lang="en-US" dirty="0" err="1"/>
              <a:t>spätere</a:t>
            </a:r>
            <a:r>
              <a:rPr lang="en-US" dirty="0"/>
              <a:t> Migration-</a:t>
            </a:r>
            <a:r>
              <a:rPr lang="en-US" dirty="0" err="1"/>
              <a:t>Hypothese</a:t>
            </a:r>
            <a:r>
              <a:rPr lang="en-US" dirty="0"/>
              <a:t>: Der </a:t>
            </a:r>
            <a:r>
              <a:rPr lang="en-US" dirty="0" err="1"/>
              <a:t>Bereich</a:t>
            </a:r>
            <a:r>
              <a:rPr lang="en-US" dirty="0"/>
              <a:t> „</a:t>
            </a:r>
            <a:r>
              <a:rPr lang="en-US" dirty="0" err="1"/>
              <a:t>Sprache</a:t>
            </a:r>
            <a:r>
              <a:rPr lang="en-US" dirty="0"/>
              <a:t>“ </a:t>
            </a:r>
            <a:r>
              <a:rPr lang="en-US" dirty="0" err="1"/>
              <a:t>bleibt</a:t>
            </a:r>
            <a:r>
              <a:rPr lang="en-US" dirty="0"/>
              <a:t>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stabil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//</a:t>
            </a:r>
            <a:r>
              <a:rPr lang="en-US" dirty="0" err="1"/>
              <a:t>Übergang</a:t>
            </a:r>
            <a:r>
              <a:rPr lang="en-US" dirty="0"/>
              <a:t>///</a:t>
            </a:r>
          </a:p>
          <a:p>
            <a:r>
              <a:rPr lang="en-US" dirty="0"/>
              <a:t>Aber </a:t>
            </a:r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Bereiche</a:t>
            </a:r>
            <a:r>
              <a:rPr lang="en-US" dirty="0"/>
              <a:t> </a:t>
            </a:r>
            <a:r>
              <a:rPr lang="en-US" dirty="0" err="1"/>
              <a:t>treiben</a:t>
            </a:r>
            <a:r>
              <a:rPr lang="en-US" dirty="0"/>
              <a:t> </a:t>
            </a:r>
            <a:r>
              <a:rPr lang="en-US" dirty="0" err="1"/>
              <a:t>konkret</a:t>
            </a:r>
            <a:r>
              <a:rPr lang="en-US" dirty="0"/>
              <a:t> den </a:t>
            </a:r>
            <a:r>
              <a:rPr lang="en-US" dirty="0" err="1"/>
              <a:t>Anstieg</a:t>
            </a:r>
            <a:r>
              <a:rPr lang="en-US" dirty="0"/>
              <a:t> </a:t>
            </a:r>
            <a:r>
              <a:rPr lang="en-US" dirty="0" err="1"/>
              <a:t>seit</a:t>
            </a:r>
            <a:r>
              <a:rPr lang="en-US" dirty="0"/>
              <a:t> 2015?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Das </a:t>
            </a:r>
            <a:r>
              <a:rPr lang="en-US" dirty="0" err="1"/>
              <a:t>Wachstum</a:t>
            </a:r>
            <a:r>
              <a:rPr lang="en-US" dirty="0"/>
              <a:t> </a:t>
            </a:r>
            <a:r>
              <a:rPr lang="en-US" dirty="0" err="1"/>
              <a:t>seit</a:t>
            </a:r>
            <a:r>
              <a:rPr lang="en-US" dirty="0"/>
              <a:t> 2015 </a:t>
            </a:r>
            <a:r>
              <a:rPr lang="en-US" dirty="0" err="1"/>
              <a:t>verteilt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nicht </a:t>
            </a:r>
            <a:r>
              <a:rPr lang="en-US" dirty="0" err="1"/>
              <a:t>gleichmäßig</a:t>
            </a:r>
            <a:r>
              <a:rPr lang="en-US" dirty="0"/>
              <a:t> auf alle </a:t>
            </a:r>
            <a:r>
              <a:rPr lang="en-US" dirty="0" err="1"/>
              <a:t>Förderschwerpunkte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Am </a:t>
            </a:r>
            <a:r>
              <a:rPr lang="en-US" dirty="0" err="1"/>
              <a:t>stärksten</a:t>
            </a:r>
            <a:r>
              <a:rPr lang="en-US" dirty="0"/>
              <a:t> </a:t>
            </a:r>
            <a:r>
              <a:rPr lang="en-US" dirty="0" err="1"/>
              <a:t>trägt</a:t>
            </a:r>
            <a:r>
              <a:rPr lang="en-US" dirty="0"/>
              <a:t> „</a:t>
            </a:r>
            <a:r>
              <a:rPr lang="en-US" dirty="0" err="1"/>
              <a:t>Lernen</a:t>
            </a:r>
            <a:r>
              <a:rPr lang="en-US" dirty="0"/>
              <a:t>“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Anstieg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, </a:t>
            </a:r>
            <a:r>
              <a:rPr lang="en-US" dirty="0" err="1"/>
              <a:t>gefolgt</a:t>
            </a:r>
            <a:r>
              <a:rPr lang="en-US" dirty="0"/>
              <a:t> von „</a:t>
            </a:r>
            <a:r>
              <a:rPr lang="en-US" dirty="0" err="1"/>
              <a:t>geistige</a:t>
            </a:r>
            <a:r>
              <a:rPr lang="en-US" dirty="0"/>
              <a:t> </a:t>
            </a:r>
            <a:r>
              <a:rPr lang="en-US" dirty="0" err="1"/>
              <a:t>Entwicklung</a:t>
            </a:r>
            <a:r>
              <a:rPr lang="en-US" dirty="0"/>
              <a:t>“ </a:t>
            </a:r>
            <a:r>
              <a:rPr lang="en-US" dirty="0" err="1"/>
              <a:t>sowie</a:t>
            </a:r>
            <a:r>
              <a:rPr lang="en-US" dirty="0"/>
              <a:t> „</a:t>
            </a:r>
            <a:r>
              <a:rPr lang="en-US" dirty="0" err="1"/>
              <a:t>emotionale</a:t>
            </a:r>
            <a:r>
              <a:rPr lang="en-US" dirty="0"/>
              <a:t> und </a:t>
            </a:r>
            <a:r>
              <a:rPr lang="en-US" dirty="0" err="1"/>
              <a:t>soziale</a:t>
            </a:r>
            <a:r>
              <a:rPr lang="en-US" dirty="0"/>
              <a:t> </a:t>
            </a:r>
            <a:r>
              <a:rPr lang="en-US" dirty="0" err="1"/>
              <a:t>Entwicklung</a:t>
            </a:r>
            <a:r>
              <a:rPr lang="en-US" dirty="0"/>
              <a:t>“.</a:t>
            </a:r>
          </a:p>
          <a:p>
            <a:endParaRPr lang="en-US" dirty="0"/>
          </a:p>
          <a:p>
            <a:r>
              <a:rPr lang="en-US" dirty="0"/>
              <a:t>Der </a:t>
            </a:r>
            <a:r>
              <a:rPr lang="en-US" dirty="0" err="1"/>
              <a:t>Gesamtanstieg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also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allem</a:t>
            </a:r>
            <a:r>
              <a:rPr lang="en-US" dirty="0"/>
              <a:t> von </a:t>
            </a:r>
            <a:r>
              <a:rPr lang="en-US" dirty="0" err="1"/>
              <a:t>wenigen</a:t>
            </a:r>
            <a:r>
              <a:rPr lang="en-US" dirty="0"/>
              <a:t> </a:t>
            </a:r>
            <a:r>
              <a:rPr lang="en-US" dirty="0" err="1"/>
              <a:t>zentralen</a:t>
            </a:r>
            <a:r>
              <a:rPr lang="en-US" dirty="0"/>
              <a:t> </a:t>
            </a:r>
            <a:r>
              <a:rPr lang="en-US" dirty="0" err="1"/>
              <a:t>Bereichen</a:t>
            </a:r>
            <a:r>
              <a:rPr lang="en-US" dirty="0"/>
              <a:t> </a:t>
            </a:r>
            <a:r>
              <a:rPr lang="en-US" dirty="0" err="1"/>
              <a:t>geprägt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//</a:t>
            </a:r>
            <a:r>
              <a:rPr lang="en-US" dirty="0" err="1"/>
              <a:t>Übergang</a:t>
            </a:r>
            <a:r>
              <a:rPr lang="en-US" dirty="0"/>
              <a:t>///</a:t>
            </a:r>
          </a:p>
          <a:p>
            <a:r>
              <a:rPr lang="en-US" dirty="0" err="1"/>
              <a:t>Jetzt</a:t>
            </a:r>
            <a:r>
              <a:rPr lang="en-US" dirty="0"/>
              <a:t> </a:t>
            </a:r>
            <a:r>
              <a:rPr lang="en-US" dirty="0" err="1"/>
              <a:t>stellt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die Frage: </a:t>
            </a:r>
            <a:r>
              <a:rPr lang="en-US" dirty="0" err="1"/>
              <a:t>hängen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Entwicklungen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externen</a:t>
            </a:r>
            <a:r>
              <a:rPr lang="en-US" dirty="0"/>
              <a:t> </a:t>
            </a:r>
            <a:r>
              <a:rPr lang="en-US" dirty="0" err="1"/>
              <a:t>Ereignissen</a:t>
            </a:r>
            <a:r>
              <a:rPr lang="en-US" dirty="0"/>
              <a:t> </a:t>
            </a:r>
            <a:r>
              <a:rPr lang="en-US" dirty="0" err="1"/>
              <a:t>zusammen</a:t>
            </a:r>
            <a:r>
              <a:rPr lang="en-US" dirty="0"/>
              <a:t>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Hier sehen wir den Förderanteil im Kontext zentraler Ereignisse wie Migration und COVID.</a:t>
            </a:r>
          </a:p>
          <a:p>
            <a:endParaRPr lang="en-US"/>
          </a:p>
          <a:p>
            <a:r>
              <a:rPr lang="en-US"/>
              <a:t>Mehrere Zeitpunkte sind relevant.</a:t>
            </a:r>
          </a:p>
          <a:p>
            <a:endParaRPr lang="en-US"/>
          </a:p>
          <a:p>
            <a:r>
              <a:rPr lang="en-US"/>
              <a:t>Die stärkste Veränderung liegt jedoch klar ab 2017/2018.</a:t>
            </a:r>
          </a:p>
          <a:p>
            <a:endParaRPr lang="en-US"/>
          </a:p>
          <a:p>
            <a:r>
              <a:rPr lang="en-US"/>
              <a:t>Es gibt keinen eindeutigen Zusammenhang mit einem einzelnen Ereignis.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//Übergang///</a:t>
            </a:r>
          </a:p>
          <a:p>
            <a:r>
              <a:rPr lang="en-US"/>
              <a:t>Daraus ergeben sich zwei mögliche Hypothesen, die ich nun gezielt prüfe.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Dazu habe ich zwei Hypothesen formuliert:</a:t>
            </a:r>
          </a:p>
          <a:p>
            <a:endParaRPr lang="en-US"/>
          </a:p>
          <a:p>
            <a:r>
              <a:rPr lang="en-US"/>
              <a:t>Erstens:</a:t>
            </a:r>
          </a:p>
          <a:p>
            <a:r>
              <a:rPr lang="en-US"/>
              <a:t>Ein möglicher Zusammenhang mit der Migration ab 2015.</a:t>
            </a:r>
          </a:p>
          <a:p>
            <a:endParaRPr lang="en-US"/>
          </a:p>
          <a:p>
            <a:r>
              <a:rPr lang="en-US"/>
              <a:t>Zweitens:</a:t>
            </a:r>
          </a:p>
          <a:p>
            <a:r>
              <a:rPr lang="en-US"/>
              <a:t>Ein möglicher zusätzlicher Effekt durch COVID-19.</a:t>
            </a:r>
          </a:p>
          <a:p>
            <a:endParaRPr lang="en-US"/>
          </a:p>
          <a:p>
            <a:r>
              <a:rPr lang="en-US"/>
              <a:t>Wichtig ist:</a:t>
            </a:r>
          </a:p>
          <a:p>
            <a:r>
              <a:rPr lang="en-US"/>
              <a:t>Diese Hypothesen ergeben sich aus der Analyse – sie sind nicht der Ausgangspunkt, sondern eine weiterführende Einordnung.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der ersten Hypothese zur Migration:</a:t>
            </a:r>
          </a:p>
          <a:p>
            <a:endParaRPr lang="en-US"/>
          </a:p>
          <a:p>
            <a:r>
              <a:rPr lang="en-US"/>
              <a:t>Der Anstieg erfolgt tatsächlich zeitverzögert nach 2015.</a:t>
            </a:r>
          </a:p>
          <a:p>
            <a:endParaRPr lang="en-US"/>
          </a:p>
          <a:p>
            <a:r>
              <a:rPr lang="en-US"/>
              <a:t>Auch der Durchschnitt nach 2015 liegt höher als davor.</a:t>
            </a:r>
          </a:p>
          <a:p>
            <a:endParaRPr lang="en-US"/>
          </a:p>
          <a:p>
            <a:r>
              <a:rPr lang="en-US"/>
              <a:t>Es besteht also ein zeitlicher Zusammenhang.</a:t>
            </a:r>
          </a:p>
          <a:p>
            <a:endParaRPr lang="en-US"/>
          </a:p>
          <a:p>
            <a:r>
              <a:rPr lang="en-US"/>
              <a:t>Wichtig:</a:t>
            </a:r>
          </a:p>
          <a:p>
            <a:r>
              <a:rPr lang="en-US"/>
              <a:t>Dieser Zusammenhang ist nicht kausal belegbar, da keine direkten Migrationsdaten vorliegen.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//Übergang///</a:t>
            </a:r>
          </a:p>
          <a:p>
            <a:r>
              <a:rPr lang="en-US"/>
              <a:t>Schauen wir uns nun die zweite Hypothese Einfluss COVID-19 an.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Hier zeigt sich:</a:t>
            </a:r>
          </a:p>
          <a:p>
            <a:r>
              <a:rPr lang="en-US"/>
              <a:t>Es gibt keinen klaren zusätzlichen Sprung während COVID.</a:t>
            </a:r>
          </a:p>
          <a:p>
            <a:endParaRPr lang="en-US"/>
          </a:p>
          <a:p>
            <a:r>
              <a:rPr lang="en-US"/>
              <a:t>Der Trend setzt sich vielmehr fort.</a:t>
            </a:r>
          </a:p>
          <a:p>
            <a:endParaRPr lang="en-US"/>
          </a:p>
          <a:p>
            <a:r>
              <a:rPr lang="en-US"/>
              <a:t>Das deutet darauf hin, dass COVID eher ein Verstärker bestehender Entwicklungen ist – aber kein eigenständiger Treiber.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Zusammenfassend</a:t>
            </a:r>
            <a:r>
              <a:rPr lang="en-US" dirty="0"/>
              <a:t> </a:t>
            </a:r>
            <a:r>
              <a:rPr lang="en-US" dirty="0" err="1"/>
              <a:t>zeigt</a:t>
            </a:r>
            <a:r>
              <a:rPr lang="en-US" dirty="0"/>
              <a:t> die </a:t>
            </a:r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langfristigen</a:t>
            </a:r>
            <a:r>
              <a:rPr lang="en-US" dirty="0"/>
              <a:t> </a:t>
            </a:r>
            <a:r>
              <a:rPr lang="en-US" dirty="0" err="1"/>
              <a:t>Anstieg</a:t>
            </a:r>
            <a:r>
              <a:rPr lang="en-US" dirty="0"/>
              <a:t> der </a:t>
            </a:r>
            <a:r>
              <a:rPr lang="en-US" dirty="0" err="1"/>
              <a:t>sonderpädagogischen</a:t>
            </a:r>
            <a:r>
              <a:rPr lang="en-US" dirty="0"/>
              <a:t> </a:t>
            </a:r>
            <a:r>
              <a:rPr lang="en-US" dirty="0" err="1"/>
              <a:t>Förderung</a:t>
            </a:r>
            <a:r>
              <a:rPr lang="en-US" dirty="0"/>
              <a:t> in Deutschland.</a:t>
            </a:r>
          </a:p>
          <a:p>
            <a:endParaRPr lang="en-US" dirty="0"/>
          </a:p>
          <a:p>
            <a:r>
              <a:rPr lang="en-US" dirty="0"/>
              <a:t>Der </a:t>
            </a:r>
            <a:r>
              <a:rPr lang="en-US" dirty="0" err="1"/>
              <a:t>Anstieg</a:t>
            </a:r>
            <a:r>
              <a:rPr lang="en-US" dirty="0"/>
              <a:t> </a:t>
            </a:r>
            <a:r>
              <a:rPr lang="en-US" dirty="0" err="1"/>
              <a:t>zeigt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nicht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absolut</a:t>
            </a:r>
            <a:r>
              <a:rPr lang="en-US" dirty="0"/>
              <a:t>, </a:t>
            </a:r>
            <a:r>
              <a:rPr lang="en-US" dirty="0" err="1"/>
              <a:t>sondern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Gesamtschülerzahl</a:t>
            </a:r>
            <a:r>
              <a:rPr lang="en-US" dirty="0"/>
              <a:t>. </a:t>
            </a:r>
          </a:p>
          <a:p>
            <a:r>
              <a:rPr lang="en-US" dirty="0"/>
              <a:t>Das </a:t>
            </a:r>
            <a:r>
              <a:rPr lang="en-US" dirty="0" err="1"/>
              <a:t>spricht</a:t>
            </a:r>
            <a:r>
              <a:rPr lang="en-US" dirty="0"/>
              <a:t> für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strukturelle</a:t>
            </a:r>
            <a:r>
              <a:rPr lang="en-US" dirty="0"/>
              <a:t> </a:t>
            </a:r>
            <a:r>
              <a:rPr lang="en-US" dirty="0" err="1"/>
              <a:t>Veränderung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Bildungssystem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Besonders</a:t>
            </a:r>
            <a:r>
              <a:rPr lang="en-US" dirty="0"/>
              <a:t> </a:t>
            </a:r>
            <a:r>
              <a:rPr lang="en-US" dirty="0" err="1"/>
              <a:t>sichtbar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Veränderung</a:t>
            </a:r>
            <a:r>
              <a:rPr lang="en-US" dirty="0"/>
              <a:t> ab </a:t>
            </a:r>
            <a:r>
              <a:rPr lang="en-US" dirty="0" err="1"/>
              <a:t>etwa</a:t>
            </a:r>
            <a:r>
              <a:rPr lang="en-US" dirty="0"/>
              <a:t> 2017/2018. </a:t>
            </a:r>
          </a:p>
          <a:p>
            <a:r>
              <a:rPr lang="en-US" dirty="0" err="1"/>
              <a:t>Gleichzeitig</a:t>
            </a:r>
            <a:r>
              <a:rPr lang="en-US" dirty="0"/>
              <a:t> </a:t>
            </a:r>
            <a:r>
              <a:rPr lang="en-US" dirty="0" err="1"/>
              <a:t>verschiebt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die </a:t>
            </a:r>
            <a:r>
              <a:rPr lang="en-US" dirty="0" err="1"/>
              <a:t>Struktur</a:t>
            </a:r>
            <a:r>
              <a:rPr lang="en-US" dirty="0"/>
              <a:t> der </a:t>
            </a:r>
            <a:r>
              <a:rPr lang="en-US" dirty="0" err="1"/>
              <a:t>Förderschwerpunkte</a:t>
            </a:r>
            <a:r>
              <a:rPr lang="en-US" dirty="0"/>
              <a:t>,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allem</a:t>
            </a:r>
            <a:r>
              <a:rPr lang="en-US" dirty="0"/>
              <a:t> in </a:t>
            </a:r>
            <a:r>
              <a:rPr lang="en-US" dirty="0" err="1"/>
              <a:t>Richtung</a:t>
            </a:r>
            <a:r>
              <a:rPr lang="en-US" dirty="0"/>
              <a:t> </a:t>
            </a:r>
            <a:r>
              <a:rPr lang="en-US" dirty="0" err="1"/>
              <a:t>emotionaler</a:t>
            </a:r>
            <a:r>
              <a:rPr lang="en-US" dirty="0"/>
              <a:t> und </a:t>
            </a:r>
            <a:r>
              <a:rPr lang="en-US" dirty="0" err="1"/>
              <a:t>sozialer</a:t>
            </a:r>
            <a:r>
              <a:rPr lang="en-US" dirty="0"/>
              <a:t> </a:t>
            </a:r>
            <a:r>
              <a:rPr lang="en-US" dirty="0" err="1"/>
              <a:t>Entwicklung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Die </a:t>
            </a:r>
            <a:r>
              <a:rPr lang="en-US" dirty="0" err="1"/>
              <a:t>Hypothesen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Migration und COVID-19 </a:t>
            </a:r>
            <a:r>
              <a:rPr lang="en-US" dirty="0" err="1"/>
              <a:t>zeigen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eindeutige</a:t>
            </a:r>
            <a:r>
              <a:rPr lang="en-US" dirty="0"/>
              <a:t> </a:t>
            </a:r>
            <a:r>
              <a:rPr lang="en-US" dirty="0" err="1"/>
              <a:t>einzelne</a:t>
            </a:r>
            <a:r>
              <a:rPr lang="en-US" dirty="0"/>
              <a:t> Ursache: </a:t>
            </a:r>
          </a:p>
          <a:p>
            <a:r>
              <a:rPr lang="en-US" dirty="0"/>
              <a:t>Migration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teilweise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zeitlicher</a:t>
            </a:r>
            <a:r>
              <a:rPr lang="en-US" dirty="0"/>
              <a:t> Zusammenhang </a:t>
            </a:r>
            <a:r>
              <a:rPr lang="en-US" dirty="0" err="1"/>
              <a:t>gestützt</a:t>
            </a:r>
            <a:r>
              <a:rPr lang="en-US" dirty="0"/>
              <a:t>, COVID-19 </a:t>
            </a:r>
            <a:r>
              <a:rPr lang="en-US" dirty="0" err="1"/>
              <a:t>zeigt</a:t>
            </a:r>
            <a:r>
              <a:rPr lang="en-US" dirty="0"/>
              <a:t> </a:t>
            </a:r>
            <a:r>
              <a:rPr lang="en-US" dirty="0" err="1"/>
              <a:t>keinen</a:t>
            </a:r>
            <a:r>
              <a:rPr lang="en-US" dirty="0"/>
              <a:t> </a:t>
            </a:r>
            <a:r>
              <a:rPr lang="en-US" dirty="0" err="1"/>
              <a:t>klar</a:t>
            </a:r>
            <a:r>
              <a:rPr lang="en-US" dirty="0"/>
              <a:t> </a:t>
            </a:r>
            <a:r>
              <a:rPr lang="en-US" dirty="0" err="1"/>
              <a:t>isolierbaren</a:t>
            </a:r>
            <a:r>
              <a:rPr lang="en-US" dirty="0"/>
              <a:t> </a:t>
            </a:r>
            <a:r>
              <a:rPr lang="en-US" dirty="0" err="1"/>
              <a:t>Effekt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Da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Datensatz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direkten</a:t>
            </a:r>
            <a:r>
              <a:rPr lang="en-US" dirty="0"/>
              <a:t> </a:t>
            </a:r>
            <a:r>
              <a:rPr lang="en-US" dirty="0" err="1"/>
              <a:t>Variablen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Migration </a:t>
            </a:r>
            <a:r>
              <a:rPr lang="en-US" dirty="0" err="1"/>
              <a:t>oder</a:t>
            </a:r>
            <a:r>
              <a:rPr lang="en-US" dirty="0"/>
              <a:t> COVID-19 </a:t>
            </a:r>
            <a:r>
              <a:rPr lang="en-US" dirty="0" err="1"/>
              <a:t>enthalten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,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kausalen</a:t>
            </a:r>
            <a:r>
              <a:rPr lang="en-US" dirty="0"/>
              <a:t> </a:t>
            </a:r>
            <a:r>
              <a:rPr lang="en-US" dirty="0" err="1"/>
              <a:t>Aussagen</a:t>
            </a:r>
            <a:r>
              <a:rPr lang="en-US" dirty="0"/>
              <a:t> </a:t>
            </a:r>
            <a:r>
              <a:rPr lang="en-US" dirty="0" err="1"/>
              <a:t>möglich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Insgesamt</a:t>
            </a:r>
            <a:r>
              <a:rPr lang="en-US" dirty="0"/>
              <a:t> </a:t>
            </a:r>
            <a:r>
              <a:rPr lang="en-US" dirty="0" err="1"/>
              <a:t>spricht</a:t>
            </a:r>
            <a:r>
              <a:rPr lang="en-US" dirty="0"/>
              <a:t> die </a:t>
            </a:r>
            <a:r>
              <a:rPr lang="en-US" dirty="0" err="1"/>
              <a:t>Analyse</a:t>
            </a:r>
            <a:r>
              <a:rPr lang="en-US" dirty="0"/>
              <a:t> für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strukturelle</a:t>
            </a:r>
            <a:r>
              <a:rPr lang="en-US" dirty="0"/>
              <a:t> Transformation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wachsendem</a:t>
            </a:r>
            <a:r>
              <a:rPr lang="en-US" dirty="0"/>
              <a:t> </a:t>
            </a:r>
            <a:r>
              <a:rPr lang="en-US" dirty="0" err="1"/>
              <a:t>Unterstützungsbedarf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Bildungssystem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Die </a:t>
            </a:r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deutet</a:t>
            </a:r>
            <a:r>
              <a:rPr lang="en-US" dirty="0"/>
              <a:t> </a:t>
            </a:r>
            <a:r>
              <a:rPr lang="en-US" dirty="0" err="1"/>
              <a:t>darauf</a:t>
            </a:r>
            <a:r>
              <a:rPr lang="en-US" dirty="0"/>
              <a:t> </a:t>
            </a:r>
            <a:r>
              <a:rPr lang="en-US" dirty="0" err="1"/>
              <a:t>hin</a:t>
            </a:r>
            <a:r>
              <a:rPr lang="en-US" dirty="0"/>
              <a:t>,</a:t>
            </a:r>
          </a:p>
          <a:p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mehrere</a:t>
            </a:r>
            <a:r>
              <a:rPr lang="en-US" dirty="0"/>
              <a:t> Faktoren </a:t>
            </a:r>
            <a:r>
              <a:rPr lang="en-US" dirty="0" err="1"/>
              <a:t>zusammenwirken</a:t>
            </a:r>
            <a:r>
              <a:rPr lang="en-US" dirty="0"/>
              <a:t> und </a:t>
            </a:r>
            <a:r>
              <a:rPr lang="en-US" dirty="0" err="1"/>
              <a:t>kein</a:t>
            </a:r>
            <a:r>
              <a:rPr lang="en-US" dirty="0"/>
              <a:t> </a:t>
            </a:r>
            <a:r>
              <a:rPr lang="en-US" dirty="0" err="1"/>
              <a:t>einzelner</a:t>
            </a:r>
            <a:r>
              <a:rPr lang="en-US" dirty="0"/>
              <a:t> </a:t>
            </a:r>
            <a:r>
              <a:rPr lang="en-US" dirty="0" err="1"/>
              <a:t>Auslöser</a:t>
            </a:r>
            <a:r>
              <a:rPr lang="en-US" dirty="0"/>
              <a:t> </a:t>
            </a:r>
            <a:r>
              <a:rPr lang="en-US" dirty="0" err="1"/>
              <a:t>verantwortlich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Vielen</a:t>
            </a:r>
            <a:r>
              <a:rPr lang="en-US" dirty="0"/>
              <a:t> Dank für </a:t>
            </a:r>
            <a:r>
              <a:rPr lang="en-US" dirty="0" err="1"/>
              <a:t>Ihre</a:t>
            </a:r>
            <a:r>
              <a:rPr lang="en-US" dirty="0"/>
              <a:t> </a:t>
            </a:r>
            <a:r>
              <a:rPr lang="en-US" dirty="0" err="1"/>
              <a:t>Aufmerksamkeit</a:t>
            </a:r>
            <a:r>
              <a:rPr lang="en-US" dirty="0"/>
              <a:t> –</a:t>
            </a:r>
          </a:p>
          <a:p>
            <a:r>
              <a:rPr lang="en-US" dirty="0"/>
              <a:t>ich </a:t>
            </a:r>
            <a:r>
              <a:rPr lang="en-US" dirty="0" err="1"/>
              <a:t>freue</a:t>
            </a:r>
            <a:r>
              <a:rPr lang="en-US" dirty="0"/>
              <a:t> </a:t>
            </a:r>
            <a:r>
              <a:rPr lang="en-US" dirty="0" err="1"/>
              <a:t>mich</a:t>
            </a:r>
            <a:r>
              <a:rPr lang="en-US" dirty="0"/>
              <a:t> auf </a:t>
            </a:r>
            <a:r>
              <a:rPr lang="en-US" dirty="0" err="1"/>
              <a:t>Ihre</a:t>
            </a:r>
            <a:r>
              <a:rPr lang="en-US" dirty="0"/>
              <a:t> </a:t>
            </a:r>
            <a:r>
              <a:rPr lang="en-US" dirty="0" err="1"/>
              <a:t>Fragen</a:t>
            </a:r>
            <a:r>
              <a:rPr lang="en-US" dirty="0"/>
              <a:t>.“</a:t>
            </a:r>
          </a:p>
          <a:p>
            <a:endParaRPr lang="en-US" dirty="0"/>
          </a:p>
          <a:p>
            <a:r>
              <a:rPr lang="en-US" dirty="0"/>
              <a:t>//</a:t>
            </a:r>
            <a:r>
              <a:rPr lang="en-US" dirty="0" err="1"/>
              <a:t>Übergang</a:t>
            </a:r>
            <a:r>
              <a:rPr lang="en-US" dirty="0"/>
              <a:t>///</a:t>
            </a:r>
          </a:p>
          <a:p>
            <a:r>
              <a:rPr lang="de-DE" dirty="0"/>
              <a:t>Ergänzend wäre es fachlich interessant, diese Analyse künftig um eine weitere Perspektive zu erweitern: </a:t>
            </a:r>
          </a:p>
          <a:p>
            <a:r>
              <a:rPr lang="de-DE" dirty="0"/>
              <a:t>nämlich um Schüler, bei denen möglicherweise ein Förderbedarf besteht, </a:t>
            </a:r>
          </a:p>
          <a:p>
            <a:r>
              <a:rPr lang="de-DE" dirty="0"/>
              <a:t>die aber aufgrund fehlender Ressourcen, Lehrkräftemangel, begrenzter Unterstützungssysteme oder Kapazitätsgrenzen in Förder- und Regelschulen nicht offiziell erfasst werden.</a:t>
            </a:r>
          </a:p>
          <a:p>
            <a:r>
              <a:rPr lang="de-DE" dirty="0"/>
              <a:t>Diese Gruppe erscheint in den Förderzahlen nicht direkt, könnte aber wichtig sein, </a:t>
            </a:r>
          </a:p>
          <a:p>
            <a:r>
              <a:rPr lang="de-DE" dirty="0"/>
              <a:t>um den tatsächlichen Unterstützungsbedarf im Bildungssystem noch realistischer einzuschätzen.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25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08597">
            <a:off x="14198417" y="5350254"/>
            <a:ext cx="5199973" cy="7277316"/>
          </a:xfrm>
          <a:custGeom>
            <a:avLst/>
            <a:gdLst/>
            <a:ahLst/>
            <a:cxnLst/>
            <a:rect l="l" t="t" r="r" b="b"/>
            <a:pathLst>
              <a:path w="5199973" h="7277316">
                <a:moveTo>
                  <a:pt x="0" y="0"/>
                </a:moveTo>
                <a:lnTo>
                  <a:pt x="5199973" y="0"/>
                </a:lnTo>
                <a:lnTo>
                  <a:pt x="5199973" y="7277315"/>
                </a:lnTo>
                <a:lnTo>
                  <a:pt x="0" y="7277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3" name="Group 3"/>
          <p:cNvGrpSpPr/>
          <p:nvPr/>
        </p:nvGrpSpPr>
        <p:grpSpPr>
          <a:xfrm>
            <a:off x="1744252" y="3237259"/>
            <a:ext cx="14799496" cy="4823281"/>
            <a:chOff x="0" y="0"/>
            <a:chExt cx="19732662" cy="6431041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19732662" cy="3457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 b="1" spc="560">
                  <a:solidFill>
                    <a:srgbClr val="001B3D"/>
                  </a:solidFill>
                  <a:latin typeface="Telegraf Heavy"/>
                  <a:ea typeface="Telegraf Heavy"/>
                  <a:cs typeface="Telegraf Heavy"/>
                  <a:sym typeface="Telegraf Heavy"/>
                </a:rPr>
                <a:t>Sonderpädagogischer Förderung </a:t>
              </a:r>
            </a:p>
            <a:p>
              <a:pPr algn="ctr">
                <a:lnSpc>
                  <a:spcPts val="6720"/>
                </a:lnSpc>
              </a:pPr>
              <a:r>
                <a:rPr lang="en-US" sz="5600" b="1" spc="560">
                  <a:solidFill>
                    <a:srgbClr val="001B3D"/>
                  </a:solidFill>
                  <a:latin typeface="Telegraf Heavy"/>
                  <a:ea typeface="Telegraf Heavy"/>
                  <a:cs typeface="Telegraf Heavy"/>
                  <a:sym typeface="Telegraf Heavy"/>
                </a:rPr>
                <a:t>in Deutschland </a:t>
              </a:r>
            </a:p>
            <a:p>
              <a:pPr algn="ctr">
                <a:lnSpc>
                  <a:spcPts val="6720"/>
                </a:lnSpc>
              </a:pPr>
              <a:r>
                <a:rPr lang="en-US" sz="5600" b="1" spc="560">
                  <a:solidFill>
                    <a:srgbClr val="001B3D"/>
                  </a:solidFill>
                  <a:latin typeface="Telegraf Heavy"/>
                  <a:ea typeface="Telegraf Heavy"/>
                  <a:cs typeface="Telegraf Heavy"/>
                  <a:sym typeface="Telegraf Heavy"/>
                </a:rPr>
                <a:t>(2000–2024)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084746" y="5192579"/>
              <a:ext cx="9563170" cy="1238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</a:pPr>
              <a:r>
                <a:rPr lang="en-US" sz="2799">
                  <a:solidFill>
                    <a:srgbClr val="001B3D"/>
                  </a:solidFill>
                  <a:latin typeface="Telegraf"/>
                  <a:ea typeface="Telegraf"/>
                  <a:cs typeface="Telegraf"/>
                  <a:sym typeface="Telegraf"/>
                </a:rPr>
                <a:t>Ayse Tosun</a:t>
              </a:r>
            </a:p>
            <a:p>
              <a:pPr algn="ctr">
                <a:lnSpc>
                  <a:spcPts val="3639"/>
                </a:lnSpc>
              </a:pPr>
              <a:r>
                <a:rPr lang="en-US" sz="2799">
                  <a:solidFill>
                    <a:srgbClr val="001B3D"/>
                  </a:solidFill>
                  <a:latin typeface="Telegraf"/>
                  <a:ea typeface="Telegraf"/>
                  <a:cs typeface="Telegraf"/>
                  <a:sym typeface="Telegraf"/>
                </a:rPr>
                <a:t>Data Analyst - Python Projekt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09792" y="3936245"/>
              <a:ext cx="12918319" cy="710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60"/>
                </a:lnSpc>
              </a:pPr>
              <a:r>
                <a:rPr lang="en-US" sz="3200" b="1">
                  <a:solidFill>
                    <a:srgbClr val="001B3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Entwicklung, Struktur und Einflussfaktoren</a:t>
              </a:r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-1250312">
            <a:off x="17527731" y="5311911"/>
            <a:ext cx="1026921" cy="435539"/>
            <a:chOff x="0" y="0"/>
            <a:chExt cx="2527300" cy="1071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Freeform 9"/>
          <p:cNvSpPr/>
          <p:nvPr/>
        </p:nvSpPr>
        <p:spPr>
          <a:xfrm>
            <a:off x="-1725689" y="515168"/>
            <a:ext cx="6645148" cy="5400693"/>
          </a:xfrm>
          <a:custGeom>
            <a:avLst/>
            <a:gdLst/>
            <a:ahLst/>
            <a:cxnLst/>
            <a:rect l="l" t="t" r="r" b="b"/>
            <a:pathLst>
              <a:path w="6645148" h="5400693">
                <a:moveTo>
                  <a:pt x="0" y="0"/>
                </a:moveTo>
                <a:lnTo>
                  <a:pt x="6645149" y="0"/>
                </a:lnTo>
                <a:lnTo>
                  <a:pt x="6645149" y="5400693"/>
                </a:lnTo>
                <a:lnTo>
                  <a:pt x="0" y="5400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>
            <a:off x="14052569" y="-927039"/>
            <a:ext cx="5491668" cy="4443259"/>
          </a:xfrm>
          <a:custGeom>
            <a:avLst/>
            <a:gdLst/>
            <a:ahLst/>
            <a:cxnLst/>
            <a:rect l="l" t="t" r="r" b="b"/>
            <a:pathLst>
              <a:path w="5491668" h="4443259">
                <a:moveTo>
                  <a:pt x="0" y="0"/>
                </a:moveTo>
                <a:lnTo>
                  <a:pt x="5491668" y="0"/>
                </a:lnTo>
                <a:lnTo>
                  <a:pt x="5491668" y="4443258"/>
                </a:lnTo>
                <a:lnTo>
                  <a:pt x="0" y="444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-839509">
            <a:off x="1518992" y="7913161"/>
            <a:ext cx="4066369" cy="3659732"/>
          </a:xfrm>
          <a:custGeom>
            <a:avLst/>
            <a:gdLst/>
            <a:ahLst/>
            <a:cxnLst/>
            <a:rect l="l" t="t" r="r" b="b"/>
            <a:pathLst>
              <a:path w="4066369" h="3659732">
                <a:moveTo>
                  <a:pt x="0" y="0"/>
                </a:moveTo>
                <a:lnTo>
                  <a:pt x="4066369" y="0"/>
                </a:lnTo>
                <a:lnTo>
                  <a:pt x="4066369" y="3659732"/>
                </a:lnTo>
                <a:lnTo>
                  <a:pt x="0" y="3659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>
            <a:off x="5195579" y="-278833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>
            <a:off x="16763027" y="4517888"/>
            <a:ext cx="560556" cy="523865"/>
          </a:xfrm>
          <a:custGeom>
            <a:avLst/>
            <a:gdLst/>
            <a:ahLst/>
            <a:cxnLst/>
            <a:rect l="l" t="t" r="r" b="b"/>
            <a:pathLst>
              <a:path w="560556" h="523865">
                <a:moveTo>
                  <a:pt x="0" y="0"/>
                </a:moveTo>
                <a:lnTo>
                  <a:pt x="560556" y="0"/>
                </a:lnTo>
                <a:lnTo>
                  <a:pt x="560556" y="523865"/>
                </a:lnTo>
                <a:lnTo>
                  <a:pt x="0" y="523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>
            <a:off x="7002704" y="9819227"/>
            <a:ext cx="582072" cy="543973"/>
          </a:xfrm>
          <a:custGeom>
            <a:avLst/>
            <a:gdLst/>
            <a:ahLst/>
            <a:cxnLst/>
            <a:rect l="l" t="t" r="r" b="b"/>
            <a:pathLst>
              <a:path w="582072" h="543973">
                <a:moveTo>
                  <a:pt x="0" y="0"/>
                </a:moveTo>
                <a:lnTo>
                  <a:pt x="582071" y="0"/>
                </a:lnTo>
                <a:lnTo>
                  <a:pt x="582071" y="543973"/>
                </a:lnTo>
                <a:lnTo>
                  <a:pt x="0" y="543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5"/>
          <p:cNvSpPr/>
          <p:nvPr/>
        </p:nvSpPr>
        <p:spPr>
          <a:xfrm>
            <a:off x="1028700" y="6461741"/>
            <a:ext cx="878815" cy="821293"/>
          </a:xfrm>
          <a:custGeom>
            <a:avLst/>
            <a:gdLst/>
            <a:ahLst/>
            <a:cxnLst/>
            <a:rect l="l" t="t" r="r" b="b"/>
            <a:pathLst>
              <a:path w="878815" h="821293">
                <a:moveTo>
                  <a:pt x="0" y="0"/>
                </a:moveTo>
                <a:lnTo>
                  <a:pt x="878815" y="0"/>
                </a:lnTo>
                <a:lnTo>
                  <a:pt x="878815" y="821293"/>
                </a:lnTo>
                <a:lnTo>
                  <a:pt x="0" y="8212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6"/>
          <p:cNvSpPr/>
          <p:nvPr/>
        </p:nvSpPr>
        <p:spPr>
          <a:xfrm>
            <a:off x="2593368" y="4189375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3"/>
                </a:lnTo>
                <a:lnTo>
                  <a:pt x="0" y="328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7"/>
          <p:cNvSpPr/>
          <p:nvPr/>
        </p:nvSpPr>
        <p:spPr>
          <a:xfrm>
            <a:off x="15424104" y="4877497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2"/>
                </a:lnTo>
                <a:lnTo>
                  <a:pt x="0" y="32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8"/>
          <p:cNvSpPr/>
          <p:nvPr/>
        </p:nvSpPr>
        <p:spPr>
          <a:xfrm>
            <a:off x="9575652" y="9578771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3"/>
                </a:lnTo>
                <a:lnTo>
                  <a:pt x="0" y="328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9"/>
          <p:cNvSpPr/>
          <p:nvPr/>
        </p:nvSpPr>
        <p:spPr>
          <a:xfrm>
            <a:off x="8641489" y="864444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2"/>
                </a:lnTo>
                <a:lnTo>
                  <a:pt x="0" y="32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5689600" cy="10402962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1812022">
            <a:off x="11421112" y="9906198"/>
            <a:ext cx="917835" cy="389273"/>
            <a:chOff x="0" y="0"/>
            <a:chExt cx="2527300" cy="10718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5" name="Freeform 5"/>
          <p:cNvSpPr/>
          <p:nvPr/>
        </p:nvSpPr>
        <p:spPr>
          <a:xfrm>
            <a:off x="490295" y="2193129"/>
            <a:ext cx="4709009" cy="5395740"/>
          </a:xfrm>
          <a:custGeom>
            <a:avLst/>
            <a:gdLst/>
            <a:ahLst/>
            <a:cxnLst/>
            <a:rect l="l" t="t" r="r" b="b"/>
            <a:pathLst>
              <a:path w="4709009" h="5395740">
                <a:moveTo>
                  <a:pt x="0" y="0"/>
                </a:moveTo>
                <a:lnTo>
                  <a:pt x="4709010" y="0"/>
                </a:lnTo>
                <a:lnTo>
                  <a:pt x="4709010" y="5395739"/>
                </a:lnTo>
                <a:lnTo>
                  <a:pt x="0" y="53957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644474" y="727444"/>
            <a:ext cx="4375895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Ablauf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9200" y="1718310"/>
            <a:ext cx="12598400" cy="671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1: </a:t>
            </a: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Ziel der Analyse &amp; Datengrundlage</a:t>
            </a:r>
          </a:p>
          <a:p>
            <a:pPr algn="l">
              <a:lnSpc>
                <a:spcPts val="480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2: </a:t>
            </a: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Gesamtentwicklung der Förderung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 Förderanteil und Dynamik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 Struktur nach Schularten und Förderschwerpunkten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 Treiber und strukturelle Verschiebungen</a:t>
            </a:r>
          </a:p>
          <a:p>
            <a:pPr algn="l">
              <a:lnSpc>
                <a:spcPts val="480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3: </a:t>
            </a: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Einordnung externer Einflussfaktoren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 Hypothesenprüfung (Migration &amp; COVID-19)</a:t>
            </a:r>
          </a:p>
          <a:p>
            <a:pPr algn="l">
              <a:lnSpc>
                <a:spcPts val="480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Fazit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57143" y="10036810"/>
            <a:ext cx="430857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 |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ream Abstract Brushstroke"/>
          <p:cNvSpPr/>
          <p:nvPr/>
        </p:nvSpPr>
        <p:spPr>
          <a:xfrm>
            <a:off x="8554212" y="8184400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Cream Abstract Brushstroke"/>
          <p:cNvSpPr/>
          <p:nvPr/>
        </p:nvSpPr>
        <p:spPr>
          <a:xfrm>
            <a:off x="14946400" y="772061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1222375" y="2555391"/>
            <a:ext cx="15843250" cy="517621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2252317" y="4317365"/>
            <a:ext cx="14170716" cy="164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6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1</a:t>
            </a:r>
          </a:p>
          <a:p>
            <a:pPr marL="0" lvl="0" indent="0" algn="ctr">
              <a:lnSpc>
                <a:spcPts val="6160"/>
              </a:lnSpc>
            </a:pPr>
            <a:r>
              <a:rPr lang="en-US" sz="56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Ziel der Analyse &amp; Datengrundlage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 |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ream Abstract Brushstroke"/>
          <p:cNvSpPr/>
          <p:nvPr/>
        </p:nvSpPr>
        <p:spPr>
          <a:xfrm>
            <a:off x="8554212" y="8184400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Cream Abstract Brushstroke"/>
          <p:cNvSpPr/>
          <p:nvPr/>
        </p:nvSpPr>
        <p:spPr>
          <a:xfrm>
            <a:off x="14946400" y="772061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1416050" y="3632200"/>
            <a:ext cx="15843250" cy="517621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1416050" y="3954006"/>
            <a:ext cx="15843250" cy="450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Analyse der Entwicklung sonderpädagogischer Förderung (2000–2024)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Fokus auf drei zentrale Aspekte: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- Zeitliche Entwicklung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- Strukturelle Zusammensetzung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- Mögliche Einflussfaktoren</a:t>
            </a: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Identifikation struktureller Veränderungen im Bildungssystem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58642" y="2132258"/>
            <a:ext cx="14170716" cy="110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9"/>
              </a:lnSpc>
            </a:pPr>
            <a:r>
              <a:rPr lang="en-US" sz="71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Ziel der Analyse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 | 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ream Abstract Brushstroke"/>
          <p:cNvSpPr/>
          <p:nvPr/>
        </p:nvSpPr>
        <p:spPr>
          <a:xfrm>
            <a:off x="16229358" y="619865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Cream Abstract Brushstroke"/>
          <p:cNvSpPr/>
          <p:nvPr/>
        </p:nvSpPr>
        <p:spPr>
          <a:xfrm>
            <a:off x="14946400" y="772061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2058642" y="881090"/>
            <a:ext cx="14170716" cy="110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9"/>
              </a:lnSpc>
            </a:pPr>
            <a:r>
              <a:rPr lang="en-US" sz="71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Datengrundlage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 | 19</a:t>
            </a:r>
          </a:p>
        </p:txBody>
      </p:sp>
      <p:sp>
        <p:nvSpPr>
          <p:cNvPr id="6" name="AutoShape 6"/>
          <p:cNvSpPr/>
          <p:nvPr/>
        </p:nvSpPr>
        <p:spPr>
          <a:xfrm>
            <a:off x="1301000" y="2096990"/>
            <a:ext cx="15958300" cy="795266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1403485" y="2168036"/>
            <a:ext cx="3760389" cy="7881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Quelle: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Zeitraum: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Analyseebene: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Zentrale Variablen: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Datenaufbereitung: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Wichtiger Hinweis: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87278" y="2168036"/>
            <a:ext cx="12172022" cy="7881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Destatis  / GENESIS-Online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2000–2024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Deutschland gesamt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Jahr                    Förderschwerpunkt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Schulart          Anzahl Schülerinnen und Schüler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Entfernung von „Insgesamt“-Kategorien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Ausschluss fehlender Werte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Fokus auf echte Detailkombinationen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Aggregierte Daten, keine individuellen Ursachen analysierbar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ream Abstract Brushstroke"/>
          <p:cNvSpPr/>
          <p:nvPr/>
        </p:nvSpPr>
        <p:spPr>
          <a:xfrm>
            <a:off x="8554212" y="8184400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Cream Abstract Brushstroke"/>
          <p:cNvSpPr/>
          <p:nvPr/>
        </p:nvSpPr>
        <p:spPr>
          <a:xfrm>
            <a:off x="14946400" y="772061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1416050" y="2555391"/>
            <a:ext cx="15843250" cy="517621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2136577" y="4317365"/>
            <a:ext cx="14170716" cy="164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6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2</a:t>
            </a:r>
          </a:p>
          <a:p>
            <a:pPr marL="0" lvl="0" indent="0" algn="ctr">
              <a:lnSpc>
                <a:spcPts val="6160"/>
              </a:lnSpc>
            </a:pPr>
            <a:r>
              <a:rPr lang="en-US" sz="56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Gesamtentwicklung &amp; Struktur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 |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323776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Gesamtentwicklung der sonderpädagogischen Förderung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9407" y="7536379"/>
            <a:ext cx="8256644" cy="2750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endParaRPr/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Leichter Rückgang bis ca. 2010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Danach kontinuierlicher Anstieg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Deutlicher Sprung ab 2017/2018</a:t>
            </a:r>
          </a:p>
          <a:p>
            <a:pPr algn="l">
              <a:lnSpc>
                <a:spcPts val="2115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>
            <a:off x="919407" y="2813508"/>
            <a:ext cx="15619719" cy="5486426"/>
          </a:xfrm>
          <a:custGeom>
            <a:avLst/>
            <a:gdLst/>
            <a:ahLst/>
            <a:cxnLst/>
            <a:rect l="l" t="t" r="r" b="b"/>
            <a:pathLst>
              <a:path w="15619719" h="5486426">
                <a:moveTo>
                  <a:pt x="0" y="0"/>
                </a:moveTo>
                <a:lnTo>
                  <a:pt x="15619720" y="0"/>
                </a:lnTo>
                <a:lnTo>
                  <a:pt x="15619720" y="5486427"/>
                </a:lnTo>
                <a:lnTo>
                  <a:pt x="0" y="5486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17857143" y="10036810"/>
            <a:ext cx="430857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 | 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323776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Förderanteil und Dynamik im Zeitverlauf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239520"/>
            <a:ext cx="8256644" cy="2141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Anteil steigt von ~4,7 % auf ~6,9 %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Wachstum überwiegend kontinuierlich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Deutlichster Anstieg ab 2017/2018</a:t>
            </a:r>
          </a:p>
          <a:p>
            <a:pPr algn="l">
              <a:lnSpc>
                <a:spcPts val="2115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28700" y="2597790"/>
            <a:ext cx="16230600" cy="5721287"/>
          </a:xfrm>
          <a:custGeom>
            <a:avLst/>
            <a:gdLst/>
            <a:ahLst/>
            <a:cxnLst/>
            <a:rect l="l" t="t" r="r" b="b"/>
            <a:pathLst>
              <a:path w="16230600" h="5721287">
                <a:moveTo>
                  <a:pt x="0" y="0"/>
                </a:moveTo>
                <a:lnTo>
                  <a:pt x="16230600" y="0"/>
                </a:lnTo>
                <a:lnTo>
                  <a:pt x="16230600" y="5721286"/>
                </a:lnTo>
                <a:lnTo>
                  <a:pt x="0" y="5721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7857143" y="10036810"/>
            <a:ext cx="430857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957840" y="2597790"/>
            <a:ext cx="15388631" cy="5982330"/>
          </a:xfrm>
          <a:custGeom>
            <a:avLst/>
            <a:gdLst/>
            <a:ahLst/>
            <a:cxnLst/>
            <a:rect l="l" t="t" r="r" b="b"/>
            <a:pathLst>
              <a:path w="15388631" h="5982330">
                <a:moveTo>
                  <a:pt x="0" y="0"/>
                </a:moveTo>
                <a:lnTo>
                  <a:pt x="15388631" y="0"/>
                </a:lnTo>
                <a:lnTo>
                  <a:pt x="15388631" y="5982330"/>
                </a:lnTo>
                <a:lnTo>
                  <a:pt x="0" y="5982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3014265" y="908896"/>
            <a:ext cx="1323776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Verteilung und Entwicklung nach Schularten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99200" y="7936400"/>
            <a:ext cx="10682721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Förderschulen dominieren weiterhin das System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Zunahme auch in allgemeinen Schularten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Hinweise auf stärkere Integration in Regelschulen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57143" y="10036810"/>
            <a:ext cx="430857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323776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Absolute vs. relative Entwickelung der Förderung</a:t>
            </a:r>
          </a:p>
        </p:txBody>
      </p:sp>
      <p:sp>
        <p:nvSpPr>
          <p:cNvPr id="4" name="Freeform 4"/>
          <p:cNvSpPr/>
          <p:nvPr/>
        </p:nvSpPr>
        <p:spPr>
          <a:xfrm>
            <a:off x="957840" y="2597790"/>
            <a:ext cx="12287158" cy="6097502"/>
          </a:xfrm>
          <a:custGeom>
            <a:avLst/>
            <a:gdLst/>
            <a:ahLst/>
            <a:cxnLst/>
            <a:rect l="l" t="t" r="r" b="b"/>
            <a:pathLst>
              <a:path w="12287158" h="6097502">
                <a:moveTo>
                  <a:pt x="0" y="0"/>
                </a:moveTo>
                <a:lnTo>
                  <a:pt x="12287157" y="0"/>
                </a:lnTo>
                <a:lnTo>
                  <a:pt x="12287157" y="6097502"/>
                </a:lnTo>
                <a:lnTo>
                  <a:pt x="0" y="609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957840" y="8389620"/>
            <a:ext cx="10682721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Absolute Zahlen steigen deutlich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Förderanteil steigt parallel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Wachstum nicht allein durch mehr Schüler erklärbar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953207" y="2597790"/>
            <a:ext cx="10691987" cy="6548842"/>
          </a:xfrm>
          <a:custGeom>
            <a:avLst/>
            <a:gdLst/>
            <a:ahLst/>
            <a:cxnLst/>
            <a:rect l="l" t="t" r="r" b="b"/>
            <a:pathLst>
              <a:path w="10691987" h="6548842">
                <a:moveTo>
                  <a:pt x="0" y="0"/>
                </a:moveTo>
                <a:lnTo>
                  <a:pt x="10691986" y="0"/>
                </a:lnTo>
                <a:lnTo>
                  <a:pt x="10691986" y="6548842"/>
                </a:lnTo>
                <a:lnTo>
                  <a:pt x="0" y="654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3014265" y="908896"/>
            <a:ext cx="1323776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Dominierende Förderschwerpunkte im Gesamtsystem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7625080"/>
            <a:ext cx="11479860" cy="2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“Lernen” mit Abstand größter Bereich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Danach: “geistige” sowie 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“emotionale/soziale Entwicklung”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starke Konzentration auf wenige Kategorien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672299" y="10036810"/>
            <a:ext cx="615701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957840" y="2597790"/>
            <a:ext cx="17330160" cy="5610639"/>
          </a:xfrm>
          <a:custGeom>
            <a:avLst/>
            <a:gdLst/>
            <a:ahLst/>
            <a:cxnLst/>
            <a:rect l="l" t="t" r="r" b="b"/>
            <a:pathLst>
              <a:path w="17330160" h="5610639">
                <a:moveTo>
                  <a:pt x="0" y="0"/>
                </a:moveTo>
                <a:lnTo>
                  <a:pt x="17330160" y="0"/>
                </a:lnTo>
                <a:lnTo>
                  <a:pt x="17330160" y="5610639"/>
                </a:lnTo>
                <a:lnTo>
                  <a:pt x="0" y="5610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3014265" y="908896"/>
            <a:ext cx="15273735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Entwicklung und strukturelle Verschiebung der Top 5 Förderschwerpunkte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7840" y="8340725"/>
            <a:ext cx="11479860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“Lernen” nimmt relativ an Bedeutung ab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“emotionale” &amp; “soziale Förderung” wächst stark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Verschiebung innerhalb des Systems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695404" y="10036810"/>
            <a:ext cx="592596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1028700" y="2799127"/>
            <a:ext cx="11030960" cy="6990871"/>
          </a:xfrm>
          <a:custGeom>
            <a:avLst/>
            <a:gdLst/>
            <a:ahLst/>
            <a:cxnLst/>
            <a:rect l="l" t="t" r="r" b="b"/>
            <a:pathLst>
              <a:path w="11030960" h="6990871">
                <a:moveTo>
                  <a:pt x="0" y="0"/>
                </a:moveTo>
                <a:lnTo>
                  <a:pt x="11030960" y="0"/>
                </a:lnTo>
                <a:lnTo>
                  <a:pt x="11030960" y="6990871"/>
                </a:lnTo>
                <a:lnTo>
                  <a:pt x="0" y="6990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3014265" y="908896"/>
            <a:ext cx="15273735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Beitrag der Förderschwerpunkte zum Anstieg seit 2015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85272" y="4041660"/>
            <a:ext cx="7021674" cy="366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Wachstum wird von wenigen 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Bereichen getragen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insbesondere „Lernen“ 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und „soziale Entwicklung“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andere Kategorien stagnieren 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oder sinken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18510" y="10036810"/>
            <a:ext cx="569490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13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5273735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Einordnung der Entwicklung im Kontext externer Ereignisse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7840" y="8271510"/>
            <a:ext cx="13536378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mehrere relevante Zeitpunkte (Migration, COVID etc.)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stärkste Veränderung ab 2017/2018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kein klarer Zusammenhang mit einem einzelnen Ereignis</a:t>
            </a:r>
          </a:p>
        </p:txBody>
      </p:sp>
      <p:sp>
        <p:nvSpPr>
          <p:cNvPr id="5" name="Freeform 5"/>
          <p:cNvSpPr/>
          <p:nvPr/>
        </p:nvSpPr>
        <p:spPr>
          <a:xfrm>
            <a:off x="957840" y="2597790"/>
            <a:ext cx="12402957" cy="5674353"/>
          </a:xfrm>
          <a:custGeom>
            <a:avLst/>
            <a:gdLst/>
            <a:ahLst/>
            <a:cxnLst/>
            <a:rect l="l" t="t" r="r" b="b"/>
            <a:pathLst>
              <a:path w="12402957" h="5674353">
                <a:moveTo>
                  <a:pt x="0" y="0"/>
                </a:moveTo>
                <a:lnTo>
                  <a:pt x="12402956" y="0"/>
                </a:lnTo>
                <a:lnTo>
                  <a:pt x="12402956" y="5674352"/>
                </a:lnTo>
                <a:lnTo>
                  <a:pt x="0" y="5674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7730062" y="10036810"/>
            <a:ext cx="557938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14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ream Abstract Brushstroke"/>
          <p:cNvSpPr/>
          <p:nvPr/>
        </p:nvSpPr>
        <p:spPr>
          <a:xfrm>
            <a:off x="8554212" y="8184400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Cream Abstract Brushstroke"/>
          <p:cNvSpPr/>
          <p:nvPr/>
        </p:nvSpPr>
        <p:spPr>
          <a:xfrm>
            <a:off x="15879404" y="2313262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1416050" y="4329113"/>
            <a:ext cx="7340600" cy="3816350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2106267" y="5058728"/>
            <a:ext cx="6400612" cy="226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H1:</a:t>
            </a: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Die verstärkte Zuwanderung ab 2015 hängt mit einem zeitverzögerten Anstieg des Förderanteils zusammen.</a:t>
            </a:r>
          </a:p>
        </p:txBody>
      </p:sp>
      <p:sp>
        <p:nvSpPr>
          <p:cNvPr id="6" name="AutoShape 6"/>
          <p:cNvSpPr/>
          <p:nvPr/>
        </p:nvSpPr>
        <p:spPr>
          <a:xfrm>
            <a:off x="9531350" y="4329113"/>
            <a:ext cx="7340600" cy="3816350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10520650" y="5019675"/>
            <a:ext cx="7052975" cy="169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H2:</a:t>
            </a: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COVID-19 führte zu einem starken zusätzlichen Anstieg </a:t>
            </a:r>
          </a:p>
          <a:p>
            <a:pPr marL="0" lvl="0" indent="0"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des Förderanteils.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58642" y="1470906"/>
            <a:ext cx="14170716" cy="242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6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3</a:t>
            </a:r>
          </a:p>
          <a:p>
            <a:pPr marL="0" lvl="0" indent="0" algn="ctr">
              <a:lnSpc>
                <a:spcPts val="6160"/>
              </a:lnSpc>
            </a:pPr>
            <a:r>
              <a:rPr lang="en-US" sz="56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Hypothesen der Analyse</a:t>
            </a:r>
          </a:p>
          <a:p>
            <a:pPr marL="0" lvl="0" indent="0" algn="ctr">
              <a:lnSpc>
                <a:spcPts val="6160"/>
              </a:lnSpc>
            </a:pPr>
            <a:r>
              <a:rPr lang="en-US" sz="56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(externe Einflussfaktoren)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15 |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5273735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Hypothese 1: Migration ab 2015 → </a:t>
            </a:r>
          </a:p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                          zeitverzögerter Anstieg des Förderanteils?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7840" y="8234680"/>
            <a:ext cx="13004823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Anstieg erfolgt zeitverzögert nach 2015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Durchschnitt nach 2015 höher als davor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Zeitlicher Zusammenhang sichtbar, aber nicht eindeutig kausal</a:t>
            </a:r>
          </a:p>
        </p:txBody>
      </p:sp>
      <p:sp>
        <p:nvSpPr>
          <p:cNvPr id="5" name="Freeform 5"/>
          <p:cNvSpPr/>
          <p:nvPr/>
        </p:nvSpPr>
        <p:spPr>
          <a:xfrm>
            <a:off x="957840" y="2928558"/>
            <a:ext cx="15684976" cy="5509348"/>
          </a:xfrm>
          <a:custGeom>
            <a:avLst/>
            <a:gdLst/>
            <a:ahLst/>
            <a:cxnLst/>
            <a:rect l="l" t="t" r="r" b="b"/>
            <a:pathLst>
              <a:path w="15684976" h="5509348">
                <a:moveTo>
                  <a:pt x="0" y="0"/>
                </a:moveTo>
                <a:lnTo>
                  <a:pt x="15684975" y="0"/>
                </a:lnTo>
                <a:lnTo>
                  <a:pt x="15684975" y="5509348"/>
                </a:lnTo>
                <a:lnTo>
                  <a:pt x="0" y="5509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6034326" y="2097410"/>
            <a:ext cx="9478093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1B3D"/>
                </a:solidFill>
                <a:latin typeface="Roboto"/>
                <a:ea typeface="Roboto"/>
                <a:cs typeface="Roboto"/>
                <a:sym typeface="Roboto"/>
              </a:rPr>
              <a:t>Erwartung: Anstieg mit zeitlicher Verzögerung nach 2015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16 | 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3</a:t>
            </a:r>
          </a:p>
        </p:txBody>
      </p:sp>
      <p:sp>
        <p:nvSpPr>
          <p:cNvPr id="9" name="Freeform 9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5273735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Hypothese 2: COVID-19 → zusätzlicher Anstieg des Förderanteils?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7840" y="8157771"/>
            <a:ext cx="13004823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kein klarer zusätzlicher Sprung während COVID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Trend setzt sich fort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eher Verstärker als eigenständiger Treiber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92520" y="1770805"/>
            <a:ext cx="15273735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1B3D"/>
                </a:solidFill>
                <a:latin typeface="Roboto"/>
                <a:ea typeface="Roboto"/>
                <a:cs typeface="Roboto"/>
                <a:sym typeface="Roboto"/>
              </a:rPr>
              <a:t>Erwartung: zusätzlicher Sprung im Zeitraum 2020–2022</a:t>
            </a:r>
          </a:p>
        </p:txBody>
      </p:sp>
      <p:sp>
        <p:nvSpPr>
          <p:cNvPr id="6" name="Freeform 6"/>
          <p:cNvSpPr/>
          <p:nvPr/>
        </p:nvSpPr>
        <p:spPr>
          <a:xfrm>
            <a:off x="957840" y="2597790"/>
            <a:ext cx="15718232" cy="5521029"/>
          </a:xfrm>
          <a:custGeom>
            <a:avLst/>
            <a:gdLst/>
            <a:ahLst/>
            <a:cxnLst/>
            <a:rect l="l" t="t" r="r" b="b"/>
            <a:pathLst>
              <a:path w="15718232" h="5521029">
                <a:moveTo>
                  <a:pt x="0" y="0"/>
                </a:moveTo>
                <a:lnTo>
                  <a:pt x="15718232" y="0"/>
                </a:lnTo>
                <a:lnTo>
                  <a:pt x="15718232" y="5521029"/>
                </a:lnTo>
                <a:lnTo>
                  <a:pt x="0" y="5521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17 | 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3</a:t>
            </a:r>
          </a:p>
        </p:txBody>
      </p:sp>
      <p:sp>
        <p:nvSpPr>
          <p:cNvPr id="9" name="Freeform 9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565" y="3632200"/>
            <a:ext cx="18032991" cy="517621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Yellow Circle Shape Illustration"/>
          <p:cNvSpPr/>
          <p:nvPr/>
        </p:nvSpPr>
        <p:spPr>
          <a:xfrm>
            <a:off x="16058851" y="8527084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2"/>
                </a:lnTo>
                <a:lnTo>
                  <a:pt x="0" y="32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 descr="Cream Abstract Brushstroke"/>
          <p:cNvSpPr/>
          <p:nvPr/>
        </p:nvSpPr>
        <p:spPr>
          <a:xfrm>
            <a:off x="5958362" y="982321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80"/>
                </a:lnTo>
                <a:lnTo>
                  <a:pt x="0" y="927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AutoShape 5"/>
          <p:cNvSpPr/>
          <p:nvPr/>
        </p:nvSpPr>
        <p:spPr>
          <a:xfrm rot="5400000">
            <a:off x="947290" y="6860683"/>
            <a:ext cx="6843109" cy="0"/>
          </a:xfrm>
          <a:prstGeom prst="line">
            <a:avLst/>
          </a:prstGeom>
          <a:ln w="9525" cap="rnd">
            <a:solidFill>
              <a:srgbClr val="5F77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6" name="AutoShape 6"/>
          <p:cNvSpPr/>
          <p:nvPr/>
        </p:nvSpPr>
        <p:spPr>
          <a:xfrm>
            <a:off x="0" y="3443891"/>
            <a:ext cx="18246628" cy="0"/>
          </a:xfrm>
          <a:prstGeom prst="line">
            <a:avLst/>
          </a:prstGeom>
          <a:ln w="9525" cap="rnd">
            <a:solidFill>
              <a:srgbClr val="5F77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7" name="AutoShape 7"/>
          <p:cNvSpPr/>
          <p:nvPr/>
        </p:nvSpPr>
        <p:spPr>
          <a:xfrm rot="5400000">
            <a:off x="5243715" y="7053476"/>
            <a:ext cx="7228694" cy="0"/>
          </a:xfrm>
          <a:prstGeom prst="line">
            <a:avLst/>
          </a:prstGeom>
          <a:ln w="9525" cap="rnd">
            <a:solidFill>
              <a:srgbClr val="5F77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8" name="AutoShape 8"/>
          <p:cNvSpPr/>
          <p:nvPr/>
        </p:nvSpPr>
        <p:spPr>
          <a:xfrm rot="5400000">
            <a:off x="10172548" y="6860683"/>
            <a:ext cx="6843109" cy="0"/>
          </a:xfrm>
          <a:prstGeom prst="line">
            <a:avLst/>
          </a:prstGeom>
          <a:ln w="9525" cap="rnd">
            <a:solidFill>
              <a:srgbClr val="5F77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>
            <a:off x="1898667" y="4809269"/>
            <a:ext cx="628847" cy="1437364"/>
          </a:xfrm>
          <a:custGeom>
            <a:avLst/>
            <a:gdLst/>
            <a:ahLst/>
            <a:cxnLst/>
            <a:rect l="l" t="t" r="r" b="b"/>
            <a:pathLst>
              <a:path w="628847" h="1437364">
                <a:moveTo>
                  <a:pt x="0" y="0"/>
                </a:moveTo>
                <a:lnTo>
                  <a:pt x="628847" y="0"/>
                </a:lnTo>
                <a:lnTo>
                  <a:pt x="628847" y="1437365"/>
                </a:lnTo>
                <a:lnTo>
                  <a:pt x="0" y="1437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>
            <a:off x="5689600" y="5000061"/>
            <a:ext cx="1640228" cy="1246573"/>
          </a:xfrm>
          <a:custGeom>
            <a:avLst/>
            <a:gdLst/>
            <a:ahLst/>
            <a:cxnLst/>
            <a:rect l="l" t="t" r="r" b="b"/>
            <a:pathLst>
              <a:path w="1640228" h="1246573">
                <a:moveTo>
                  <a:pt x="0" y="0"/>
                </a:moveTo>
                <a:lnTo>
                  <a:pt x="1640228" y="0"/>
                </a:lnTo>
                <a:lnTo>
                  <a:pt x="1640228" y="1246573"/>
                </a:lnTo>
                <a:lnTo>
                  <a:pt x="0" y="12465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>
            <a:off x="9629184" y="5224151"/>
            <a:ext cx="2359616" cy="607601"/>
          </a:xfrm>
          <a:custGeom>
            <a:avLst/>
            <a:gdLst/>
            <a:ahLst/>
            <a:cxnLst/>
            <a:rect l="l" t="t" r="r" b="b"/>
            <a:pathLst>
              <a:path w="2359616" h="607601">
                <a:moveTo>
                  <a:pt x="0" y="0"/>
                </a:moveTo>
                <a:lnTo>
                  <a:pt x="2359616" y="0"/>
                </a:lnTo>
                <a:lnTo>
                  <a:pt x="2359616" y="607601"/>
                </a:lnTo>
                <a:lnTo>
                  <a:pt x="0" y="6076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>
            <a:off x="13633409" y="4852435"/>
            <a:ext cx="3956050" cy="1736865"/>
          </a:xfrm>
          <a:custGeom>
            <a:avLst/>
            <a:gdLst/>
            <a:ahLst/>
            <a:cxnLst/>
            <a:rect l="l" t="t" r="r" b="b"/>
            <a:pathLst>
              <a:path w="3956050" h="1736865">
                <a:moveTo>
                  <a:pt x="0" y="0"/>
                </a:moveTo>
                <a:lnTo>
                  <a:pt x="3956050" y="0"/>
                </a:lnTo>
                <a:lnTo>
                  <a:pt x="3956050" y="1736864"/>
                </a:lnTo>
                <a:lnTo>
                  <a:pt x="0" y="1736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</a:blip>
            <a:stretch>
              <a:fillRect r="-18659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TextBox 13"/>
          <p:cNvSpPr txBox="1"/>
          <p:nvPr/>
        </p:nvSpPr>
        <p:spPr>
          <a:xfrm>
            <a:off x="13633409" y="6599059"/>
            <a:ext cx="4122389" cy="140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</a:pPr>
            <a:r>
              <a:rPr lang="en-US" sz="27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zunehmender Unterstützungsbedarf im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68844" y="6599059"/>
            <a:ext cx="3931184" cy="140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</a:pPr>
            <a:r>
              <a:rPr lang="en-US" sz="27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strukturelle Verschiebung der Förderschwerpunkte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58063" y="6599059"/>
            <a:ext cx="3790205" cy="140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</a:pPr>
            <a:r>
              <a:rPr lang="en-US" sz="27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kein einzelner Auslöser → mehrere Faktoren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1927" y="6588125"/>
            <a:ext cx="3842328" cy="9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</a:pPr>
            <a:r>
              <a:rPr lang="en-US" sz="27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langfristiger Anstieg der Förderung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27514" y="2108200"/>
            <a:ext cx="1282714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0"/>
              </a:lnSpc>
            </a:pPr>
            <a:r>
              <a:rPr lang="en-US" sz="56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Strukturwandel im Bildungssystem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18 | 19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Fazit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16050" y="2555391"/>
            <a:ext cx="15843250" cy="517621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8971986" y="3678873"/>
            <a:ext cx="6321252" cy="281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600" b="1">
                <a:solidFill>
                  <a:srgbClr val="001B3D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Dankeaussage</a:t>
            </a:r>
          </a:p>
          <a:p>
            <a:pPr algn="ctr">
              <a:lnSpc>
                <a:spcPts val="7280"/>
              </a:lnSpc>
            </a:pPr>
            <a:r>
              <a:rPr lang="en-US" sz="5600" b="1">
                <a:solidFill>
                  <a:srgbClr val="001B3D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&amp;</a:t>
            </a:r>
          </a:p>
          <a:p>
            <a:pPr algn="ctr">
              <a:lnSpc>
                <a:spcPts val="7280"/>
              </a:lnSpc>
            </a:pPr>
            <a:r>
              <a:rPr lang="en-US" sz="5600" b="1">
                <a:solidFill>
                  <a:srgbClr val="001B3D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Fragenrunde</a:t>
            </a:r>
          </a:p>
        </p:txBody>
      </p:sp>
      <p:sp>
        <p:nvSpPr>
          <p:cNvPr id="4" name="Freeform 4"/>
          <p:cNvSpPr/>
          <p:nvPr/>
        </p:nvSpPr>
        <p:spPr>
          <a:xfrm>
            <a:off x="5780875" y="102870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5425901" y="3339378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2"/>
                </a:lnTo>
                <a:lnTo>
                  <a:pt x="0" y="32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>
            <a:off x="408775" y="3895465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1389247" y="5612271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3"/>
                </a:lnTo>
                <a:lnTo>
                  <a:pt x="0" y="328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>
            <a:off x="6454635" y="7556653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2"/>
                </a:lnTo>
                <a:lnTo>
                  <a:pt x="0" y="32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>
            <a:off x="6632122" y="9089767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 rot="1123876">
            <a:off x="3114553" y="1666620"/>
            <a:ext cx="4083753" cy="6953759"/>
          </a:xfrm>
          <a:custGeom>
            <a:avLst/>
            <a:gdLst/>
            <a:ahLst/>
            <a:cxnLst/>
            <a:rect l="l" t="t" r="r" b="b"/>
            <a:pathLst>
              <a:path w="4083753" h="6953759">
                <a:moveTo>
                  <a:pt x="0" y="0"/>
                </a:moveTo>
                <a:lnTo>
                  <a:pt x="4083754" y="0"/>
                </a:lnTo>
                <a:lnTo>
                  <a:pt x="4083754" y="6953760"/>
                </a:lnTo>
                <a:lnTo>
                  <a:pt x="0" y="6953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2276</Words>
  <Application>Microsoft Office PowerPoint</Application>
  <PresentationFormat>Benutzerdefiniert</PresentationFormat>
  <Paragraphs>432</Paragraphs>
  <Slides>19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6" baseType="lpstr">
      <vt:lpstr>Calibri</vt:lpstr>
      <vt:lpstr>Telegraf Heavy</vt:lpstr>
      <vt:lpstr>Telegraf Bold</vt:lpstr>
      <vt:lpstr>Arial</vt:lpstr>
      <vt:lpstr>Telegraf</vt:lpstr>
      <vt:lpstr>Roboto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PPT_SSF_Analyse_Final</dc:title>
  <cp:lastModifiedBy>Ayse Tosun</cp:lastModifiedBy>
  <cp:revision>3</cp:revision>
  <dcterms:created xsi:type="dcterms:W3CDTF">2006-08-16T00:00:00Z</dcterms:created>
  <dcterms:modified xsi:type="dcterms:W3CDTF">2026-04-30T13:24:11Z</dcterms:modified>
  <dc:identifier>DAHIIJGsELM</dc:identifier>
</cp:coreProperties>
</file>